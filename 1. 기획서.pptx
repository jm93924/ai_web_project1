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2" r:id="rId5"/>
    <p:sldId id="266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0" d="100"/>
          <a:sy n="80" d="100"/>
        </p:scale>
        <p:origin x="447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85E7D8-A3B1-4137-933D-17164D8E3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ACC1A59-CEFF-6A54-B405-42EDAEEBB6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201321-A2B2-5236-3E8E-B42A9BE13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0FB92-84BF-40FB-8839-FC369321AC2A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0FFEDD-4DA4-EA0B-D2BB-97F0AB615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B7E9BF-151C-C524-5AD8-FEC9BDF73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E518-BA84-4359-8C9C-0DE4B449D5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245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010510-832C-DCF4-D2CB-0B68761D9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084F63-AE8B-22F2-529C-EE9B9B4E6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FDF797-DD20-21EB-6725-5FAB8B174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0FB92-84BF-40FB-8839-FC369321AC2A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E0923A-644E-29A7-4F64-051B24A24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7D37D0-B5ED-5EAA-FAEB-069DCBA28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E518-BA84-4359-8C9C-0DE4B449D5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653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72150D-66AD-2EA3-6C6E-8A0E436C4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656F3E-DBE4-7F39-4209-819F492E5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9931C3-2AF0-939A-98E8-9C9C67106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0FB92-84BF-40FB-8839-FC369321AC2A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7BA136-217F-E8BA-14A7-09B3FBE71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FDD0FC-9503-14DD-8DE4-4AAFE4297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E518-BA84-4359-8C9C-0DE4B449D5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996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52F663-180D-C015-FF18-C2DEADDDA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96AED5-5A28-CB3D-1478-870E101636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4C13E9-3CA5-EB68-C2A9-2BC7BF3D6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716AE5-EBC2-D2EA-AB86-00F74D02D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0FB92-84BF-40FB-8839-FC369321AC2A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D50560-9873-AF8A-515C-F571CDA4F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E29FCE-C821-B443-FE06-F6C962AC6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E518-BA84-4359-8C9C-0DE4B449D5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88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379330-98F4-9F32-9BB2-64CDE8088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FD851D-4011-6F4A-B87E-8B95E256E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42A189-1748-06AE-DD6F-F14F0C37C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6B3E365-D9C2-AF58-8486-0DF50E81DE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673CE06-2ED2-B538-F362-6C85429349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E8C8288-1ED7-A5B6-57FD-C43C2A9C3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0FB92-84BF-40FB-8839-FC369321AC2A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5E75991-B1E6-B5D9-3713-9F839C995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5020E0C-D2A9-6610-D1F1-DD451CA2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E518-BA84-4359-8C9C-0DE4B449D5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339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EFE44-178A-9DFE-3F85-55CB41DE2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732E10-3293-D4B1-036B-E3696DF94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0FB92-84BF-40FB-8839-FC369321AC2A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F067EF6-E188-F5E8-EFB2-34B5599D9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81154C-27D0-4FB1-D90C-603D5AB2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E518-BA84-4359-8C9C-0DE4B449D5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8454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E8CAB7-440B-B266-31B2-6EE84132F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0FB92-84BF-40FB-8839-FC369321AC2A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CA010CB-A060-F1C1-3D9A-80BB39703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044E19-5893-7400-2158-47120C8FD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E518-BA84-4359-8C9C-0DE4B449D5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242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7C0716-7604-9550-3E4B-CE73ABB20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1E5972-BC73-8A9A-D1FF-8F6381F3F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71DD54-1377-9C89-11CE-087BF3EA0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941731-3130-78EA-8923-13FACEF86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0FB92-84BF-40FB-8839-FC369321AC2A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6E1DA2-40CA-612C-9119-100DD1AE4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290822-772B-9369-F35B-E5B35ACA1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E518-BA84-4359-8C9C-0DE4B449D5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52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567BF4-3CAA-7DF0-79C1-BF763058B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CF2F6B0-7EAE-812F-4A7A-7F41882F6C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532A00-9737-504F-A3F6-5047C09F8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29AD5F-3E17-C598-8C5F-2247C5098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0FB92-84BF-40FB-8839-FC369321AC2A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7987D5-C833-A916-690E-F5D31C80B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CF5870-42E7-B667-7FC5-DD2CA25F1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E518-BA84-4359-8C9C-0DE4B449D5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94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3B57E-762F-4E8D-F48F-7F5F19CC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9F1A0BE-7AB6-F542-A1D9-05A8BC28D7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530791-0008-A5F2-FADF-C85C21348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0FB92-84BF-40FB-8839-FC369321AC2A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D7C11C-D719-B25F-E0C1-331D7DD3A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C15081-ABB5-10F9-63B5-F34E42AA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E518-BA84-4359-8C9C-0DE4B449D5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843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D33A3CA-1B65-39E6-FD00-B92BA0156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076A3B-E06A-1A55-F655-1CAAE5C4A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CAD850-6E4F-BE74-02CC-A31E22727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0FB92-84BF-40FB-8839-FC369321AC2A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C059AE-7698-94A1-7306-7DE6F333A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36111B-C566-CA4C-5496-3FD67AE1A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E518-BA84-4359-8C9C-0DE4B449D5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436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E7973E5-C27A-7EF5-D856-624AEB6C2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01B5BF-CBAD-4A58-E971-3238A4568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CB3924-4B4C-A8AC-2D24-94F08BF068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00FB92-84BF-40FB-8839-FC369321AC2A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D8CB4A-BF31-C8BC-9AF1-1E94C1587C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9CE55C-EA44-E14B-F6B2-8E82798E0A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49E518-BA84-4359-8C9C-0DE4B449D5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18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mis.or.kr/customer/main/main.do" TargetMode="External"/><Relationship Id="rId2" Type="http://schemas.openxmlformats.org/officeDocument/2006/relationships/hyperlink" Target="https://www.data.go.kr/data/15108734/fileData.do?utm_source=chatgpt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6FA4506C-7681-3E00-C49F-80605FF85EAC}"/>
              </a:ext>
            </a:extLst>
          </p:cNvPr>
          <p:cNvSpPr txBox="1">
            <a:spLocks/>
          </p:cNvSpPr>
          <p:nvPr/>
        </p:nvSpPr>
        <p:spPr>
          <a:xfrm>
            <a:off x="1217762" y="2339798"/>
            <a:ext cx="9756475" cy="118743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ko-KR" sz="2000" dirty="0"/>
              <a:t>AI </a:t>
            </a:r>
            <a:r>
              <a:rPr lang="ko-KR" altLang="en-US" sz="2000" dirty="0"/>
              <a:t>기술을 활용한 데이터 분석을 통해 딸기 </a:t>
            </a:r>
            <a:r>
              <a:rPr lang="ko-KR" altLang="en-US" sz="2000" dirty="0" err="1"/>
              <a:t>스마트팜</a:t>
            </a:r>
            <a:r>
              <a:rPr lang="ko-KR" altLang="en-US" sz="2000" dirty="0"/>
              <a:t> 농가에 </a:t>
            </a:r>
            <a:r>
              <a:rPr lang="ko-KR" altLang="en-US" sz="2000" b="1" dirty="0"/>
              <a:t>최적화된 환경</a:t>
            </a:r>
            <a:r>
              <a:rPr lang="ko-KR" altLang="en-US" sz="2000" dirty="0"/>
              <a:t>을 제시하고</a:t>
            </a:r>
            <a:r>
              <a:rPr lang="en-US" altLang="ko-KR" sz="2000" dirty="0"/>
              <a:t>,</a:t>
            </a:r>
          </a:p>
          <a:p>
            <a:pPr algn="ctr">
              <a:lnSpc>
                <a:spcPct val="150000"/>
              </a:lnSpc>
            </a:pPr>
            <a:r>
              <a:rPr lang="ko-KR" altLang="en-US" sz="2000" dirty="0"/>
              <a:t>날씨에 따른 전국 딸기 출하량을 예측하여</a:t>
            </a:r>
            <a:r>
              <a:rPr lang="en-US" altLang="ko-KR" sz="2000" dirty="0"/>
              <a:t> </a:t>
            </a:r>
            <a:r>
              <a:rPr lang="ko-KR" altLang="en-US" sz="2000" dirty="0"/>
              <a:t>농가의 </a:t>
            </a:r>
            <a:r>
              <a:rPr lang="ko-KR" altLang="en-US" sz="2000" b="1" dirty="0"/>
              <a:t>수익을 극대화</a:t>
            </a:r>
            <a:r>
              <a:rPr lang="ko-KR" altLang="en-US" sz="2000" dirty="0"/>
              <a:t>하는 서비스를 제공한다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6EECF291-7C72-52DE-1809-1C83C8E5E9C4}"/>
              </a:ext>
            </a:extLst>
          </p:cNvPr>
          <p:cNvSpPr txBox="1">
            <a:spLocks/>
          </p:cNvSpPr>
          <p:nvPr/>
        </p:nvSpPr>
        <p:spPr>
          <a:xfrm>
            <a:off x="5204603" y="4339925"/>
            <a:ext cx="1782791" cy="318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/>
              <a:t>2026</a:t>
            </a:r>
            <a:r>
              <a:rPr lang="ko-KR" altLang="en-US" sz="1600" dirty="0"/>
              <a:t>년 </a:t>
            </a:r>
            <a:r>
              <a:rPr lang="en-US" altLang="ko-KR" sz="1600" dirty="0"/>
              <a:t>3</a:t>
            </a:r>
            <a:r>
              <a:rPr lang="ko-KR" altLang="en-US" sz="1600" dirty="0"/>
              <a:t>월 </a:t>
            </a:r>
            <a:r>
              <a:rPr lang="en-US" altLang="ko-KR" sz="1600" dirty="0"/>
              <a:t>26</a:t>
            </a:r>
            <a:r>
              <a:rPr lang="ko-KR" altLang="en-US" sz="1600" dirty="0"/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3849378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E40853-C2B8-B8E0-8F09-B5431294B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 의도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ABFEE6-D440-6522-45CB-B8C956D39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18" y="1800854"/>
            <a:ext cx="5425030" cy="1396790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DE8C6FB-5593-6AB8-36AF-5D02602BB67F}"/>
              </a:ext>
            </a:extLst>
          </p:cNvPr>
          <p:cNvSpPr/>
          <p:nvPr/>
        </p:nvSpPr>
        <p:spPr>
          <a:xfrm>
            <a:off x="3102633" y="3717985"/>
            <a:ext cx="5986733" cy="6556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딸기 </a:t>
            </a:r>
            <a:r>
              <a:rPr lang="ko-KR" altLang="en-US" dirty="0" err="1"/>
              <a:t>스마트팜에서의</a:t>
            </a:r>
            <a:r>
              <a:rPr lang="ko-KR" altLang="en-US" dirty="0"/>
              <a:t> 환경 제어가 중요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F54469D-0113-0FF9-7ABF-CE65C5B39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931" y="1834037"/>
            <a:ext cx="5304269" cy="1322073"/>
          </a:xfrm>
          <a:prstGeom prst="rect">
            <a:avLst/>
          </a:prstGeom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3904161-1A16-E7BC-F5C7-9E51789524B8}"/>
              </a:ext>
            </a:extLst>
          </p:cNvPr>
          <p:cNvSpPr/>
          <p:nvPr/>
        </p:nvSpPr>
        <p:spPr>
          <a:xfrm>
            <a:off x="3170473" y="5497341"/>
            <a:ext cx="5986733" cy="6556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데이터 분석을 통해 최적화된 환경제어 필요</a:t>
            </a:r>
          </a:p>
        </p:txBody>
      </p:sp>
      <p:sp>
        <p:nvSpPr>
          <p:cNvPr id="27" name="화살표: 아래쪽 26">
            <a:extLst>
              <a:ext uri="{FF2B5EF4-FFF2-40B4-BE49-F238E27FC236}">
                <a16:creationId xmlns:a16="http://schemas.microsoft.com/office/drawing/2014/main" id="{11D6DADF-26CD-DAA3-B645-FC191DCAF4D1}"/>
              </a:ext>
            </a:extLst>
          </p:cNvPr>
          <p:cNvSpPr/>
          <p:nvPr/>
        </p:nvSpPr>
        <p:spPr>
          <a:xfrm>
            <a:off x="5748066" y="4650376"/>
            <a:ext cx="695865" cy="53242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202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A384A17-5141-7FC6-7279-3216A1D58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기획 의도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B826D6D-61AA-BC30-52CA-FDD442689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17" y="1552755"/>
            <a:ext cx="5281985" cy="132556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E15A44A-E554-A217-EFF3-7EA72CBFD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100" y="1547179"/>
            <a:ext cx="5498522" cy="148460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1D5E607-B5DE-FAD8-F154-57725DFC3D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186" y="2991700"/>
            <a:ext cx="4693043" cy="29599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126DF6F-C746-0FCF-5D1D-0DB7356693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917" y="2895827"/>
            <a:ext cx="2379455" cy="475891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1B01EE0-9309-0E4F-2EA5-A0FAAD37204A}"/>
              </a:ext>
            </a:extLst>
          </p:cNvPr>
          <p:cNvSpPr/>
          <p:nvPr/>
        </p:nvSpPr>
        <p:spPr>
          <a:xfrm>
            <a:off x="952808" y="3637145"/>
            <a:ext cx="4290202" cy="4600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전국 출하량이 증가하면 가격이 하락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0491639-DAF8-5F86-E7F1-0B18F1914988}"/>
              </a:ext>
            </a:extLst>
          </p:cNvPr>
          <p:cNvSpPr/>
          <p:nvPr/>
        </p:nvSpPr>
        <p:spPr>
          <a:xfrm>
            <a:off x="7046258" y="3637145"/>
            <a:ext cx="4163683" cy="4600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출하량이 감소하면 가격은 상승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67CF4B5-EDC1-D59B-B8B3-A5055879D933}"/>
              </a:ext>
            </a:extLst>
          </p:cNvPr>
          <p:cNvCxnSpPr>
            <a:cxnSpLocks/>
            <a:stCxn id="17" idx="2"/>
            <a:endCxn id="24" idx="0"/>
          </p:cNvCxnSpPr>
          <p:nvPr/>
        </p:nvCxnSpPr>
        <p:spPr>
          <a:xfrm>
            <a:off x="3097909" y="4097220"/>
            <a:ext cx="2998091" cy="7191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F1C3723-84FA-41F1-C3DD-C3CA9190BDD6}"/>
              </a:ext>
            </a:extLst>
          </p:cNvPr>
          <p:cNvCxnSpPr>
            <a:cxnSpLocks/>
            <a:stCxn id="18" idx="2"/>
            <a:endCxn id="24" idx="0"/>
          </p:cNvCxnSpPr>
          <p:nvPr/>
        </p:nvCxnSpPr>
        <p:spPr>
          <a:xfrm flipH="1">
            <a:off x="6096000" y="4097220"/>
            <a:ext cx="3032100" cy="7191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BC70886-D477-155A-2215-1BD5F9B4DB48}"/>
              </a:ext>
            </a:extLst>
          </p:cNvPr>
          <p:cNvSpPr/>
          <p:nvPr/>
        </p:nvSpPr>
        <p:spPr>
          <a:xfrm>
            <a:off x="3982528" y="4816414"/>
            <a:ext cx="4226944" cy="4888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딸기 출하량 예측의 필요성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1351BDA3-49D9-1EFE-3FA3-90B3D8238D19}"/>
              </a:ext>
            </a:extLst>
          </p:cNvPr>
          <p:cNvSpPr/>
          <p:nvPr/>
        </p:nvSpPr>
        <p:spPr>
          <a:xfrm>
            <a:off x="3982528" y="5972354"/>
            <a:ext cx="4226944" cy="4888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날씨 기반 출하량 예측 필요</a:t>
            </a:r>
          </a:p>
        </p:txBody>
      </p:sp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8DBC5E3A-B87F-6D4E-962B-9339FB2D2198}"/>
              </a:ext>
            </a:extLst>
          </p:cNvPr>
          <p:cNvSpPr/>
          <p:nvPr/>
        </p:nvSpPr>
        <p:spPr>
          <a:xfrm>
            <a:off x="5806886" y="5512768"/>
            <a:ext cx="578227" cy="3278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912B526-FDBF-9DCC-8BD6-030D3DFD4E32}"/>
              </a:ext>
            </a:extLst>
          </p:cNvPr>
          <p:cNvSpPr/>
          <p:nvPr/>
        </p:nvSpPr>
        <p:spPr>
          <a:xfrm>
            <a:off x="8830708" y="5126965"/>
            <a:ext cx="2176732" cy="102366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날씨에 따른</a:t>
            </a:r>
            <a:endParaRPr lang="en-US" altLang="ko-KR" dirty="0"/>
          </a:p>
          <a:p>
            <a:pPr algn="ctr"/>
            <a:r>
              <a:rPr lang="ko-KR" altLang="en-US" dirty="0"/>
              <a:t>전국 출하량 변동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184C8BE9-6401-94F2-ABD0-01A85967477E}"/>
              </a:ext>
            </a:extLst>
          </p:cNvPr>
          <p:cNvCxnSpPr>
            <a:cxnSpLocks/>
          </p:cNvCxnSpPr>
          <p:nvPr/>
        </p:nvCxnSpPr>
        <p:spPr>
          <a:xfrm flipH="1">
            <a:off x="7046258" y="5638799"/>
            <a:ext cx="17844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193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87BF5E-74D5-2AF1-A91F-4E4C4F4536AD}"/>
              </a:ext>
            </a:extLst>
          </p:cNvPr>
          <p:cNvSpPr txBox="1"/>
          <p:nvPr/>
        </p:nvSpPr>
        <p:spPr>
          <a:xfrm>
            <a:off x="531962" y="400936"/>
            <a:ext cx="11128076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개발 목표</a:t>
            </a:r>
            <a:endParaRPr lang="en-US" altLang="ko-KR" sz="2400" b="1" dirty="0"/>
          </a:p>
          <a:p>
            <a:endParaRPr lang="en-US" altLang="ko-KR" b="1" dirty="0"/>
          </a:p>
          <a:p>
            <a:r>
              <a:rPr lang="en-US" altLang="ko-KR" b="1" dirty="0"/>
              <a:t>1) </a:t>
            </a:r>
            <a:r>
              <a:rPr lang="ko-KR" altLang="en-US" b="1" dirty="0"/>
              <a:t>재배환경 데이터 분석 서비스</a:t>
            </a:r>
            <a:endParaRPr lang="en-US" altLang="ko-KR" b="1" dirty="0"/>
          </a:p>
          <a:p>
            <a:r>
              <a:rPr lang="en-US" altLang="ko-KR" dirty="0"/>
              <a:t>: </a:t>
            </a:r>
            <a:r>
              <a:rPr lang="ko-KR" altLang="en-US" dirty="0"/>
              <a:t>농가가 보유한 재배환경</a:t>
            </a:r>
            <a:r>
              <a:rPr lang="en-US" altLang="ko-KR" dirty="0"/>
              <a:t>, </a:t>
            </a:r>
            <a:r>
              <a:rPr lang="ko-KR" altLang="en-US" dirty="0"/>
              <a:t>생육</a:t>
            </a:r>
            <a:r>
              <a:rPr lang="en-US" altLang="ko-KR" dirty="0"/>
              <a:t>, </a:t>
            </a:r>
            <a:r>
              <a:rPr lang="ko-KR" altLang="en-US" dirty="0"/>
              <a:t>생산량 데이터를 업로드하여 </a:t>
            </a:r>
            <a:r>
              <a:rPr lang="ko-KR" alt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해당 농가에 맞는 최적의 재배환경을 추천</a:t>
            </a:r>
            <a:endParaRPr lang="en-US" altLang="ko-KR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ko-KR" altLang="en-US" dirty="0"/>
              <a:t>﻿</a:t>
            </a:r>
            <a:endParaRPr lang="en-US" altLang="ko-KR" dirty="0"/>
          </a:p>
          <a:p>
            <a:r>
              <a:rPr lang="en-US" altLang="ko-KR" sz="1400" dirty="0"/>
              <a:t>a) </a:t>
            </a:r>
            <a:r>
              <a:rPr lang="ko-KR" altLang="en-US" sz="1400" dirty="0"/>
              <a:t>환경</a:t>
            </a:r>
            <a:r>
              <a:rPr lang="en-US" altLang="ko-KR" sz="1400" dirty="0"/>
              <a:t>-</a:t>
            </a:r>
            <a:r>
              <a:rPr lang="ko-KR" altLang="en-US" sz="1400" dirty="0"/>
              <a:t>출하량 분석모델 개발</a:t>
            </a:r>
            <a:endParaRPr lang="en-US" altLang="ko-KR" sz="1400" dirty="0"/>
          </a:p>
          <a:p>
            <a:r>
              <a:rPr lang="en-US" altLang="ko-KR" sz="1400" dirty="0"/>
              <a:t>Input Data : </a:t>
            </a:r>
            <a:r>
              <a:rPr lang="ko-KR" altLang="en-US" sz="1400" dirty="0"/>
              <a:t>평균온도</a:t>
            </a:r>
            <a:r>
              <a:rPr lang="en-US" altLang="ko-KR" sz="1400" dirty="0"/>
              <a:t>(℃), </a:t>
            </a:r>
            <a:r>
              <a:rPr lang="ko-KR" altLang="en-US" sz="1400" dirty="0"/>
              <a:t>평균습도</a:t>
            </a:r>
            <a:r>
              <a:rPr lang="en-US" altLang="ko-KR" sz="1400" dirty="0"/>
              <a:t>(%), </a:t>
            </a:r>
            <a:r>
              <a:rPr lang="ko-KR" altLang="en-US" sz="1400" dirty="0" err="1"/>
              <a:t>누적일사량</a:t>
            </a:r>
            <a:r>
              <a:rPr lang="en-US" altLang="ko-KR" sz="1400" dirty="0"/>
              <a:t>(J/㎠), </a:t>
            </a:r>
            <a:r>
              <a:rPr lang="ko-KR" altLang="en-US" sz="1400" dirty="0"/>
              <a:t>잔존 </a:t>
            </a:r>
            <a:r>
              <a:rPr lang="en-US" altLang="ko-KR" sz="1400" dirty="0"/>
              <a:t>Co2 </a:t>
            </a:r>
            <a:r>
              <a:rPr lang="ko-KR" altLang="en-US" sz="1400" dirty="0"/>
              <a:t>평균</a:t>
            </a:r>
            <a:r>
              <a:rPr lang="en-US" altLang="ko-KR" sz="1400" dirty="0"/>
              <a:t>(ppm)</a:t>
            </a:r>
          </a:p>
          <a:p>
            <a:r>
              <a:rPr lang="en-US" altLang="ko-KR" sz="1400" dirty="0"/>
              <a:t>Output Data : </a:t>
            </a:r>
            <a:r>
              <a:rPr lang="ko-KR" altLang="en-US" sz="1400" dirty="0"/>
              <a:t>출하량</a:t>
            </a:r>
            <a:r>
              <a:rPr lang="en-US" altLang="ko-KR" sz="1400" dirty="0"/>
              <a:t>(kg)</a:t>
            </a:r>
          </a:p>
          <a:p>
            <a:endParaRPr lang="en-US" altLang="ko-KR" sz="1400" dirty="0"/>
          </a:p>
          <a:p>
            <a:r>
              <a:rPr lang="en-US" altLang="ko-KR" sz="1400" dirty="0"/>
              <a:t>b) </a:t>
            </a:r>
            <a:r>
              <a:rPr lang="ko-KR" altLang="en-US" sz="1400" dirty="0"/>
              <a:t>환경</a:t>
            </a:r>
            <a:r>
              <a:rPr lang="en-US" altLang="ko-KR" sz="1400" dirty="0"/>
              <a:t>-</a:t>
            </a:r>
            <a:r>
              <a:rPr lang="ko-KR" altLang="en-US" sz="1400" dirty="0"/>
              <a:t>생육 분석모델 개발</a:t>
            </a:r>
            <a:endParaRPr lang="en-US" altLang="ko-KR" sz="1400" dirty="0"/>
          </a:p>
          <a:p>
            <a:r>
              <a:rPr lang="en-US" altLang="ko-KR" sz="1400" dirty="0"/>
              <a:t>Input Data : </a:t>
            </a:r>
            <a:r>
              <a:rPr lang="ko-KR" altLang="en-US" sz="1400" dirty="0"/>
              <a:t>평균온도</a:t>
            </a:r>
            <a:r>
              <a:rPr lang="en-US" altLang="ko-KR" sz="1400" dirty="0"/>
              <a:t>(℃), </a:t>
            </a:r>
            <a:r>
              <a:rPr lang="ko-KR" altLang="en-US" sz="1400" dirty="0"/>
              <a:t>평균습도</a:t>
            </a:r>
            <a:r>
              <a:rPr lang="en-US" altLang="ko-KR" sz="1400" dirty="0"/>
              <a:t>(%), </a:t>
            </a:r>
            <a:r>
              <a:rPr lang="ko-KR" altLang="en-US" sz="1400" dirty="0" err="1"/>
              <a:t>누적일사량</a:t>
            </a:r>
            <a:r>
              <a:rPr lang="en-US" altLang="ko-KR" sz="1400" dirty="0"/>
              <a:t>(J/㎠), </a:t>
            </a:r>
            <a:r>
              <a:rPr lang="ko-KR" altLang="en-US" sz="1400" dirty="0"/>
              <a:t>잔존 </a:t>
            </a:r>
            <a:r>
              <a:rPr lang="en-US" altLang="ko-KR" sz="1400" dirty="0"/>
              <a:t>Co2 </a:t>
            </a:r>
            <a:r>
              <a:rPr lang="ko-KR" altLang="en-US" sz="1400" dirty="0"/>
              <a:t>평균</a:t>
            </a:r>
            <a:r>
              <a:rPr lang="en-US" altLang="ko-KR" sz="1400" dirty="0"/>
              <a:t>(ppm)</a:t>
            </a:r>
          </a:p>
          <a:p>
            <a:r>
              <a:rPr lang="en-US" altLang="ko-KR" sz="1400" dirty="0"/>
              <a:t>output data : </a:t>
            </a:r>
            <a:r>
              <a:rPr lang="ko-KR" altLang="en-US" sz="1400" dirty="0"/>
              <a:t>초장길이 </a:t>
            </a:r>
            <a:r>
              <a:rPr lang="ko-KR" altLang="en-US" sz="1400" dirty="0" err="1"/>
              <a:t>변화값</a:t>
            </a:r>
            <a:r>
              <a:rPr lang="en-US" altLang="ko-KR" sz="1400" dirty="0"/>
              <a:t>(cm)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2) </a:t>
            </a:r>
            <a:r>
              <a:rPr lang="ko-KR" altLang="en-US" b="1" dirty="0"/>
              <a:t>날씨 기반 출하시기 예측 서비스</a:t>
            </a:r>
            <a:endParaRPr lang="en-US" altLang="ko-KR" b="1" dirty="0"/>
          </a:p>
          <a:p>
            <a:r>
              <a:rPr lang="en-US" altLang="ko-KR" dirty="0"/>
              <a:t>: </a:t>
            </a:r>
            <a:r>
              <a:rPr lang="ko-KR" altLang="en-US" dirty="0"/>
              <a:t>시기별 딸기 도매가격을 토대로 </a:t>
            </a:r>
            <a:r>
              <a:rPr lang="ko-KR" alt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출하시점의 예상 수익을 제시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  <a:r>
              <a:rPr lang="ko-KR" altLang="en-US" dirty="0"/>
              <a:t>기상청 날씨 예보와 조합하여 단기</a:t>
            </a:r>
            <a:r>
              <a:rPr lang="en-US" altLang="ko-KR" dirty="0"/>
              <a:t>/</a:t>
            </a:r>
            <a:r>
              <a:rPr lang="ko-KR" altLang="en-US" dirty="0"/>
              <a:t>중기</a:t>
            </a:r>
            <a:r>
              <a:rPr lang="en-US" altLang="ko-KR" dirty="0"/>
              <a:t>/</a:t>
            </a:r>
            <a:r>
              <a:rPr lang="ko-KR" altLang="en-US" dirty="0"/>
              <a:t>장기 </a:t>
            </a:r>
            <a:r>
              <a:rPr lang="ko-KR" alt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출하전략을 지원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ko-KR" altLang="en-US" sz="16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C91B32B-957D-B14D-CE62-BC77FA3C3CD3}"/>
              </a:ext>
            </a:extLst>
          </p:cNvPr>
          <p:cNvSpPr/>
          <p:nvPr/>
        </p:nvSpPr>
        <p:spPr>
          <a:xfrm>
            <a:off x="1004047" y="4976616"/>
            <a:ext cx="2623671" cy="50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시기별 도매가격 추이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045E985-3BF3-B7B7-82E4-A6B429F77CEC}"/>
              </a:ext>
            </a:extLst>
          </p:cNvPr>
          <p:cNvSpPr/>
          <p:nvPr/>
        </p:nvSpPr>
        <p:spPr>
          <a:xfrm>
            <a:off x="4784164" y="4976616"/>
            <a:ext cx="2623671" cy="50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기상청 날씨 예보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37F66D0-2A5B-6544-415D-670FFDF107C8}"/>
              </a:ext>
            </a:extLst>
          </p:cNvPr>
          <p:cNvSpPr/>
          <p:nvPr/>
        </p:nvSpPr>
        <p:spPr>
          <a:xfrm>
            <a:off x="8647953" y="4982593"/>
            <a:ext cx="2623671" cy="50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환경에 따른 생육속도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CDC1F70-FF88-1150-D1F3-451F4046FC5E}"/>
              </a:ext>
            </a:extLst>
          </p:cNvPr>
          <p:cNvSpPr/>
          <p:nvPr/>
        </p:nvSpPr>
        <p:spPr>
          <a:xfrm>
            <a:off x="2816784" y="5949064"/>
            <a:ext cx="6558432" cy="50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출하시기 추천</a:t>
            </a:r>
            <a:endParaRPr lang="ko-KR" altLang="en-US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442EFE8-9276-37B4-6FCA-AF70AB9EBAC0}"/>
              </a:ext>
            </a:extLst>
          </p:cNvPr>
          <p:cNvCxnSpPr>
            <a:endCxn id="13" idx="0"/>
          </p:cNvCxnSpPr>
          <p:nvPr/>
        </p:nvCxnSpPr>
        <p:spPr>
          <a:xfrm>
            <a:off x="2315882" y="5484616"/>
            <a:ext cx="3780118" cy="4644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67257CA-AE12-5A9C-C578-F6DEE4174E91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>
            <a:off x="6096000" y="5484616"/>
            <a:ext cx="0" cy="4644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D3BC1AF-9789-8773-9A6C-DA97BC6E55C9}"/>
              </a:ext>
            </a:extLst>
          </p:cNvPr>
          <p:cNvCxnSpPr>
            <a:endCxn id="13" idx="0"/>
          </p:cNvCxnSpPr>
          <p:nvPr/>
        </p:nvCxnSpPr>
        <p:spPr>
          <a:xfrm flipH="1">
            <a:off x="6096000" y="5484616"/>
            <a:ext cx="3863788" cy="4644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4987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297EB-AA24-560E-839A-7324F0496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출처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FA850A-9B22-0C21-0938-83EFFDC32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7062"/>
            <a:ext cx="10515600" cy="4351338"/>
          </a:xfrm>
        </p:spPr>
        <p:txBody>
          <a:bodyPr/>
          <a:lstStyle/>
          <a:p>
            <a:r>
              <a:rPr lang="ko-KR" altLang="en-US" sz="2000" dirty="0"/>
              <a:t>농촌 진흥청 </a:t>
            </a:r>
            <a:r>
              <a:rPr lang="en-US" altLang="ko-KR" sz="2000" dirty="0"/>
              <a:t>- </a:t>
            </a:r>
            <a:r>
              <a:rPr lang="ko-KR" altLang="en-US" sz="2000" dirty="0" err="1"/>
              <a:t>스마트팜</a:t>
            </a:r>
            <a:r>
              <a:rPr lang="ko-KR" altLang="en-US" sz="2000" dirty="0"/>
              <a:t> 현장 농가 데이터</a:t>
            </a:r>
            <a:br>
              <a:rPr lang="ko-KR" altLang="en-US" sz="2000" dirty="0"/>
            </a:br>
            <a:r>
              <a:rPr lang="en-US" altLang="ko-KR" sz="2000" u="sng" dirty="0">
                <a:hlinkClick r:id="rId2"/>
              </a:rPr>
              <a:t>https://www.data.go.kr/data/15108734/fileData.do?utm_source=chatgpt.com</a:t>
            </a:r>
            <a:endParaRPr lang="en-US" altLang="ko-KR" sz="2000" u="sng" dirty="0"/>
          </a:p>
          <a:p>
            <a:endParaRPr lang="en-US" altLang="ko-KR" sz="2000" u="sng" dirty="0"/>
          </a:p>
          <a:p>
            <a:r>
              <a:rPr lang="ko-KR" altLang="en-US" sz="2000" u="sng" dirty="0"/>
              <a:t>농산물유통정보</a:t>
            </a:r>
            <a:r>
              <a:rPr lang="en-US" altLang="ko-KR" sz="2000" u="sng" dirty="0"/>
              <a:t>-KAMIS</a:t>
            </a:r>
          </a:p>
          <a:p>
            <a:pPr marL="0" indent="0">
              <a:buNone/>
            </a:pPr>
            <a:r>
              <a:rPr lang="en-US" altLang="ko-KR" sz="2000" u="sng" dirty="0">
                <a:hlinkClick r:id="rId3"/>
              </a:rPr>
              <a:t>https://www.kamis.or.kr/customer/main/main.do</a:t>
            </a:r>
            <a:endParaRPr lang="en-US" altLang="ko-KR" sz="2000" u="sng" dirty="0"/>
          </a:p>
          <a:p>
            <a:endParaRPr lang="en-US" altLang="ko-KR" sz="2000" u="sng" dirty="0"/>
          </a:p>
          <a:p>
            <a:r>
              <a:rPr lang="ko-KR" altLang="en-US" sz="2000" u="sng" dirty="0"/>
              <a:t>기상청 </a:t>
            </a:r>
            <a:r>
              <a:rPr lang="en-US" altLang="ko-KR" sz="2000" u="sng" dirty="0"/>
              <a:t>API </a:t>
            </a:r>
            <a:r>
              <a:rPr lang="ko-KR" altLang="en-US" sz="2000" u="sng" dirty="0"/>
              <a:t>허브</a:t>
            </a:r>
            <a:endParaRPr lang="en-US" altLang="ko-KR" sz="2000" u="sng" dirty="0"/>
          </a:p>
          <a:p>
            <a:pPr marL="0" indent="0">
              <a:buNone/>
            </a:pPr>
            <a:r>
              <a:rPr lang="en-US" altLang="ko-KR" sz="2000" u="sng" dirty="0"/>
              <a:t>https://apihub.kma.go.kr/</a:t>
            </a:r>
            <a:endParaRPr lang="en-US" altLang="ko-KR" u="sng" dirty="0"/>
          </a:p>
        </p:txBody>
      </p:sp>
    </p:spTree>
    <p:extLst>
      <p:ext uri="{BB962C8B-B14F-4D97-AF65-F5344CB8AC3E}">
        <p14:creationId xmlns:p14="http://schemas.microsoft.com/office/powerpoint/2010/main" val="2520450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1260</TotalTime>
  <Words>273</Words>
  <Application>Microsoft Office PowerPoint</Application>
  <PresentationFormat>와이드스크린</PresentationFormat>
  <Paragraphs>42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기획 의도</vt:lpstr>
      <vt:lpstr>기획 의도</vt:lpstr>
      <vt:lpstr>PowerPoint 프레젠테이션</vt:lpstr>
      <vt:lpstr>데이터 출처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jm93924@naver.com</dc:creator>
  <cp:lastModifiedBy>jm93924@naver.com</cp:lastModifiedBy>
  <cp:revision>8</cp:revision>
  <dcterms:created xsi:type="dcterms:W3CDTF">2026-03-25T07:43:05Z</dcterms:created>
  <dcterms:modified xsi:type="dcterms:W3CDTF">2026-03-26T04:44:04Z</dcterms:modified>
</cp:coreProperties>
</file>