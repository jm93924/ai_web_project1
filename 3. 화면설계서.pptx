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54E"/>
    <a:srgbClr val="FFFF00"/>
    <a:srgbClr val="6AC352"/>
    <a:srgbClr val="8ED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기온</c:v>
                </c:pt>
                <c:pt idx="1">
                  <c:v>강수량</c:v>
                </c:pt>
                <c:pt idx="2">
                  <c:v>일조량</c:v>
                </c:pt>
                <c:pt idx="3">
                  <c:v>습도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12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75-49BD-878A-E0FC98E70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10251136"/>
        <c:axId val="2110254976"/>
      </c:barChart>
      <c:catAx>
        <c:axId val="2110251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0254976"/>
        <c:crosses val="autoZero"/>
        <c:auto val="1"/>
        <c:lblAlgn val="ctr"/>
        <c:lblOffset val="100"/>
        <c:noMultiLvlLbl val="0"/>
      </c:catAx>
      <c:valAx>
        <c:axId val="21102549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dirty="0"/>
                  <a:t>영향도</a:t>
                </a:r>
                <a:r>
                  <a:rPr lang="en-US" altLang="ko-KR" dirty="0"/>
                  <a:t>(%)</a:t>
                </a:r>
                <a:endParaRPr lang="ko-KR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0251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2B58E-7D29-490D-73FE-DB8B88DDD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4B67A7-03CC-8971-3374-149C8A20D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258328-D8DA-A96B-4AE9-9F4CA5A2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75713-2B18-AEA9-D418-C49BDA3F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14637-781D-218F-4CD3-6638969E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57A50-DCE2-B659-2CC1-4C67C81A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4A602-BF7A-8DDA-8498-03AF95C65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A51D9-4267-0C14-2641-652CE09E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63D70C-3001-03F9-D628-308B79F2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2CE12B-40E4-3A2D-0F9C-54255733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96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D6E41-BA40-8B75-DCE8-D6E807C3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47847-0632-0A07-D885-A34FFE742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17E2DF-D71F-3DB7-F043-A513D3A0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56A15-1C78-9E69-9330-E430E4F2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4F43-5383-1436-8044-83F929D8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50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B6511-1AE7-B5C5-2255-9EB0C2DD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C7FA1-6163-D9F7-3805-3A694069B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134612-2DE7-D839-399C-DC33B5979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B7639A-428F-2FEA-4856-29F142F3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192FA9-229F-4992-AE48-269DEE2A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87FB93-D658-450F-B945-2591EBF5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13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8027B-AC3E-0C25-2100-5D41E007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50682-F3A0-AA7B-C93B-3464FC37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A268BE-D72A-9AA3-F236-29CE4D9EA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070330-5FB4-57BD-0BFC-ADBB53122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B75E60-B8CB-42E6-B746-8E1A1730E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07225C-2C28-B74D-76CB-336EBA35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4C7391-EA54-06D5-8C5E-28A200AF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A7B58F1-CE4E-94A9-6032-9A034A6A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51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E127C-0836-2874-A43D-6758BA82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1A00A9-ADCC-3C1F-8FAF-5F2B8707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120A6E-9C50-7195-D617-3BB9E21A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04E618-1424-4BDA-A003-BE673468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75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D57566-B76A-F7CF-E352-BDFAA90B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6A2606-EC54-C58B-405F-A9A8EB27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435C63-D5E8-71FD-0D59-D74ECEA8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108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0118A-F51C-5D36-C1EE-294D2722B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46DB1-611C-8031-778E-05B6A9EE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1EBB22-6758-19CD-B151-F9AA6701E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241CF0-A994-62C9-041F-40B3891BE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93C19A-BF1F-70C1-69D8-F588C76A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BF824C-F02C-6B57-CA7B-9F87F77F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49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03BE4-9488-3549-CB5E-EFE8A56E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8501AE-2F61-EF91-F3A3-A18872F6D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C5BB3F-6DB0-C70A-E0F2-2196D8EB6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E7F8A-403C-4A1E-D7AE-A11549A7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5D571E-6221-965B-70AD-9BDB15CC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99A95D-E3C7-5FA0-009D-9EE299CC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925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698E9-0B77-74B5-CB50-47F26D48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D31C35-BC2A-31C9-9D46-319AA3924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48120-7A54-FDA2-B135-2B7A09D7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ABB77C-2EB2-F8EC-7A1D-4315D79F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19D5BA-D0FE-BB5F-22FF-1B4152C7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22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2DD3D8-3268-89B1-14F6-4C9D7334B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1A9300-B07B-178B-2AA6-90B947E5B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4203B-9C5B-FAF2-707D-5A1A13B6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7FB0DA-D280-8816-A244-5B32D6D5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EDF7DC-FBB7-6D17-50D2-0786230D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55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2CA66C-ADF7-5FB9-252B-70C22550D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FAC804-BDA9-97C9-B363-BE0116544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854606-F6B6-9F6D-4D69-4ECCE9083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ADECDA-A105-E703-2067-36A21C06A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753136-D04A-25EB-2607-307661B4D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2437-E69B-2F8C-5A11-888AC413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8150BB3-9AF1-DB22-47BB-1448F11228AD}"/>
              </a:ext>
            </a:extLst>
          </p:cNvPr>
          <p:cNvCxnSpPr>
            <a:cxnSpLocks/>
          </p:cNvCxnSpPr>
          <p:nvPr/>
        </p:nvCxnSpPr>
        <p:spPr>
          <a:xfrm>
            <a:off x="293914" y="689004"/>
            <a:ext cx="8643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A32846-3DE5-FC5F-9EDE-1F5837A501CE}"/>
              </a:ext>
            </a:extLst>
          </p:cNvPr>
          <p:cNvSpPr txBox="1"/>
          <p:nvPr/>
        </p:nvSpPr>
        <p:spPr>
          <a:xfrm>
            <a:off x="1224949" y="156457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ko-KR" altLang="en-US" dirty="0" err="1"/>
              <a:t>스마트팜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0BF3B12-0F78-0B5E-94A5-36FBF9B17E3C}"/>
              </a:ext>
            </a:extLst>
          </p:cNvPr>
          <p:cNvGrpSpPr/>
          <p:nvPr/>
        </p:nvGrpSpPr>
        <p:grpSpPr>
          <a:xfrm>
            <a:off x="3754642" y="196231"/>
            <a:ext cx="4080295" cy="307777"/>
            <a:chOff x="4065917" y="301284"/>
            <a:chExt cx="4080295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261596-BF25-0FBB-C255-3CBDC6F57A3A}"/>
                </a:ext>
              </a:extLst>
            </p:cNvPr>
            <p:cNvSpPr txBox="1"/>
            <p:nvPr/>
          </p:nvSpPr>
          <p:spPr>
            <a:xfrm>
              <a:off x="5316748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데이터분석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F07EFD-0581-5B7E-31E8-947B0A061CD8}"/>
                </a:ext>
              </a:extLst>
            </p:cNvPr>
            <p:cNvSpPr txBox="1"/>
            <p:nvPr/>
          </p:nvSpPr>
          <p:spPr>
            <a:xfrm>
              <a:off x="6754484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가격 예측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B3B239-8DED-7A7D-A3DD-3DFA4346511F}"/>
                </a:ext>
              </a:extLst>
            </p:cNvPr>
            <p:cNvSpPr txBox="1"/>
            <p:nvPr/>
          </p:nvSpPr>
          <p:spPr>
            <a:xfrm>
              <a:off x="4065917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대시보드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DFC751-8745-E4B4-8D48-B426D88FAC1C}"/>
              </a:ext>
            </a:extLst>
          </p:cNvPr>
          <p:cNvSpPr/>
          <p:nvPr/>
        </p:nvSpPr>
        <p:spPr>
          <a:xfrm>
            <a:off x="8176403" y="193591"/>
            <a:ext cx="718868" cy="34633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로그인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B678C8-C12A-29A5-CECE-D035F12690A5}"/>
              </a:ext>
            </a:extLst>
          </p:cNvPr>
          <p:cNvSpPr txBox="1"/>
          <p:nvPr/>
        </p:nvSpPr>
        <p:spPr>
          <a:xfrm>
            <a:off x="250887" y="886072"/>
            <a:ext cx="430745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로 시작하는</a:t>
            </a:r>
            <a:endParaRPr lang="en-US" altLang="ko-KR" dirty="0"/>
          </a:p>
          <a:p>
            <a:r>
              <a:rPr lang="ko-KR" altLang="en-US" sz="2800" dirty="0"/>
              <a:t>스마트 딸기 재배</a:t>
            </a:r>
            <a:endParaRPr lang="en-US" altLang="ko-KR" sz="2800" dirty="0"/>
          </a:p>
          <a:p>
            <a:endParaRPr lang="en-US" altLang="ko-KR" dirty="0"/>
          </a:p>
          <a:p>
            <a:r>
              <a:rPr lang="ko-KR" altLang="en-US" sz="1400" dirty="0"/>
              <a:t>데이터 분석과 </a:t>
            </a:r>
            <a:r>
              <a:rPr lang="en-US" altLang="ko-KR" sz="1400" dirty="0"/>
              <a:t>AI </a:t>
            </a:r>
            <a:r>
              <a:rPr lang="ko-KR" altLang="en-US" sz="1400" dirty="0"/>
              <a:t>예측으로 딸기 생산량을 높이고</a:t>
            </a:r>
            <a:r>
              <a:rPr lang="en-US" altLang="ko-KR" sz="1400" dirty="0"/>
              <a:t>, </a:t>
            </a:r>
            <a:r>
              <a:rPr lang="ko-KR" altLang="en-US" sz="1400" dirty="0"/>
              <a:t>최적의 판매 시기를 찾아드립니다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FB1803-4F83-3CDE-14EF-43FCB51340B2}"/>
              </a:ext>
            </a:extLst>
          </p:cNvPr>
          <p:cNvSpPr/>
          <p:nvPr/>
        </p:nvSpPr>
        <p:spPr>
          <a:xfrm>
            <a:off x="4917056" y="886072"/>
            <a:ext cx="4019910" cy="160802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사진</a:t>
            </a:r>
            <a:r>
              <a:rPr lang="en-US" altLang="ko-KR" dirty="0"/>
              <a:t>2 (</a:t>
            </a:r>
            <a:r>
              <a:rPr lang="ko-KR" altLang="en-US" dirty="0"/>
              <a:t>딸기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5F02D58-A4C7-2BEB-549B-C8059F34EEC4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99AB241-6A58-B66A-8B25-A22F200CB91D}"/>
              </a:ext>
            </a:extLst>
          </p:cNvPr>
          <p:cNvGrpSpPr/>
          <p:nvPr/>
        </p:nvGrpSpPr>
        <p:grpSpPr>
          <a:xfrm>
            <a:off x="302646" y="2819478"/>
            <a:ext cx="2967485" cy="1752599"/>
            <a:chOff x="302646" y="2819478"/>
            <a:chExt cx="2967485" cy="1752599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0B156595-5B46-62FE-54C6-92F93EFA2EDB}"/>
                </a:ext>
              </a:extLst>
            </p:cNvPr>
            <p:cNvGrpSpPr/>
            <p:nvPr/>
          </p:nvGrpSpPr>
          <p:grpSpPr>
            <a:xfrm>
              <a:off x="302646" y="2819478"/>
              <a:ext cx="2787770" cy="1752599"/>
              <a:chOff x="302646" y="2819478"/>
              <a:chExt cx="2787770" cy="1752599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66118FC8-D165-36AF-B7A1-CFEA80490F22}"/>
                  </a:ext>
                </a:extLst>
              </p:cNvPr>
              <p:cNvSpPr/>
              <p:nvPr/>
            </p:nvSpPr>
            <p:spPr>
              <a:xfrm>
                <a:off x="302646" y="2819478"/>
                <a:ext cx="2702942" cy="1752599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6" name="그래픽 25" descr="가로 막대형 차트 단색으로 채워진">
                <a:extLst>
                  <a:ext uri="{FF2B5EF4-FFF2-40B4-BE49-F238E27FC236}">
                    <a16:creationId xmlns:a16="http://schemas.microsoft.com/office/drawing/2014/main" id="{CACC65E2-B90B-56AD-C538-7F0EC51AD9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09040" y="2934498"/>
                <a:ext cx="462950" cy="46295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D47219-0B89-8D03-D749-1B25975D2EF6}"/>
                  </a:ext>
                </a:extLst>
              </p:cNvPr>
              <p:cNvSpPr txBox="1"/>
              <p:nvPr/>
            </p:nvSpPr>
            <p:spPr>
              <a:xfrm>
                <a:off x="906494" y="2980481"/>
                <a:ext cx="1926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통합 대시보드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02473F-2BB6-C6AF-98B8-87A0E158380F}"/>
                  </a:ext>
                </a:extLst>
              </p:cNvPr>
              <p:cNvSpPr txBox="1"/>
              <p:nvPr/>
            </p:nvSpPr>
            <p:spPr>
              <a:xfrm>
                <a:off x="387474" y="3795066"/>
                <a:ext cx="2702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실시간 딸기 가격 및 생산량 현황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농가 재배 현황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농가 재배환경 현황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B8C69E-36A9-2E59-AAB9-A3527F098690}"/>
                </a:ext>
              </a:extLst>
            </p:cNvPr>
            <p:cNvSpPr txBox="1"/>
            <p:nvPr/>
          </p:nvSpPr>
          <p:spPr>
            <a:xfrm>
              <a:off x="348652" y="3395980"/>
              <a:ext cx="2921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실시간 데이터를 한 눈에 확인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C9B476B-E5C1-52AB-88B6-A897F1E6FA1D}"/>
              </a:ext>
            </a:extLst>
          </p:cNvPr>
          <p:cNvGrpSpPr/>
          <p:nvPr/>
        </p:nvGrpSpPr>
        <p:grpSpPr>
          <a:xfrm>
            <a:off x="3206873" y="2819478"/>
            <a:ext cx="3056623" cy="1752599"/>
            <a:chOff x="3206873" y="2819478"/>
            <a:chExt cx="3056623" cy="1752599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E8DF9B5F-3758-2C6E-D138-E42E1C75762D}"/>
                </a:ext>
              </a:extLst>
            </p:cNvPr>
            <p:cNvGrpSpPr/>
            <p:nvPr/>
          </p:nvGrpSpPr>
          <p:grpSpPr>
            <a:xfrm>
              <a:off x="3206873" y="2819478"/>
              <a:ext cx="2787770" cy="1752599"/>
              <a:chOff x="3206873" y="2819478"/>
              <a:chExt cx="2787770" cy="1752599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811229D3-342E-ADA6-6098-BF2EF0C5D0A0}"/>
                  </a:ext>
                </a:extLst>
              </p:cNvPr>
              <p:cNvSpPr/>
              <p:nvPr/>
            </p:nvSpPr>
            <p:spPr>
              <a:xfrm>
                <a:off x="3206873" y="2819478"/>
                <a:ext cx="2702942" cy="1752599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31" name="그래픽 30" descr="데이터베이스 단색으로 채워진">
                <a:extLst>
                  <a:ext uri="{FF2B5EF4-FFF2-40B4-BE49-F238E27FC236}">
                    <a16:creationId xmlns:a16="http://schemas.microsoft.com/office/drawing/2014/main" id="{A500DD5B-C6DF-D20A-AADD-631401F320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02474" y="2931580"/>
                <a:ext cx="464400" cy="464400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F776A4-336E-5437-E8AC-837793D3D3D0}"/>
                  </a:ext>
                </a:extLst>
              </p:cNvPr>
              <p:cNvSpPr txBox="1"/>
              <p:nvPr/>
            </p:nvSpPr>
            <p:spPr>
              <a:xfrm>
                <a:off x="3766874" y="2980481"/>
                <a:ext cx="1926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데이터 분석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3D4789-8989-D345-6265-CC9920A5C4CA}"/>
                  </a:ext>
                </a:extLst>
              </p:cNvPr>
              <p:cNvSpPr txBox="1"/>
              <p:nvPr/>
            </p:nvSpPr>
            <p:spPr>
              <a:xfrm>
                <a:off x="3291701" y="3795066"/>
                <a:ext cx="2702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환경 요인 상관관계 분석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생산량 영향 요소 파악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최적 환경 조건 추천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CA59D8C-5FF3-8FFD-5EBD-4CF191DA4CA6}"/>
                </a:ext>
              </a:extLst>
            </p:cNvPr>
            <p:cNvSpPr txBox="1"/>
            <p:nvPr/>
          </p:nvSpPr>
          <p:spPr>
            <a:xfrm>
              <a:off x="3342017" y="3395980"/>
              <a:ext cx="2921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축적된 데이터로 최적 조건 도출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192F2B7-FD07-17C8-10DA-4F5AB9B078B3}"/>
              </a:ext>
            </a:extLst>
          </p:cNvPr>
          <p:cNvGrpSpPr/>
          <p:nvPr/>
        </p:nvGrpSpPr>
        <p:grpSpPr>
          <a:xfrm>
            <a:off x="6142729" y="2819478"/>
            <a:ext cx="2990129" cy="1752599"/>
            <a:chOff x="6142729" y="2819478"/>
            <a:chExt cx="2990129" cy="17525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4A6B0F23-4F85-E366-E9B8-D1DBC5D998FB}"/>
                </a:ext>
              </a:extLst>
            </p:cNvPr>
            <p:cNvSpPr/>
            <p:nvPr/>
          </p:nvSpPr>
          <p:spPr>
            <a:xfrm>
              <a:off x="6142729" y="2819478"/>
              <a:ext cx="2702942" cy="175259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그래픽 35" descr="상향 추세 단색으로 채워진">
              <a:extLst>
                <a:ext uri="{FF2B5EF4-FFF2-40B4-BE49-F238E27FC236}">
                  <a16:creationId xmlns:a16="http://schemas.microsoft.com/office/drawing/2014/main" id="{ED54C93F-7D5E-BF99-3AC9-C4A755A01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6244" y="2908497"/>
              <a:ext cx="464400" cy="4644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F5F4FF-725F-3B9A-924E-5E4EA376336B}"/>
                </a:ext>
              </a:extLst>
            </p:cNvPr>
            <p:cNvSpPr txBox="1"/>
            <p:nvPr/>
          </p:nvSpPr>
          <p:spPr>
            <a:xfrm>
              <a:off x="6815591" y="2980481"/>
              <a:ext cx="192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가격 예측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488ED1B-73E3-95DD-F554-43C3768E3F5D}"/>
                </a:ext>
              </a:extLst>
            </p:cNvPr>
            <p:cNvSpPr txBox="1"/>
            <p:nvPr/>
          </p:nvSpPr>
          <p:spPr>
            <a:xfrm>
              <a:off x="6211379" y="3395980"/>
              <a:ext cx="2921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시장 가격 분석 </a:t>
              </a:r>
              <a:r>
                <a:rPr lang="en-US" altLang="ko-KR" sz="1200" dirty="0"/>
                <a:t>&amp;</a:t>
              </a:r>
              <a:r>
                <a:rPr lang="ko-KR" altLang="en-US" sz="1200" dirty="0"/>
                <a:t> 판매시기 추천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4A05B46-8006-6352-37C1-FA37C9D8E981}"/>
                </a:ext>
              </a:extLst>
            </p:cNvPr>
            <p:cNvSpPr txBox="1"/>
            <p:nvPr/>
          </p:nvSpPr>
          <p:spPr>
            <a:xfrm>
              <a:off x="6234024" y="3767851"/>
              <a:ext cx="27029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200" dirty="0"/>
                <a:t>도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소매가 시기별 분석</a:t>
              </a:r>
              <a:endParaRPr lang="en-US" altLang="ko-KR" sz="1200" dirty="0"/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200" dirty="0"/>
                <a:t>날씨 연동 가격 예측</a:t>
              </a:r>
              <a:endParaRPr lang="en-US" altLang="ko-KR" sz="1200" dirty="0"/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200" dirty="0"/>
                <a:t>최적 판매 시기 추천</a:t>
              </a: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6DC5ED-74F4-F426-3686-744259E36F5E}"/>
              </a:ext>
            </a:extLst>
          </p:cNvPr>
          <p:cNvSpPr/>
          <p:nvPr/>
        </p:nvSpPr>
        <p:spPr>
          <a:xfrm>
            <a:off x="241662" y="91389"/>
            <a:ext cx="983287" cy="4485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4E83DE5-4E6B-6AE7-C1F7-CE9F52D97856}"/>
              </a:ext>
            </a:extLst>
          </p:cNvPr>
          <p:cNvSpPr/>
          <p:nvPr/>
        </p:nvSpPr>
        <p:spPr>
          <a:xfrm>
            <a:off x="3180798" y="4786911"/>
            <a:ext cx="1225677" cy="505122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시작하기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CBBAD1E-547A-8FC9-04B0-B3027420D841}"/>
              </a:ext>
            </a:extLst>
          </p:cNvPr>
          <p:cNvSpPr/>
          <p:nvPr/>
        </p:nvSpPr>
        <p:spPr>
          <a:xfrm>
            <a:off x="4621502" y="4799818"/>
            <a:ext cx="1163704" cy="505122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문의하기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9ABC949-7496-9FD9-F7C2-617D377B8754}"/>
              </a:ext>
            </a:extLst>
          </p:cNvPr>
          <p:cNvCxnSpPr>
            <a:cxnSpLocks/>
          </p:cNvCxnSpPr>
          <p:nvPr/>
        </p:nvCxnSpPr>
        <p:spPr>
          <a:xfrm>
            <a:off x="302646" y="5488824"/>
            <a:ext cx="8643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6332C93-4C71-E5B5-C273-098E8EF8CB4C}"/>
              </a:ext>
            </a:extLst>
          </p:cNvPr>
          <p:cNvSpPr txBox="1"/>
          <p:nvPr/>
        </p:nvSpPr>
        <p:spPr>
          <a:xfrm>
            <a:off x="314243" y="5591679"/>
            <a:ext cx="294848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딸기 </a:t>
            </a:r>
            <a:r>
              <a:rPr lang="ko-KR" altLang="en-US" sz="1400" b="1" dirty="0" err="1"/>
              <a:t>스마트팜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AI</a:t>
            </a:r>
          </a:p>
          <a:p>
            <a:endParaRPr lang="en-US" altLang="ko-KR" sz="1400" dirty="0"/>
          </a:p>
          <a:p>
            <a:r>
              <a:rPr lang="en-US" altLang="ko-KR" sz="1200" dirty="0"/>
              <a:t>AI </a:t>
            </a:r>
            <a:r>
              <a:rPr lang="ko-KR" altLang="en-US" sz="1200" dirty="0"/>
              <a:t>기술로 딸기 농가의 생산성을 높이고 수익을 극대화하는 </a:t>
            </a:r>
            <a:r>
              <a:rPr lang="ko-KR" altLang="en-US" sz="1200" dirty="0" err="1"/>
              <a:t>스마트팜</a:t>
            </a:r>
            <a:r>
              <a:rPr lang="ko-KR" altLang="en-US" sz="1200" dirty="0"/>
              <a:t> 플랫폼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60EF70C-FDED-E0FA-93FC-1B4DFD2607FC}"/>
              </a:ext>
            </a:extLst>
          </p:cNvPr>
          <p:cNvGrpSpPr/>
          <p:nvPr/>
        </p:nvGrpSpPr>
        <p:grpSpPr>
          <a:xfrm>
            <a:off x="3302474" y="5567483"/>
            <a:ext cx="3871899" cy="1231323"/>
            <a:chOff x="3302474" y="5567483"/>
            <a:chExt cx="3871899" cy="1231323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102211E-EE03-7578-DCF7-6851AE5B1D6B}"/>
                </a:ext>
              </a:extLst>
            </p:cNvPr>
            <p:cNvSpPr txBox="1"/>
            <p:nvPr/>
          </p:nvSpPr>
          <p:spPr>
            <a:xfrm>
              <a:off x="3302474" y="5567483"/>
              <a:ext cx="294848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연락처</a:t>
              </a:r>
              <a:endParaRPr lang="en-US" altLang="ko-KR" sz="1400" b="1" dirty="0"/>
            </a:p>
            <a:p>
              <a:endParaRPr lang="en-US" altLang="ko-KR" sz="1200" dirty="0"/>
            </a:p>
            <a:p>
              <a:r>
                <a:rPr lang="en-US" altLang="ko-KR" sz="1400" dirty="0"/>
                <a:t>☎ </a:t>
              </a:r>
              <a:r>
                <a:rPr lang="en-US" altLang="ko-KR" sz="1200" dirty="0"/>
                <a:t>02-1234-5678</a:t>
              </a:r>
              <a:endParaRPr lang="en-US" altLang="ko-KR" sz="1400" dirty="0"/>
            </a:p>
            <a:p>
              <a:endParaRPr lang="en-US" altLang="ko-KR" sz="1400" dirty="0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26630750-B972-8276-724C-9D1E79363911}"/>
                </a:ext>
              </a:extLst>
            </p:cNvPr>
            <p:cNvGrpSpPr/>
            <p:nvPr/>
          </p:nvGrpSpPr>
          <p:grpSpPr>
            <a:xfrm>
              <a:off x="3353160" y="6189459"/>
              <a:ext cx="3597504" cy="300923"/>
              <a:chOff x="7140164" y="5809504"/>
              <a:chExt cx="3597504" cy="300923"/>
            </a:xfrm>
          </p:grpSpPr>
          <p:pic>
            <p:nvPicPr>
              <p:cNvPr id="57" name="그래픽 56" descr="봉투 단색으로 채워진">
                <a:extLst>
                  <a:ext uri="{FF2B5EF4-FFF2-40B4-BE49-F238E27FC236}">
                    <a16:creationId xmlns:a16="http://schemas.microsoft.com/office/drawing/2014/main" id="{4729654A-AE8D-6730-D0F4-6B4402926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40164" y="5833428"/>
                <a:ext cx="276999" cy="276999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872CFB5-47C2-4569-0952-EC183A38A723}"/>
                  </a:ext>
                </a:extLst>
              </p:cNvPr>
              <p:cNvSpPr txBox="1"/>
              <p:nvPr/>
            </p:nvSpPr>
            <p:spPr>
              <a:xfrm>
                <a:off x="7353443" y="5809504"/>
                <a:ext cx="33842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contact@strawberryfarm.ai</a:t>
                </a:r>
                <a:endParaRPr lang="ko-KR" altLang="en-US" sz="1200" dirty="0"/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D3B832E8-8843-B016-0A6B-B306C0D2F811}"/>
                </a:ext>
              </a:extLst>
            </p:cNvPr>
            <p:cNvGrpSpPr/>
            <p:nvPr/>
          </p:nvGrpSpPr>
          <p:grpSpPr>
            <a:xfrm>
              <a:off x="3321530" y="6484231"/>
              <a:ext cx="3852843" cy="314575"/>
              <a:chOff x="6862601" y="5900592"/>
              <a:chExt cx="3852843" cy="314575"/>
            </a:xfrm>
          </p:grpSpPr>
          <p:pic>
            <p:nvPicPr>
              <p:cNvPr id="62" name="그래픽 61" descr="표식 단색으로 채워진">
                <a:extLst>
                  <a:ext uri="{FF2B5EF4-FFF2-40B4-BE49-F238E27FC236}">
                    <a16:creationId xmlns:a16="http://schemas.microsoft.com/office/drawing/2014/main" id="{FEB36D27-784D-3FF6-4D1A-D66D315A14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62601" y="5900592"/>
                <a:ext cx="314575" cy="314575"/>
              </a:xfrm>
              <a:prstGeom prst="rect">
                <a:avLst/>
              </a:prstGeom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7339EDE-0626-88CF-A5A1-9569AF6F268A}"/>
                  </a:ext>
                </a:extLst>
              </p:cNvPr>
              <p:cNvSpPr txBox="1"/>
              <p:nvPr/>
            </p:nvSpPr>
            <p:spPr>
              <a:xfrm>
                <a:off x="7075097" y="5912895"/>
                <a:ext cx="36403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서울특별시 종로구 </a:t>
                </a:r>
                <a:r>
                  <a:rPr lang="ko-KR" altLang="en-US" sz="1200" dirty="0" err="1"/>
                  <a:t>돈화문로</a:t>
                </a:r>
                <a:r>
                  <a:rPr lang="ko-KR" altLang="en-US" sz="1200" dirty="0"/>
                  <a:t> </a:t>
                </a:r>
                <a:r>
                  <a:rPr lang="en-US" altLang="ko-KR" sz="1200" dirty="0"/>
                  <a:t>123</a:t>
                </a:r>
                <a:endParaRPr lang="ko-KR" altLang="en-US" sz="1200" dirty="0"/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F8B3776-28D9-FCAB-AC81-3964AD669902}"/>
              </a:ext>
            </a:extLst>
          </p:cNvPr>
          <p:cNvSpPr txBox="1"/>
          <p:nvPr/>
        </p:nvSpPr>
        <p:spPr>
          <a:xfrm>
            <a:off x="6234024" y="5597830"/>
            <a:ext cx="294848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바로가기</a:t>
            </a:r>
            <a:endParaRPr lang="en-US" altLang="ko-KR" sz="1400" b="1" dirty="0"/>
          </a:p>
          <a:p>
            <a:endParaRPr lang="en-US" altLang="ko-KR" sz="1200" dirty="0"/>
          </a:p>
          <a:p>
            <a:r>
              <a:rPr lang="ko-KR" altLang="en-US" sz="1200" dirty="0"/>
              <a:t>서비스 소개</a:t>
            </a:r>
            <a:endParaRPr lang="en-US" altLang="ko-KR" sz="1200" dirty="0"/>
          </a:p>
          <a:p>
            <a:r>
              <a:rPr lang="ko-KR" altLang="en-US" sz="1200" dirty="0"/>
              <a:t>문의하기</a:t>
            </a:r>
            <a:endParaRPr lang="en-US" altLang="ko-KR" sz="1200" dirty="0"/>
          </a:p>
          <a:p>
            <a:r>
              <a:rPr lang="ko-KR" altLang="en-US" sz="1200" dirty="0"/>
              <a:t>이용약관</a:t>
            </a:r>
            <a:endParaRPr lang="en-US" altLang="ko-KR" sz="1200" dirty="0"/>
          </a:p>
          <a:p>
            <a:r>
              <a:rPr lang="ko-KR" altLang="en-US" sz="1200" dirty="0"/>
              <a:t>개인정보처리방침</a:t>
            </a:r>
            <a:endParaRPr lang="en-US" altLang="ko-KR" sz="12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BB19427-E985-07BE-87E5-B2A6F5BE53A6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58CC2A8-1432-4F45-882D-2ACD6FFC9372}"/>
              </a:ext>
            </a:extLst>
          </p:cNvPr>
          <p:cNvSpPr/>
          <p:nvPr/>
        </p:nvSpPr>
        <p:spPr>
          <a:xfrm>
            <a:off x="3583046" y="1054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AFB5C0A-F0E4-9546-165B-4A738E803A16}"/>
              </a:ext>
            </a:extLst>
          </p:cNvPr>
          <p:cNvSpPr/>
          <p:nvPr/>
        </p:nvSpPr>
        <p:spPr>
          <a:xfrm>
            <a:off x="7999771" y="7525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DBF074-75CB-DE37-B976-30E867FAB7AD}"/>
              </a:ext>
            </a:extLst>
          </p:cNvPr>
          <p:cNvSpPr txBox="1"/>
          <p:nvPr/>
        </p:nvSpPr>
        <p:spPr>
          <a:xfrm>
            <a:off x="9285828" y="175384"/>
            <a:ext cx="2805020" cy="657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Main.html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내비게이션 영역 안에 포함된</a:t>
            </a:r>
            <a:r>
              <a:rPr lang="en-US" altLang="ko-KR" sz="1200" dirty="0"/>
              <a:t>, </a:t>
            </a:r>
            <a:r>
              <a:rPr lang="ko-KR" altLang="en-US" sz="1200" dirty="0"/>
              <a:t>로고 및 웹 서비스명</a:t>
            </a:r>
            <a:r>
              <a:rPr lang="en-US" altLang="ko-KR" sz="1200" dirty="0"/>
              <a:t>. </a:t>
            </a:r>
            <a:r>
              <a:rPr lang="ko-KR" altLang="en-US" sz="1200" dirty="0"/>
              <a:t>어디서든</a:t>
            </a:r>
            <a:r>
              <a:rPr lang="en-US" altLang="ko-KR" sz="1200" dirty="0"/>
              <a:t> </a:t>
            </a: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돌아온다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각 서비스 화면으로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창을 누르면 로그인 화면으로 넘어간다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로그인 상태라면 아이디 혹은 이름을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서비스에 대해 간략히 설명하는 영역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4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서비스를 이해하기 쉽도록 하는 사진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상태에서 클릭하면 대시보드 화면으로 넘어간다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로그인을 하지 않았을 시에는 로그인</a:t>
            </a:r>
            <a:r>
              <a:rPr lang="en-US" altLang="ko-KR" sz="1200" dirty="0"/>
              <a:t>/</a:t>
            </a:r>
            <a:r>
              <a:rPr lang="ko-KR" altLang="en-US" sz="1200" dirty="0"/>
              <a:t>회원가입 창으로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데이터분석 화면으로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가격예측 화면으로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</a:t>
            </a:r>
            <a:r>
              <a:rPr lang="en-US" altLang="ko-KR" sz="1200" dirty="0"/>
              <a:t> </a:t>
            </a:r>
            <a:r>
              <a:rPr lang="ko-KR" altLang="en-US" sz="1200" dirty="0"/>
              <a:t>화면으로 넘어간다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로그인 상태라면 보이지 않는다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문의 </a:t>
            </a:r>
            <a:r>
              <a:rPr lang="en-US" altLang="ko-KR" sz="1200" dirty="0"/>
              <a:t>form</a:t>
            </a:r>
            <a:r>
              <a:rPr lang="ko-KR" altLang="en-US" sz="1200" dirty="0"/>
              <a:t>을 띄운다</a:t>
            </a:r>
            <a:r>
              <a:rPr lang="en-US" altLang="ko-KR" sz="1200" dirty="0"/>
              <a:t>. 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간단한 설명</a:t>
            </a:r>
            <a:r>
              <a:rPr lang="en-US" altLang="ko-KR" sz="1200" dirty="0"/>
              <a:t>, </a:t>
            </a:r>
            <a:r>
              <a:rPr lang="ko-KR" altLang="en-US" sz="1200" dirty="0"/>
              <a:t>연락처</a:t>
            </a:r>
            <a:r>
              <a:rPr lang="en-US" altLang="ko-KR" sz="1200" dirty="0"/>
              <a:t>, </a:t>
            </a:r>
            <a:r>
              <a:rPr lang="ko-KR" altLang="en-US" sz="1200" dirty="0"/>
              <a:t>바로가기 링크를 모아둔 </a:t>
            </a:r>
            <a:r>
              <a:rPr lang="en-US" altLang="ko-KR" sz="1200" dirty="0"/>
              <a:t>footer</a:t>
            </a:r>
            <a:r>
              <a:rPr lang="ko-KR" altLang="en-US" sz="1200" dirty="0"/>
              <a:t>영역으로</a:t>
            </a:r>
            <a:r>
              <a:rPr lang="en-US" altLang="ko-KR" sz="1200" dirty="0"/>
              <a:t>, </a:t>
            </a:r>
            <a:r>
              <a:rPr lang="ko-KR" altLang="en-US" sz="1200" dirty="0"/>
              <a:t>어느 </a:t>
            </a:r>
            <a:r>
              <a:rPr lang="ko-KR" altLang="en-US" sz="1200" dirty="0" err="1"/>
              <a:t>페이지에서든</a:t>
            </a:r>
            <a:r>
              <a:rPr lang="ko-KR" altLang="en-US" sz="1200" dirty="0"/>
              <a:t> 최하단에 표시된다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ko-KR" altLang="en-US" sz="12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B2C3031-77F0-FACB-DE9B-7F11E3C8CEC9}"/>
              </a:ext>
            </a:extLst>
          </p:cNvPr>
          <p:cNvSpPr/>
          <p:nvPr/>
        </p:nvSpPr>
        <p:spPr>
          <a:xfrm>
            <a:off x="93946" y="87400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B76D584-1D3C-217B-48CC-7FCFB874486D}"/>
              </a:ext>
            </a:extLst>
          </p:cNvPr>
          <p:cNvSpPr/>
          <p:nvPr/>
        </p:nvSpPr>
        <p:spPr>
          <a:xfrm>
            <a:off x="4917874" y="90309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E9907D6-CF23-6E15-6DC6-E2DBEB0F9EEF}"/>
              </a:ext>
            </a:extLst>
          </p:cNvPr>
          <p:cNvSpPr/>
          <p:nvPr/>
        </p:nvSpPr>
        <p:spPr>
          <a:xfrm>
            <a:off x="233937" y="275030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9CEC173-4D97-9B71-C120-820C77881CA5}"/>
              </a:ext>
            </a:extLst>
          </p:cNvPr>
          <p:cNvSpPr/>
          <p:nvPr/>
        </p:nvSpPr>
        <p:spPr>
          <a:xfrm>
            <a:off x="3155835" y="276741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909F6C3-B2FA-2934-C9E6-9C93D80CC221}"/>
              </a:ext>
            </a:extLst>
          </p:cNvPr>
          <p:cNvSpPr/>
          <p:nvPr/>
        </p:nvSpPr>
        <p:spPr>
          <a:xfrm>
            <a:off x="6159571" y="277268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28D6FBE-C2D7-81E1-1A4F-D9AE37267AF9}"/>
              </a:ext>
            </a:extLst>
          </p:cNvPr>
          <p:cNvSpPr/>
          <p:nvPr/>
        </p:nvSpPr>
        <p:spPr>
          <a:xfrm>
            <a:off x="3048682" y="466084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77FCDEB-FF1B-4DBA-33E2-0F5EC386FC05}"/>
              </a:ext>
            </a:extLst>
          </p:cNvPr>
          <p:cNvSpPr/>
          <p:nvPr/>
        </p:nvSpPr>
        <p:spPr>
          <a:xfrm>
            <a:off x="4577527" y="4669138"/>
            <a:ext cx="431550" cy="2195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B7BA8D5-0611-FF56-9290-F88190856027}"/>
              </a:ext>
            </a:extLst>
          </p:cNvPr>
          <p:cNvSpPr/>
          <p:nvPr/>
        </p:nvSpPr>
        <p:spPr>
          <a:xfrm>
            <a:off x="123403" y="5359306"/>
            <a:ext cx="431550" cy="2195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3730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림 118" descr="The image shows a line chart depicting the daily fluctuating prices of strawberries in South Korea, ranging from 10,350 to 10,600 won per kilogram between March 1st and March 14th.&#10;&#10;AI 생성 콘텐츠는 정확하지 않을 수 있습니다.">
            <a:extLst>
              <a:ext uri="{FF2B5EF4-FFF2-40B4-BE49-F238E27FC236}">
                <a16:creationId xmlns:a16="http://schemas.microsoft.com/office/drawing/2014/main" id="{98DD4B55-BCCF-D8BA-FA67-712CEE469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701" y="2105123"/>
            <a:ext cx="3632379" cy="2479940"/>
          </a:xfrm>
          <a:prstGeom prst="rect">
            <a:avLst/>
          </a:prstGeom>
        </p:spPr>
      </p:pic>
      <p:pic>
        <p:nvPicPr>
          <p:cNvPr id="113" name="그림 112" descr="The image shows a line graph depicting the daily production of strawberries in South Korea, with the data points ranging from March 3rd to March 14th, 2020.&#10;&#10;AI 생성 콘텐츠는 정확하지 않을 수 있습니다.">
            <a:extLst>
              <a:ext uri="{FF2B5EF4-FFF2-40B4-BE49-F238E27FC236}">
                <a16:creationId xmlns:a16="http://schemas.microsoft.com/office/drawing/2014/main" id="{9BB050D5-D033-8509-C8F8-8911B96A0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50" y="2104809"/>
            <a:ext cx="3615820" cy="2480189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AAE336C-B305-84D9-2A73-29921BA5922E}"/>
              </a:ext>
            </a:extLst>
          </p:cNvPr>
          <p:cNvCxnSpPr>
            <a:cxnSpLocks/>
          </p:cNvCxnSpPr>
          <p:nvPr/>
        </p:nvCxnSpPr>
        <p:spPr>
          <a:xfrm>
            <a:off x="293914" y="689004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5E42B8-7979-C18D-4533-D7CB1E0A0877}"/>
              </a:ext>
            </a:extLst>
          </p:cNvPr>
          <p:cNvSpPr txBox="1"/>
          <p:nvPr/>
        </p:nvSpPr>
        <p:spPr>
          <a:xfrm>
            <a:off x="874648" y="177802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ko-KR" altLang="en-US" dirty="0" err="1"/>
              <a:t>스마트팜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965000A-B333-55FE-6C74-667922351B0E}"/>
              </a:ext>
            </a:extLst>
          </p:cNvPr>
          <p:cNvGrpSpPr/>
          <p:nvPr/>
        </p:nvGrpSpPr>
        <p:grpSpPr>
          <a:xfrm>
            <a:off x="2954235" y="199611"/>
            <a:ext cx="3819754" cy="307777"/>
            <a:chOff x="4065917" y="301284"/>
            <a:chExt cx="3819754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8C4FFD-586D-B94C-723C-C4397F809826}"/>
                </a:ext>
              </a:extLst>
            </p:cNvPr>
            <p:cNvSpPr txBox="1"/>
            <p:nvPr/>
          </p:nvSpPr>
          <p:spPr>
            <a:xfrm>
              <a:off x="5316748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데이터분석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2FCC93-68EA-4968-528C-D83BB9A954D1}"/>
                </a:ext>
              </a:extLst>
            </p:cNvPr>
            <p:cNvSpPr txBox="1"/>
            <p:nvPr/>
          </p:nvSpPr>
          <p:spPr>
            <a:xfrm>
              <a:off x="6493943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가격 예측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FA35B8-0471-2FFD-1270-086C0A460D7D}"/>
                </a:ext>
              </a:extLst>
            </p:cNvPr>
            <p:cNvSpPr txBox="1"/>
            <p:nvPr/>
          </p:nvSpPr>
          <p:spPr>
            <a:xfrm>
              <a:off x="4065917" y="301284"/>
              <a:ext cx="1391728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대시보드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0B24E7E-6C1C-D71E-705F-F273CA31DF33}"/>
              </a:ext>
            </a:extLst>
          </p:cNvPr>
          <p:cNvSpPr/>
          <p:nvPr/>
        </p:nvSpPr>
        <p:spPr>
          <a:xfrm>
            <a:off x="8176402" y="193591"/>
            <a:ext cx="901257" cy="34633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로그아웃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DBAA96C-3E47-9F4A-1054-688EFCBD2114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3148B9-DDDE-270C-9AB7-E7A6B49CD1A9}"/>
              </a:ext>
            </a:extLst>
          </p:cNvPr>
          <p:cNvSpPr/>
          <p:nvPr/>
        </p:nvSpPr>
        <p:spPr>
          <a:xfrm>
            <a:off x="241663" y="91389"/>
            <a:ext cx="653330" cy="5421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31DDDF8-8D25-65D6-4C5D-2D168151B714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0A8F858-472D-A9EB-60B7-2F8AC388FB2D}"/>
              </a:ext>
            </a:extLst>
          </p:cNvPr>
          <p:cNvSpPr/>
          <p:nvPr/>
        </p:nvSpPr>
        <p:spPr>
          <a:xfrm>
            <a:off x="2954235" y="75816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FB0F881-3520-E483-41C4-E8BEC2893060}"/>
              </a:ext>
            </a:extLst>
          </p:cNvPr>
          <p:cNvSpPr/>
          <p:nvPr/>
        </p:nvSpPr>
        <p:spPr>
          <a:xfrm>
            <a:off x="7024762" y="11789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0001C15-1D02-467F-D92E-8DD6D109BC4E}"/>
              </a:ext>
            </a:extLst>
          </p:cNvPr>
          <p:cNvSpPr txBox="1"/>
          <p:nvPr/>
        </p:nvSpPr>
        <p:spPr>
          <a:xfrm>
            <a:off x="9285828" y="175384"/>
            <a:ext cx="280502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DashBoard.html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현재 페이지의 서비스에 해당하는 항목의 배경이 회색으로 처리된다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시에는 사용자 이름</a:t>
            </a:r>
            <a:r>
              <a:rPr lang="en-US" altLang="ko-KR" sz="1200" dirty="0"/>
              <a:t> </a:t>
            </a:r>
            <a:r>
              <a:rPr lang="ko-KR" altLang="en-US" sz="1200" dirty="0"/>
              <a:t>혹은 아이디를 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로그아웃 버튼을 누르면 로그아웃이 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도매가 정보를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사용자의 이번 달 수확량을 예측해서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사용자의 이번 달 예상 매출을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딸기 생산량 추이를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일간</a:t>
            </a:r>
            <a:r>
              <a:rPr lang="en-US" altLang="ko-KR" sz="1200" dirty="0"/>
              <a:t>/</a:t>
            </a:r>
            <a:r>
              <a:rPr lang="ko-KR" altLang="en-US" sz="1200" dirty="0"/>
              <a:t>주간</a:t>
            </a:r>
            <a:r>
              <a:rPr lang="en-US" altLang="ko-KR" sz="1200" dirty="0"/>
              <a:t>/</a:t>
            </a:r>
            <a:r>
              <a:rPr lang="ko-KR" altLang="en-US" sz="1200" dirty="0"/>
              <a:t>월간으로 나눠서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딸기 가격 추이를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재배 현황을 표시한다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각 동별로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해당 동의 예상 출하일을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예상 출하량을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예상 수익을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조기출하</a:t>
            </a:r>
            <a:r>
              <a:rPr lang="en-US" altLang="ko-KR" sz="1200" dirty="0"/>
              <a:t>, </a:t>
            </a:r>
            <a:r>
              <a:rPr lang="ko-KR" altLang="en-US" sz="1200" dirty="0"/>
              <a:t>출하지연</a:t>
            </a:r>
            <a:r>
              <a:rPr lang="en-US" altLang="ko-KR" sz="1200" dirty="0"/>
              <a:t>, </a:t>
            </a:r>
            <a:r>
              <a:rPr lang="ko-KR" altLang="en-US" sz="1200" dirty="0"/>
              <a:t>적기출하</a:t>
            </a:r>
            <a:r>
              <a:rPr lang="en-US" altLang="ko-KR" sz="1200" dirty="0"/>
              <a:t>, </a:t>
            </a:r>
            <a:r>
              <a:rPr lang="ko-KR" altLang="en-US" sz="1200" dirty="0"/>
              <a:t>이렇게 세 가지로 간단히 추천해서각 동별로 보여준다</a:t>
            </a:r>
            <a:r>
              <a:rPr lang="en-US" altLang="ko-KR" sz="1200" dirty="0"/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C4E8F1-611E-9DA3-CF5D-27282CF52EBE}"/>
              </a:ext>
            </a:extLst>
          </p:cNvPr>
          <p:cNvSpPr txBox="1"/>
          <p:nvPr/>
        </p:nvSpPr>
        <p:spPr>
          <a:xfrm>
            <a:off x="7276011" y="199611"/>
            <a:ext cx="900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홍길동님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D3940E03-08EA-EEA8-A9B5-A543766EE21B}"/>
              </a:ext>
            </a:extLst>
          </p:cNvPr>
          <p:cNvGrpSpPr/>
          <p:nvPr/>
        </p:nvGrpSpPr>
        <p:grpSpPr>
          <a:xfrm>
            <a:off x="292987" y="979715"/>
            <a:ext cx="8602819" cy="954104"/>
            <a:chOff x="292987" y="979714"/>
            <a:chExt cx="8602819" cy="1665511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3970DE77-6F3D-D70B-FB96-656259C8DDFE}"/>
                </a:ext>
              </a:extLst>
            </p:cNvPr>
            <p:cNvGrpSpPr/>
            <p:nvPr/>
          </p:nvGrpSpPr>
          <p:grpSpPr>
            <a:xfrm>
              <a:off x="292987" y="979714"/>
              <a:ext cx="2378368" cy="1665511"/>
              <a:chOff x="292987" y="979714"/>
              <a:chExt cx="2378368" cy="1665511"/>
            </a:xfrm>
          </p:grpSpPr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4AFE5E2E-54B5-C435-6BA2-9A61C8F2A4B6}"/>
                  </a:ext>
                </a:extLst>
              </p:cNvPr>
              <p:cNvSpPr/>
              <p:nvPr/>
            </p:nvSpPr>
            <p:spPr>
              <a:xfrm>
                <a:off x="292987" y="979714"/>
                <a:ext cx="2378368" cy="166551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오늘의 딸기 도매가</a:t>
                </a:r>
                <a:endParaRPr lang="en-US" altLang="ko-KR" sz="1400" dirty="0"/>
              </a:p>
              <a:p>
                <a:pPr algn="ctr"/>
                <a:endParaRPr lang="en-US" altLang="ko-KR" sz="1400" dirty="0"/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10,500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원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/ kg</a:t>
                </a:r>
              </a:p>
              <a:p>
                <a:pPr algn="ctr"/>
                <a:endParaRPr lang="ko-KR" altLang="en-US" sz="1400" dirty="0"/>
              </a:p>
            </p:txBody>
          </p:sp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73BEA913-68EA-FF0B-15F6-1479BCAD8754}"/>
                  </a:ext>
                </a:extLst>
              </p:cNvPr>
              <p:cNvGrpSpPr/>
              <p:nvPr/>
            </p:nvGrpSpPr>
            <p:grpSpPr>
              <a:xfrm>
                <a:off x="769784" y="2191320"/>
                <a:ext cx="1392118" cy="385455"/>
                <a:chOff x="1063698" y="3193869"/>
                <a:chExt cx="1392118" cy="385455"/>
              </a:xfrm>
            </p:grpSpPr>
            <p:sp>
              <p:nvSpPr>
                <p:cNvPr id="93" name="자유형: 도형 92">
                  <a:extLst>
                    <a:ext uri="{FF2B5EF4-FFF2-40B4-BE49-F238E27FC236}">
                      <a16:creationId xmlns:a16="http://schemas.microsoft.com/office/drawing/2014/main" id="{29C9FAC8-B871-89F0-F0E2-70A17C693ABA}"/>
                    </a:ext>
                  </a:extLst>
                </p:cNvPr>
                <p:cNvSpPr/>
                <p:nvPr/>
              </p:nvSpPr>
              <p:spPr>
                <a:xfrm>
                  <a:off x="1063698" y="3297319"/>
                  <a:ext cx="386838" cy="261826"/>
                </a:xfrm>
                <a:custGeom>
                  <a:avLst/>
                  <a:gdLst>
                    <a:gd name="csX0" fmla="*/ 401003 w 553402"/>
                    <a:gd name="csY0" fmla="*/ 0 h 324802"/>
                    <a:gd name="csX1" fmla="*/ 457200 w 553402"/>
                    <a:gd name="csY1" fmla="*/ 56198 h 324802"/>
                    <a:gd name="csX2" fmla="*/ 381953 w 553402"/>
                    <a:gd name="csY2" fmla="*/ 131445 h 324802"/>
                    <a:gd name="csX3" fmla="*/ 324803 w 553402"/>
                    <a:gd name="csY3" fmla="*/ 74295 h 324802"/>
                    <a:gd name="csX4" fmla="*/ 229553 w 553402"/>
                    <a:gd name="csY4" fmla="*/ 169545 h 324802"/>
                    <a:gd name="csX5" fmla="*/ 172403 w 553402"/>
                    <a:gd name="csY5" fmla="*/ 112395 h 324802"/>
                    <a:gd name="csX6" fmla="*/ 0 w 553402"/>
                    <a:gd name="csY6" fmla="*/ 284798 h 324802"/>
                    <a:gd name="csX7" fmla="*/ 40005 w 553402"/>
                    <a:gd name="csY7" fmla="*/ 324803 h 324802"/>
                    <a:gd name="csX8" fmla="*/ 172403 w 553402"/>
                    <a:gd name="csY8" fmla="*/ 192405 h 324802"/>
                    <a:gd name="csX9" fmla="*/ 229553 w 553402"/>
                    <a:gd name="csY9" fmla="*/ 249555 h 324802"/>
                    <a:gd name="csX10" fmla="*/ 324803 w 553402"/>
                    <a:gd name="csY10" fmla="*/ 154305 h 324802"/>
                    <a:gd name="csX11" fmla="*/ 381953 w 553402"/>
                    <a:gd name="csY11" fmla="*/ 211455 h 324802"/>
                    <a:gd name="csX12" fmla="*/ 497205 w 553402"/>
                    <a:gd name="csY12" fmla="*/ 96202 h 324802"/>
                    <a:gd name="csX13" fmla="*/ 553403 w 553402"/>
                    <a:gd name="csY13" fmla="*/ 152400 h 324802"/>
                    <a:gd name="csX14" fmla="*/ 553403 w 553402"/>
                    <a:gd name="csY14" fmla="*/ 0 h 32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553402" h="324802">
                      <a:moveTo>
                        <a:pt x="401003" y="0"/>
                      </a:moveTo>
                      <a:lnTo>
                        <a:pt x="457200" y="56198"/>
                      </a:lnTo>
                      <a:lnTo>
                        <a:pt x="381953" y="131445"/>
                      </a:lnTo>
                      <a:lnTo>
                        <a:pt x="324803" y="74295"/>
                      </a:lnTo>
                      <a:lnTo>
                        <a:pt x="229553" y="169545"/>
                      </a:lnTo>
                      <a:lnTo>
                        <a:pt x="172403" y="112395"/>
                      </a:lnTo>
                      <a:lnTo>
                        <a:pt x="0" y="284798"/>
                      </a:lnTo>
                      <a:lnTo>
                        <a:pt x="40005" y="324803"/>
                      </a:lnTo>
                      <a:lnTo>
                        <a:pt x="172403" y="192405"/>
                      </a:lnTo>
                      <a:lnTo>
                        <a:pt x="229553" y="249555"/>
                      </a:lnTo>
                      <a:lnTo>
                        <a:pt x="324803" y="154305"/>
                      </a:lnTo>
                      <a:lnTo>
                        <a:pt x="381953" y="211455"/>
                      </a:lnTo>
                      <a:lnTo>
                        <a:pt x="497205" y="96202"/>
                      </a:lnTo>
                      <a:lnTo>
                        <a:pt x="553403" y="152400"/>
                      </a:lnTo>
                      <a:lnTo>
                        <a:pt x="553403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1CEDDA8-9578-F23B-0A6D-04E0CC2BC0C9}"/>
                    </a:ext>
                  </a:extLst>
                </p:cNvPr>
                <p:cNvSpPr txBox="1"/>
                <p:nvPr/>
              </p:nvSpPr>
              <p:spPr>
                <a:xfrm>
                  <a:off x="1417319" y="3193869"/>
                  <a:ext cx="1038497" cy="385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/>
                      </a:solidFill>
                    </a:rPr>
                    <a:t>+0.9%</a:t>
                  </a:r>
                  <a:endParaRPr lang="ko-KR" altLang="en-US" sz="14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513C2341-5C9C-CC34-150E-86ADF701B7E4}"/>
                </a:ext>
              </a:extLst>
            </p:cNvPr>
            <p:cNvGrpSpPr/>
            <p:nvPr/>
          </p:nvGrpSpPr>
          <p:grpSpPr>
            <a:xfrm>
              <a:off x="2954234" y="979714"/>
              <a:ext cx="2538695" cy="1665511"/>
              <a:chOff x="2954234" y="979714"/>
              <a:chExt cx="2538695" cy="1665511"/>
            </a:xfrm>
          </p:grpSpPr>
          <p:sp>
            <p:nvSpPr>
              <p:cNvPr id="97" name="사각형: 둥근 모서리 96">
                <a:extLst>
                  <a:ext uri="{FF2B5EF4-FFF2-40B4-BE49-F238E27FC236}">
                    <a16:creationId xmlns:a16="http://schemas.microsoft.com/office/drawing/2014/main" id="{57DBB132-8D53-7107-BA13-A445018068A8}"/>
                  </a:ext>
                </a:extLst>
              </p:cNvPr>
              <p:cNvSpPr/>
              <p:nvPr/>
            </p:nvSpPr>
            <p:spPr>
              <a:xfrm>
                <a:off x="2954234" y="979714"/>
                <a:ext cx="2538695" cy="166551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이번 달 예상 수확량</a:t>
                </a:r>
                <a:endParaRPr lang="en-US" altLang="ko-KR" sz="1400" dirty="0"/>
              </a:p>
              <a:p>
                <a:pPr algn="ctr"/>
                <a:endParaRPr lang="en-US" altLang="ko-KR" sz="1400" dirty="0"/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1,820 kg</a:t>
                </a:r>
              </a:p>
              <a:p>
                <a:pPr algn="ctr"/>
                <a:endParaRPr lang="ko-KR" altLang="en-US" sz="1400" dirty="0"/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E41549D5-8D39-AEDA-BB83-52632552B3AB}"/>
                  </a:ext>
                </a:extLst>
              </p:cNvPr>
              <p:cNvGrpSpPr/>
              <p:nvPr/>
            </p:nvGrpSpPr>
            <p:grpSpPr>
              <a:xfrm>
                <a:off x="3754685" y="2191320"/>
                <a:ext cx="1390016" cy="385455"/>
                <a:chOff x="1175964" y="3193869"/>
                <a:chExt cx="1390016" cy="385455"/>
              </a:xfrm>
            </p:grpSpPr>
            <p:sp>
              <p:nvSpPr>
                <p:cNvPr id="99" name="자유형: 도형 98">
                  <a:extLst>
                    <a:ext uri="{FF2B5EF4-FFF2-40B4-BE49-F238E27FC236}">
                      <a16:creationId xmlns:a16="http://schemas.microsoft.com/office/drawing/2014/main" id="{3CB68A7F-BF23-4DA6-4AE5-266A4825439A}"/>
                    </a:ext>
                  </a:extLst>
                </p:cNvPr>
                <p:cNvSpPr/>
                <p:nvPr/>
              </p:nvSpPr>
              <p:spPr>
                <a:xfrm>
                  <a:off x="1175964" y="3297318"/>
                  <a:ext cx="386838" cy="261826"/>
                </a:xfrm>
                <a:custGeom>
                  <a:avLst/>
                  <a:gdLst>
                    <a:gd name="csX0" fmla="*/ 401003 w 553402"/>
                    <a:gd name="csY0" fmla="*/ 0 h 324802"/>
                    <a:gd name="csX1" fmla="*/ 457200 w 553402"/>
                    <a:gd name="csY1" fmla="*/ 56198 h 324802"/>
                    <a:gd name="csX2" fmla="*/ 381953 w 553402"/>
                    <a:gd name="csY2" fmla="*/ 131445 h 324802"/>
                    <a:gd name="csX3" fmla="*/ 324803 w 553402"/>
                    <a:gd name="csY3" fmla="*/ 74295 h 324802"/>
                    <a:gd name="csX4" fmla="*/ 229553 w 553402"/>
                    <a:gd name="csY4" fmla="*/ 169545 h 324802"/>
                    <a:gd name="csX5" fmla="*/ 172403 w 553402"/>
                    <a:gd name="csY5" fmla="*/ 112395 h 324802"/>
                    <a:gd name="csX6" fmla="*/ 0 w 553402"/>
                    <a:gd name="csY6" fmla="*/ 284798 h 324802"/>
                    <a:gd name="csX7" fmla="*/ 40005 w 553402"/>
                    <a:gd name="csY7" fmla="*/ 324803 h 324802"/>
                    <a:gd name="csX8" fmla="*/ 172403 w 553402"/>
                    <a:gd name="csY8" fmla="*/ 192405 h 324802"/>
                    <a:gd name="csX9" fmla="*/ 229553 w 553402"/>
                    <a:gd name="csY9" fmla="*/ 249555 h 324802"/>
                    <a:gd name="csX10" fmla="*/ 324803 w 553402"/>
                    <a:gd name="csY10" fmla="*/ 154305 h 324802"/>
                    <a:gd name="csX11" fmla="*/ 381953 w 553402"/>
                    <a:gd name="csY11" fmla="*/ 211455 h 324802"/>
                    <a:gd name="csX12" fmla="*/ 497205 w 553402"/>
                    <a:gd name="csY12" fmla="*/ 96202 h 324802"/>
                    <a:gd name="csX13" fmla="*/ 553403 w 553402"/>
                    <a:gd name="csY13" fmla="*/ 152400 h 324802"/>
                    <a:gd name="csX14" fmla="*/ 553403 w 553402"/>
                    <a:gd name="csY14" fmla="*/ 0 h 32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553402" h="324802">
                      <a:moveTo>
                        <a:pt x="401003" y="0"/>
                      </a:moveTo>
                      <a:lnTo>
                        <a:pt x="457200" y="56198"/>
                      </a:lnTo>
                      <a:lnTo>
                        <a:pt x="381953" y="131445"/>
                      </a:lnTo>
                      <a:lnTo>
                        <a:pt x="324803" y="74295"/>
                      </a:lnTo>
                      <a:lnTo>
                        <a:pt x="229553" y="169545"/>
                      </a:lnTo>
                      <a:lnTo>
                        <a:pt x="172403" y="112395"/>
                      </a:lnTo>
                      <a:lnTo>
                        <a:pt x="0" y="284798"/>
                      </a:lnTo>
                      <a:lnTo>
                        <a:pt x="40005" y="324803"/>
                      </a:lnTo>
                      <a:lnTo>
                        <a:pt x="172403" y="192405"/>
                      </a:lnTo>
                      <a:lnTo>
                        <a:pt x="229553" y="249555"/>
                      </a:lnTo>
                      <a:lnTo>
                        <a:pt x="324803" y="154305"/>
                      </a:lnTo>
                      <a:lnTo>
                        <a:pt x="381953" y="211455"/>
                      </a:lnTo>
                      <a:lnTo>
                        <a:pt x="497205" y="96202"/>
                      </a:lnTo>
                      <a:lnTo>
                        <a:pt x="553403" y="152400"/>
                      </a:lnTo>
                      <a:lnTo>
                        <a:pt x="553403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FA8FAA9-8DE1-3691-B36E-9D29D224397B}"/>
                    </a:ext>
                  </a:extLst>
                </p:cNvPr>
                <p:cNvSpPr txBox="1"/>
                <p:nvPr/>
              </p:nvSpPr>
              <p:spPr>
                <a:xfrm>
                  <a:off x="1527483" y="3193869"/>
                  <a:ext cx="1038497" cy="385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/>
                      </a:solidFill>
                    </a:rPr>
                    <a:t>+5.2%</a:t>
                  </a:r>
                  <a:endParaRPr lang="ko-KR" altLang="en-US" sz="14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10B0EB29-66A6-9558-6C8B-B7BA0A1F211A}"/>
                </a:ext>
              </a:extLst>
            </p:cNvPr>
            <p:cNvGrpSpPr/>
            <p:nvPr/>
          </p:nvGrpSpPr>
          <p:grpSpPr>
            <a:xfrm>
              <a:off x="5809129" y="979714"/>
              <a:ext cx="3086677" cy="1665511"/>
              <a:chOff x="5809129" y="979714"/>
              <a:chExt cx="3086677" cy="1665511"/>
            </a:xfrm>
          </p:grpSpPr>
          <p:sp>
            <p:nvSpPr>
              <p:cNvPr id="101" name="사각형: 둥근 모서리 100">
                <a:extLst>
                  <a:ext uri="{FF2B5EF4-FFF2-40B4-BE49-F238E27FC236}">
                    <a16:creationId xmlns:a16="http://schemas.microsoft.com/office/drawing/2014/main" id="{0FC762A9-518B-AD8B-3A6D-8D16FF0BC119}"/>
                  </a:ext>
                </a:extLst>
              </p:cNvPr>
              <p:cNvSpPr/>
              <p:nvPr/>
            </p:nvSpPr>
            <p:spPr>
              <a:xfrm>
                <a:off x="5809129" y="979714"/>
                <a:ext cx="3086677" cy="166551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이번 달 예상 매출</a:t>
                </a:r>
                <a:endParaRPr lang="en-US" altLang="ko-KR" sz="1400" dirty="0"/>
              </a:p>
              <a:p>
                <a:pPr algn="ctr"/>
                <a:endParaRPr lang="en-US" altLang="ko-KR" sz="1400" dirty="0"/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19,110,000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원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algn="ctr"/>
                <a:endParaRPr lang="ko-KR" altLang="en-US" sz="1400" dirty="0"/>
              </a:p>
            </p:txBody>
          </p: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4D57E306-CDDA-6A1F-0348-7B30AD923914}"/>
                  </a:ext>
                </a:extLst>
              </p:cNvPr>
              <p:cNvGrpSpPr/>
              <p:nvPr/>
            </p:nvGrpSpPr>
            <p:grpSpPr>
              <a:xfrm>
                <a:off x="6694023" y="2196997"/>
                <a:ext cx="1402091" cy="385455"/>
                <a:chOff x="1167178" y="3199546"/>
                <a:chExt cx="1402091" cy="385455"/>
              </a:xfrm>
            </p:grpSpPr>
            <p:sp>
              <p:nvSpPr>
                <p:cNvPr id="103" name="자유형: 도형 102">
                  <a:extLst>
                    <a:ext uri="{FF2B5EF4-FFF2-40B4-BE49-F238E27FC236}">
                      <a16:creationId xmlns:a16="http://schemas.microsoft.com/office/drawing/2014/main" id="{8D681999-20C2-AB09-46E9-3176619DE987}"/>
                    </a:ext>
                  </a:extLst>
                </p:cNvPr>
                <p:cNvSpPr/>
                <p:nvPr/>
              </p:nvSpPr>
              <p:spPr>
                <a:xfrm>
                  <a:off x="1167178" y="3302995"/>
                  <a:ext cx="386838" cy="261826"/>
                </a:xfrm>
                <a:custGeom>
                  <a:avLst/>
                  <a:gdLst>
                    <a:gd name="csX0" fmla="*/ 401003 w 553402"/>
                    <a:gd name="csY0" fmla="*/ 0 h 324802"/>
                    <a:gd name="csX1" fmla="*/ 457200 w 553402"/>
                    <a:gd name="csY1" fmla="*/ 56198 h 324802"/>
                    <a:gd name="csX2" fmla="*/ 381953 w 553402"/>
                    <a:gd name="csY2" fmla="*/ 131445 h 324802"/>
                    <a:gd name="csX3" fmla="*/ 324803 w 553402"/>
                    <a:gd name="csY3" fmla="*/ 74295 h 324802"/>
                    <a:gd name="csX4" fmla="*/ 229553 w 553402"/>
                    <a:gd name="csY4" fmla="*/ 169545 h 324802"/>
                    <a:gd name="csX5" fmla="*/ 172403 w 553402"/>
                    <a:gd name="csY5" fmla="*/ 112395 h 324802"/>
                    <a:gd name="csX6" fmla="*/ 0 w 553402"/>
                    <a:gd name="csY6" fmla="*/ 284798 h 324802"/>
                    <a:gd name="csX7" fmla="*/ 40005 w 553402"/>
                    <a:gd name="csY7" fmla="*/ 324803 h 324802"/>
                    <a:gd name="csX8" fmla="*/ 172403 w 553402"/>
                    <a:gd name="csY8" fmla="*/ 192405 h 324802"/>
                    <a:gd name="csX9" fmla="*/ 229553 w 553402"/>
                    <a:gd name="csY9" fmla="*/ 249555 h 324802"/>
                    <a:gd name="csX10" fmla="*/ 324803 w 553402"/>
                    <a:gd name="csY10" fmla="*/ 154305 h 324802"/>
                    <a:gd name="csX11" fmla="*/ 381953 w 553402"/>
                    <a:gd name="csY11" fmla="*/ 211455 h 324802"/>
                    <a:gd name="csX12" fmla="*/ 497205 w 553402"/>
                    <a:gd name="csY12" fmla="*/ 96202 h 324802"/>
                    <a:gd name="csX13" fmla="*/ 553403 w 553402"/>
                    <a:gd name="csY13" fmla="*/ 152400 h 324802"/>
                    <a:gd name="csX14" fmla="*/ 553403 w 553402"/>
                    <a:gd name="csY14" fmla="*/ 0 h 32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553402" h="324802">
                      <a:moveTo>
                        <a:pt x="401003" y="0"/>
                      </a:moveTo>
                      <a:lnTo>
                        <a:pt x="457200" y="56198"/>
                      </a:lnTo>
                      <a:lnTo>
                        <a:pt x="381953" y="131445"/>
                      </a:lnTo>
                      <a:lnTo>
                        <a:pt x="324803" y="74295"/>
                      </a:lnTo>
                      <a:lnTo>
                        <a:pt x="229553" y="169545"/>
                      </a:lnTo>
                      <a:lnTo>
                        <a:pt x="172403" y="112395"/>
                      </a:lnTo>
                      <a:lnTo>
                        <a:pt x="0" y="284798"/>
                      </a:lnTo>
                      <a:lnTo>
                        <a:pt x="40005" y="324803"/>
                      </a:lnTo>
                      <a:lnTo>
                        <a:pt x="172403" y="192405"/>
                      </a:lnTo>
                      <a:lnTo>
                        <a:pt x="229553" y="249555"/>
                      </a:lnTo>
                      <a:lnTo>
                        <a:pt x="324803" y="154305"/>
                      </a:lnTo>
                      <a:lnTo>
                        <a:pt x="381953" y="211455"/>
                      </a:lnTo>
                      <a:lnTo>
                        <a:pt x="497205" y="96202"/>
                      </a:lnTo>
                      <a:lnTo>
                        <a:pt x="553403" y="152400"/>
                      </a:lnTo>
                      <a:lnTo>
                        <a:pt x="553403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439407D-1350-52E0-6C6B-2F6C27CF0299}"/>
                    </a:ext>
                  </a:extLst>
                </p:cNvPr>
                <p:cNvSpPr txBox="1"/>
                <p:nvPr/>
              </p:nvSpPr>
              <p:spPr>
                <a:xfrm>
                  <a:off x="1530772" y="3199546"/>
                  <a:ext cx="1038497" cy="385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/>
                      </a:solidFill>
                    </a:rPr>
                    <a:t>+6.1%</a:t>
                  </a:r>
                  <a:endParaRPr lang="ko-KR" altLang="en-US" sz="14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20F578D-AD1D-B58C-DE3C-5CE7A32F1ACC}"/>
              </a:ext>
            </a:extLst>
          </p:cNvPr>
          <p:cNvSpPr/>
          <p:nvPr/>
        </p:nvSpPr>
        <p:spPr>
          <a:xfrm>
            <a:off x="208669" y="96399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A91431A-06B1-DDD0-4953-DC35DCD0D50E}"/>
              </a:ext>
            </a:extLst>
          </p:cNvPr>
          <p:cNvSpPr/>
          <p:nvPr/>
        </p:nvSpPr>
        <p:spPr>
          <a:xfrm>
            <a:off x="2890602" y="97971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F0307F4-2AD4-F30D-6D79-2DA889043832}"/>
              </a:ext>
            </a:extLst>
          </p:cNvPr>
          <p:cNvSpPr/>
          <p:nvPr/>
        </p:nvSpPr>
        <p:spPr>
          <a:xfrm>
            <a:off x="5810699" y="97971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776354A-7FFD-AA71-8BAA-7A2D3A97A388}"/>
              </a:ext>
            </a:extLst>
          </p:cNvPr>
          <p:cNvSpPr/>
          <p:nvPr/>
        </p:nvSpPr>
        <p:spPr>
          <a:xfrm>
            <a:off x="278715" y="213093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6D4FC2B7-21B4-64C5-8816-AD0F6C57F0A5}"/>
              </a:ext>
            </a:extLst>
          </p:cNvPr>
          <p:cNvSpPr/>
          <p:nvPr/>
        </p:nvSpPr>
        <p:spPr>
          <a:xfrm>
            <a:off x="90667" y="4533960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A1CCD845-BDE8-4BC0-8993-A9EA41E7ADED}"/>
              </a:ext>
            </a:extLst>
          </p:cNvPr>
          <p:cNvSpPr/>
          <p:nvPr/>
        </p:nvSpPr>
        <p:spPr>
          <a:xfrm>
            <a:off x="5005781" y="214990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62472CE-FA62-ECD9-CE78-CC950E4BB805}"/>
              </a:ext>
            </a:extLst>
          </p:cNvPr>
          <p:cNvSpPr txBox="1"/>
          <p:nvPr/>
        </p:nvSpPr>
        <p:spPr>
          <a:xfrm>
            <a:off x="347872" y="4731906"/>
            <a:ext cx="136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재배 현황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BE4B594-617B-650B-6917-422A66DBC3C2}"/>
              </a:ext>
            </a:extLst>
          </p:cNvPr>
          <p:cNvSpPr txBox="1"/>
          <p:nvPr/>
        </p:nvSpPr>
        <p:spPr>
          <a:xfrm>
            <a:off x="523947" y="5170098"/>
            <a:ext cx="1718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en-US" altLang="ko-KR" dirty="0"/>
              <a:t>(A</a:t>
            </a:r>
            <a:r>
              <a:rPr lang="ko-KR" altLang="en-US" dirty="0"/>
              <a:t>동</a:t>
            </a:r>
            <a:r>
              <a:rPr lang="en-US" altLang="ko-KR" dirty="0"/>
              <a:t>)</a:t>
            </a:r>
          </a:p>
          <a:p>
            <a:r>
              <a:rPr lang="ko-KR" altLang="en-US" sz="1400" dirty="0" err="1"/>
              <a:t>재배중</a:t>
            </a:r>
            <a:endParaRPr lang="ko-KR" altLang="en-US" sz="1200" dirty="0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6FAF82AA-CA51-9C1B-64C5-5988B8D0BEA9}"/>
              </a:ext>
            </a:extLst>
          </p:cNvPr>
          <p:cNvCxnSpPr/>
          <p:nvPr/>
        </p:nvCxnSpPr>
        <p:spPr>
          <a:xfrm>
            <a:off x="593719" y="5809424"/>
            <a:ext cx="8033311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89F6686-981C-739D-AFBD-CC283968437E}"/>
              </a:ext>
            </a:extLst>
          </p:cNvPr>
          <p:cNvGrpSpPr/>
          <p:nvPr/>
        </p:nvGrpSpPr>
        <p:grpSpPr>
          <a:xfrm>
            <a:off x="508786" y="5878285"/>
            <a:ext cx="1662618" cy="717250"/>
            <a:chOff x="508786" y="5878285"/>
            <a:chExt cx="1662618" cy="717250"/>
          </a:xfrm>
        </p:grpSpPr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FEE19039-A02C-F89D-2FB6-AC1E8E4B7BD0}"/>
                </a:ext>
              </a:extLst>
            </p:cNvPr>
            <p:cNvGrpSpPr/>
            <p:nvPr/>
          </p:nvGrpSpPr>
          <p:grpSpPr>
            <a:xfrm>
              <a:off x="568328" y="5878285"/>
              <a:ext cx="1603076" cy="295496"/>
              <a:chOff x="790426" y="5968144"/>
              <a:chExt cx="2271260" cy="449215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CB07ABE-B5D1-EB16-D2CE-3E2D1EABE63D}"/>
                  </a:ext>
                </a:extLst>
              </p:cNvPr>
              <p:cNvSpPr txBox="1"/>
              <p:nvPr/>
            </p:nvSpPr>
            <p:spPr>
              <a:xfrm>
                <a:off x="1179378" y="5996263"/>
                <a:ext cx="1882308" cy="42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예상 출하일</a:t>
                </a:r>
              </a:p>
            </p:txBody>
          </p:sp>
          <p:pic>
            <p:nvPicPr>
              <p:cNvPr id="130" name="그래픽 129" descr="일일 일정표 단색으로 채워진">
                <a:extLst>
                  <a:ext uri="{FF2B5EF4-FFF2-40B4-BE49-F238E27FC236}">
                    <a16:creationId xmlns:a16="http://schemas.microsoft.com/office/drawing/2014/main" id="{DA69F7D3-70E3-FF45-F4A5-C48C9ACD3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90426" y="5968144"/>
                <a:ext cx="449215" cy="449215"/>
              </a:xfrm>
              <a:prstGeom prst="rect">
                <a:avLst/>
              </a:prstGeom>
            </p:spPr>
          </p:pic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5241E05-6E1F-8687-E458-2031FB95998C}"/>
                </a:ext>
              </a:extLst>
            </p:cNvPr>
            <p:cNvSpPr txBox="1"/>
            <p:nvPr/>
          </p:nvSpPr>
          <p:spPr>
            <a:xfrm>
              <a:off x="508786" y="6133870"/>
              <a:ext cx="1281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2026-04-07</a:t>
              </a:r>
            </a:p>
            <a:p>
              <a:r>
                <a:rPr lang="en-US" altLang="ko-KR" sz="1200" dirty="0"/>
                <a:t>25</a:t>
              </a:r>
              <a:r>
                <a:rPr lang="ko-KR" altLang="en-US" sz="1200" dirty="0"/>
                <a:t>일 남음</a:t>
              </a: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3EDC01EE-5767-C2F5-54C0-F984EE079C83}"/>
              </a:ext>
            </a:extLst>
          </p:cNvPr>
          <p:cNvGrpSpPr/>
          <p:nvPr/>
        </p:nvGrpSpPr>
        <p:grpSpPr>
          <a:xfrm>
            <a:off x="3247634" y="5902704"/>
            <a:ext cx="1662618" cy="532584"/>
            <a:chOff x="508786" y="5878285"/>
            <a:chExt cx="1662618" cy="532584"/>
          </a:xfrm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C4249500-23D5-1A52-37A8-2D3F5C63F025}"/>
                </a:ext>
              </a:extLst>
            </p:cNvPr>
            <p:cNvGrpSpPr/>
            <p:nvPr/>
          </p:nvGrpSpPr>
          <p:grpSpPr>
            <a:xfrm>
              <a:off x="579110" y="5878285"/>
              <a:ext cx="1592294" cy="295496"/>
              <a:chOff x="805702" y="5968144"/>
              <a:chExt cx="2255984" cy="449215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277F70B-77C2-E1BF-DAFE-9DDFC62802D6}"/>
                  </a:ext>
                </a:extLst>
              </p:cNvPr>
              <p:cNvSpPr txBox="1"/>
              <p:nvPr/>
            </p:nvSpPr>
            <p:spPr>
              <a:xfrm>
                <a:off x="1179378" y="5996263"/>
                <a:ext cx="1882308" cy="42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예상 출하량</a:t>
                </a:r>
              </a:p>
            </p:txBody>
          </p:sp>
          <p:pic>
            <p:nvPicPr>
              <p:cNvPr id="138" name="그래픽 137" descr="쇼핑 카트 단색으로 채워진">
                <a:extLst>
                  <a:ext uri="{FF2B5EF4-FFF2-40B4-BE49-F238E27FC236}">
                    <a16:creationId xmlns:a16="http://schemas.microsoft.com/office/drawing/2014/main" id="{537AFF30-2856-67F6-4316-37E18A8C9A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805702" y="5968144"/>
                <a:ext cx="418663" cy="449215"/>
              </a:xfrm>
              <a:prstGeom prst="rect">
                <a:avLst/>
              </a:prstGeom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FCD9ACA-91EB-EC35-742D-2140B1D6C369}"/>
                </a:ext>
              </a:extLst>
            </p:cNvPr>
            <p:cNvSpPr txBox="1"/>
            <p:nvPr/>
          </p:nvSpPr>
          <p:spPr>
            <a:xfrm>
              <a:off x="508786" y="6133870"/>
              <a:ext cx="12814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580kg</a:t>
              </a:r>
              <a:endParaRPr lang="ko-KR" altLang="en-US" sz="1200" dirty="0"/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C8B7FB24-E03F-419B-16B7-9A1BE53F23C8}"/>
              </a:ext>
            </a:extLst>
          </p:cNvPr>
          <p:cNvGrpSpPr/>
          <p:nvPr/>
        </p:nvGrpSpPr>
        <p:grpSpPr>
          <a:xfrm>
            <a:off x="5865962" y="5878285"/>
            <a:ext cx="1605785" cy="540696"/>
            <a:chOff x="565619" y="5878285"/>
            <a:chExt cx="1605785" cy="540696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912F004D-3D22-D2D6-6C75-D2BC2EDDAF08}"/>
                </a:ext>
              </a:extLst>
            </p:cNvPr>
            <p:cNvGrpSpPr/>
            <p:nvPr/>
          </p:nvGrpSpPr>
          <p:grpSpPr>
            <a:xfrm>
              <a:off x="579110" y="5878285"/>
              <a:ext cx="1592294" cy="295496"/>
              <a:chOff x="805702" y="5968144"/>
              <a:chExt cx="2255984" cy="449215"/>
            </a:xfrm>
          </p:grpSpPr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950405C-15A5-E131-2BC8-CE48946E03AA}"/>
                  </a:ext>
                </a:extLst>
              </p:cNvPr>
              <p:cNvSpPr txBox="1"/>
              <p:nvPr/>
            </p:nvSpPr>
            <p:spPr>
              <a:xfrm>
                <a:off x="1179378" y="5996263"/>
                <a:ext cx="1882308" cy="42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예상 수익</a:t>
                </a:r>
              </a:p>
            </p:txBody>
          </p:sp>
          <p:pic>
            <p:nvPicPr>
              <p:cNvPr id="143" name="그래픽 142" descr="달러 단색으로 채워진">
                <a:extLst>
                  <a:ext uri="{FF2B5EF4-FFF2-40B4-BE49-F238E27FC236}">
                    <a16:creationId xmlns:a16="http://schemas.microsoft.com/office/drawing/2014/main" id="{C1319987-4B8F-A194-23E0-1148375335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805702" y="5968144"/>
                <a:ext cx="418663" cy="449215"/>
              </a:xfrm>
              <a:prstGeom prst="rect">
                <a:avLst/>
              </a:prstGeom>
            </p:spPr>
          </p:pic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504C490-C4EE-252D-5343-FA24BD2FDA01}"/>
                </a:ext>
              </a:extLst>
            </p:cNvPr>
            <p:cNvSpPr txBox="1"/>
            <p:nvPr/>
          </p:nvSpPr>
          <p:spPr>
            <a:xfrm>
              <a:off x="565619" y="6141982"/>
              <a:ext cx="12814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6,090,000</a:t>
              </a:r>
              <a:r>
                <a:rPr lang="ko-KR" altLang="en-US" sz="1200" b="1" dirty="0"/>
                <a:t>원</a:t>
              </a:r>
              <a:endParaRPr lang="ko-KR" altLang="en-US" sz="1200" dirty="0"/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6229F1C8-9431-6F84-3219-6275E698DE9A}"/>
              </a:ext>
            </a:extLst>
          </p:cNvPr>
          <p:cNvSpPr/>
          <p:nvPr/>
        </p:nvSpPr>
        <p:spPr>
          <a:xfrm>
            <a:off x="6694023" y="5264331"/>
            <a:ext cx="1933005" cy="3872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조기 출하 권장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D02F9EC5-AE92-FDC6-9207-9E67C8849E8A}"/>
              </a:ext>
            </a:extLst>
          </p:cNvPr>
          <p:cNvSpPr/>
          <p:nvPr/>
        </p:nvSpPr>
        <p:spPr>
          <a:xfrm>
            <a:off x="142669" y="5242738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B70F15A-A2F7-5625-2E28-DDD84184EC72}"/>
              </a:ext>
            </a:extLst>
          </p:cNvPr>
          <p:cNvSpPr/>
          <p:nvPr/>
        </p:nvSpPr>
        <p:spPr>
          <a:xfrm>
            <a:off x="154594" y="5846529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12</a:t>
            </a:r>
            <a:endParaRPr lang="ko-KR" altLang="en-US" sz="1600" dirty="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538D4F08-0229-46ED-9ECA-9F886380B679}"/>
              </a:ext>
            </a:extLst>
          </p:cNvPr>
          <p:cNvSpPr/>
          <p:nvPr/>
        </p:nvSpPr>
        <p:spPr>
          <a:xfrm>
            <a:off x="2841471" y="5906170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13</a:t>
            </a:r>
            <a:endParaRPr lang="ko-KR" altLang="en-US" sz="1600" dirty="0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89AA2E0B-0AA8-A74E-3187-5DF3FC555961}"/>
              </a:ext>
            </a:extLst>
          </p:cNvPr>
          <p:cNvSpPr/>
          <p:nvPr/>
        </p:nvSpPr>
        <p:spPr>
          <a:xfrm>
            <a:off x="5427827" y="5913298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14</a:t>
            </a:r>
            <a:endParaRPr lang="ko-KR" altLang="en-US" sz="1600" dirty="0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D49A0604-03B8-221B-8260-0E3FF37A2069}"/>
              </a:ext>
            </a:extLst>
          </p:cNvPr>
          <p:cNvSpPr/>
          <p:nvPr/>
        </p:nvSpPr>
        <p:spPr>
          <a:xfrm>
            <a:off x="6338359" y="5130004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15</a:t>
            </a:r>
            <a:endParaRPr lang="ko-KR" altLang="en-US" sz="1600" dirty="0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E5045E65-9425-F3B4-3126-041E60A02DA0}"/>
              </a:ext>
            </a:extLst>
          </p:cNvPr>
          <p:cNvSpPr/>
          <p:nvPr/>
        </p:nvSpPr>
        <p:spPr>
          <a:xfrm>
            <a:off x="318832" y="262020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8036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31AFC-51D2-32B6-4F95-D052D742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863D1F6-69AE-1F96-ABDC-6B4C9758616E}"/>
              </a:ext>
            </a:extLst>
          </p:cNvPr>
          <p:cNvCxnSpPr>
            <a:cxnSpLocks/>
          </p:cNvCxnSpPr>
          <p:nvPr/>
        </p:nvCxnSpPr>
        <p:spPr>
          <a:xfrm>
            <a:off x="293914" y="689004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091713-9F84-8785-E5CC-C72AC5B4E3AD}"/>
              </a:ext>
            </a:extLst>
          </p:cNvPr>
          <p:cNvSpPr txBox="1"/>
          <p:nvPr/>
        </p:nvSpPr>
        <p:spPr>
          <a:xfrm>
            <a:off x="874648" y="177802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ko-KR" altLang="en-US" dirty="0" err="1"/>
              <a:t>스마트팜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31AE896-3151-0D49-5426-632BD7708A22}"/>
              </a:ext>
            </a:extLst>
          </p:cNvPr>
          <p:cNvGrpSpPr/>
          <p:nvPr/>
        </p:nvGrpSpPr>
        <p:grpSpPr>
          <a:xfrm>
            <a:off x="2954235" y="199611"/>
            <a:ext cx="3819754" cy="307777"/>
            <a:chOff x="4065917" y="301284"/>
            <a:chExt cx="3819754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8956E9-B91E-89EB-82B6-B2941FF275C7}"/>
                </a:ext>
              </a:extLst>
            </p:cNvPr>
            <p:cNvSpPr txBox="1"/>
            <p:nvPr/>
          </p:nvSpPr>
          <p:spPr>
            <a:xfrm>
              <a:off x="5316748" y="301284"/>
              <a:ext cx="1391728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데이터분석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5B24BD-F21C-FECC-2E7B-F5F57224CA71}"/>
                </a:ext>
              </a:extLst>
            </p:cNvPr>
            <p:cNvSpPr txBox="1"/>
            <p:nvPr/>
          </p:nvSpPr>
          <p:spPr>
            <a:xfrm>
              <a:off x="6493943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가격 예측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1AA00F-0433-58A9-8776-ECC53F9D64C9}"/>
                </a:ext>
              </a:extLst>
            </p:cNvPr>
            <p:cNvSpPr txBox="1"/>
            <p:nvPr/>
          </p:nvSpPr>
          <p:spPr>
            <a:xfrm>
              <a:off x="4065917" y="301284"/>
              <a:ext cx="139172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대시보드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0D20EF2-00E6-5D82-80F9-3E088E464FC6}"/>
              </a:ext>
            </a:extLst>
          </p:cNvPr>
          <p:cNvSpPr/>
          <p:nvPr/>
        </p:nvSpPr>
        <p:spPr>
          <a:xfrm>
            <a:off x="8176402" y="193591"/>
            <a:ext cx="901257" cy="34633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로그아웃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5C7C1F5-5EC8-FA0E-EA54-8F7B9CDE7E48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64E8977-9FCC-FEAA-D240-122AC750E58D}"/>
              </a:ext>
            </a:extLst>
          </p:cNvPr>
          <p:cNvSpPr/>
          <p:nvPr/>
        </p:nvSpPr>
        <p:spPr>
          <a:xfrm>
            <a:off x="241663" y="91389"/>
            <a:ext cx="653330" cy="5421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68BA560-6885-C385-F04E-A08808872F9D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2B4AE6-56E0-85BF-7DEA-199D9E1FF99D}"/>
              </a:ext>
            </a:extLst>
          </p:cNvPr>
          <p:cNvSpPr txBox="1"/>
          <p:nvPr/>
        </p:nvSpPr>
        <p:spPr>
          <a:xfrm>
            <a:off x="9285828" y="175384"/>
            <a:ext cx="2805020" cy="647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DataAnalysis.html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 분석 서비스에 대한 간략한 설명을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버튼을 누르면 </a:t>
            </a:r>
            <a:r>
              <a:rPr lang="en-US" altLang="ko-KR" sz="1200" dirty="0"/>
              <a:t>10</a:t>
            </a:r>
            <a:r>
              <a:rPr lang="ko-KR" altLang="en-US" sz="1200" dirty="0" err="1"/>
              <a:t>번쪽으로</a:t>
            </a:r>
            <a:r>
              <a:rPr lang="ko-KR" altLang="en-US" sz="1200" dirty="0"/>
              <a:t> 화면이 이동한다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데이터를 넣지 않았을 때에는 일반적인 환경을 기준으로 추천한다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데이터를 넣었을 때에는 </a:t>
            </a:r>
            <a:r>
              <a:rPr lang="en-US" altLang="ko-KR" sz="1200" dirty="0"/>
              <a:t>‘</a:t>
            </a:r>
            <a:r>
              <a:rPr lang="ko-KR" altLang="en-US" sz="1200" dirty="0"/>
              <a:t>맞춤</a:t>
            </a:r>
            <a:r>
              <a:rPr lang="en-US" altLang="ko-KR" sz="1200" dirty="0"/>
              <a:t>‘</a:t>
            </a:r>
            <a:r>
              <a:rPr lang="ko-KR" altLang="en-US" sz="1200" dirty="0"/>
              <a:t>탭이 회색으로 변한다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각 재배환경에 대한 현재 상태를 보여주고</a:t>
            </a:r>
            <a:r>
              <a:rPr lang="en-US" altLang="ko-KR" sz="1200" dirty="0"/>
              <a:t>, </a:t>
            </a:r>
            <a:r>
              <a:rPr lang="ko-KR" altLang="en-US" sz="1200" dirty="0"/>
              <a:t>적절한 </a:t>
            </a:r>
            <a:r>
              <a:rPr lang="ko-KR" altLang="en-US" sz="1200" dirty="0" err="1"/>
              <a:t>환경값을</a:t>
            </a:r>
            <a:r>
              <a:rPr lang="ko-KR" altLang="en-US" sz="1200" dirty="0"/>
              <a:t> 추천한다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기준치에서 얼마나 벗어났는지를 보여주고</a:t>
            </a:r>
            <a:r>
              <a:rPr lang="en-US" altLang="ko-KR" sz="1200" dirty="0"/>
              <a:t>, </a:t>
            </a:r>
            <a:r>
              <a:rPr lang="ko-KR" altLang="en-US" sz="1200" dirty="0"/>
              <a:t>아래에는 해당 환경을 따랐을 때 생산량 증가를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모든 추천 조건을 따랐을 때 생산량 증가를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추천을 따랐을 때 수익 증가를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농가 혹은 </a:t>
            </a:r>
            <a:r>
              <a:rPr lang="ko-KR" altLang="en-US" sz="1200" dirty="0" err="1"/>
              <a:t>스마트팜</a:t>
            </a:r>
            <a:r>
              <a:rPr lang="ko-KR" altLang="en-US" sz="1200" dirty="0"/>
              <a:t> 업체가 보유한 데이터를 업로드하는 공간이다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박스를 클릭하면 파일 업로드창이 뜬다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버튼을 누르면 파일이 전송된다</a:t>
            </a:r>
            <a:r>
              <a:rPr lang="en-US" altLang="ko-KR" sz="1200" dirty="0"/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272CFD-3436-4638-F152-2C012CAB7B60}"/>
              </a:ext>
            </a:extLst>
          </p:cNvPr>
          <p:cNvSpPr txBox="1"/>
          <p:nvPr/>
        </p:nvSpPr>
        <p:spPr>
          <a:xfrm>
            <a:off x="7276011" y="199611"/>
            <a:ext cx="900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홍길동님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825BFC7-F367-2106-A502-2BDDAAB4525F}"/>
              </a:ext>
            </a:extLst>
          </p:cNvPr>
          <p:cNvGrpSpPr/>
          <p:nvPr/>
        </p:nvGrpSpPr>
        <p:grpSpPr>
          <a:xfrm>
            <a:off x="292986" y="682134"/>
            <a:ext cx="8403018" cy="780906"/>
            <a:chOff x="292986" y="728750"/>
            <a:chExt cx="8403018" cy="86177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42AA3CF-8635-B55C-F4A2-BFB9E6D32EBD}"/>
                </a:ext>
              </a:extLst>
            </p:cNvPr>
            <p:cNvSpPr txBox="1"/>
            <p:nvPr/>
          </p:nvSpPr>
          <p:spPr>
            <a:xfrm>
              <a:off x="292986" y="728750"/>
              <a:ext cx="7499008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b="1" dirty="0"/>
                <a:t>데이터 분석 서비스</a:t>
              </a:r>
              <a:endParaRPr lang="en-US" altLang="ko-KR" b="1" dirty="0"/>
            </a:p>
            <a:p>
              <a:r>
                <a:rPr lang="ko-KR" altLang="en-US" sz="1400" dirty="0"/>
                <a:t>축적된 농가 데이터를 분석하여 최적 환경을 추천해드립니다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532091A-7C57-716F-3CA7-B4F002715961}"/>
                </a:ext>
              </a:extLst>
            </p:cNvPr>
            <p:cNvSpPr/>
            <p:nvPr/>
          </p:nvSpPr>
          <p:spPr>
            <a:xfrm>
              <a:off x="7056619" y="842871"/>
              <a:ext cx="1639385" cy="61788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분석하러가기</a:t>
              </a:r>
              <a:endParaRPr lang="ko-KR" altLang="en-US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05D551C-E346-7636-49B2-2A606CD67CEB}"/>
              </a:ext>
            </a:extLst>
          </p:cNvPr>
          <p:cNvGrpSpPr/>
          <p:nvPr/>
        </p:nvGrpSpPr>
        <p:grpSpPr>
          <a:xfrm>
            <a:off x="292986" y="1840624"/>
            <a:ext cx="8462916" cy="649088"/>
            <a:chOff x="292986" y="2061198"/>
            <a:chExt cx="8462916" cy="6490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A76F2A-B2FA-A48D-29F3-C83B496B4163}"/>
                </a:ext>
              </a:extLst>
            </p:cNvPr>
            <p:cNvSpPr txBox="1"/>
            <p:nvPr/>
          </p:nvSpPr>
          <p:spPr>
            <a:xfrm>
              <a:off x="292986" y="2061198"/>
              <a:ext cx="7499008" cy="649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최적 환경 추천</a:t>
              </a:r>
              <a:endParaRPr lang="en-US" altLang="ko-KR" sz="1600" b="1" dirty="0"/>
            </a:p>
            <a:p>
              <a:pPr>
                <a:lnSpc>
                  <a:spcPct val="200000"/>
                </a:lnSpc>
              </a:pPr>
              <a:r>
                <a:rPr lang="ko-KR" altLang="en-US" sz="1200" dirty="0"/>
                <a:t>일반적인 딸기 재배 환경을 기준으로 한 추천입니다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109B59CA-4B43-7048-42CD-DFF2382423CB}"/>
                </a:ext>
              </a:extLst>
            </p:cNvPr>
            <p:cNvSpPr/>
            <p:nvPr/>
          </p:nvSpPr>
          <p:spPr>
            <a:xfrm>
              <a:off x="7285807" y="2369946"/>
              <a:ext cx="640080" cy="32454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기본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D78B194-DFAF-9633-541C-0FF02B2BC871}"/>
                </a:ext>
              </a:extLst>
            </p:cNvPr>
            <p:cNvSpPr/>
            <p:nvPr/>
          </p:nvSpPr>
          <p:spPr>
            <a:xfrm>
              <a:off x="8115822" y="2369946"/>
              <a:ext cx="640080" cy="32454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맞춤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DC195C6-497E-E2EC-67BD-D119CFCD0E2F}"/>
              </a:ext>
            </a:extLst>
          </p:cNvPr>
          <p:cNvGrpSpPr/>
          <p:nvPr/>
        </p:nvGrpSpPr>
        <p:grpSpPr>
          <a:xfrm>
            <a:off x="349954" y="2707916"/>
            <a:ext cx="8405948" cy="502346"/>
            <a:chOff x="404949" y="2867297"/>
            <a:chExt cx="8405948" cy="881743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7B91506-838D-0CE3-7908-D1A4AC378636}"/>
                </a:ext>
              </a:extLst>
            </p:cNvPr>
            <p:cNvSpPr/>
            <p:nvPr/>
          </p:nvSpPr>
          <p:spPr>
            <a:xfrm>
              <a:off x="404949" y="2867297"/>
              <a:ext cx="8405948" cy="8817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ko-KR" altLang="en-US" sz="1400" b="1" dirty="0"/>
                <a:t>온도</a:t>
              </a:r>
              <a:r>
                <a:rPr lang="en-US" altLang="ko-KR" sz="1400" b="1" dirty="0"/>
                <a:t>		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400" dirty="0"/>
                <a:t>현재</a:t>
              </a:r>
              <a:r>
                <a:rPr lang="en-US" altLang="ko-KR" sz="1400" dirty="0"/>
                <a:t>: 19℃ → </a:t>
              </a:r>
              <a:r>
                <a:rPr lang="ko-KR" altLang="en-US" sz="1400" dirty="0"/>
                <a:t>권장</a:t>
              </a:r>
              <a:r>
                <a:rPr lang="en-US" altLang="ko-KR" sz="1400" dirty="0"/>
                <a:t>: 18℃</a:t>
              </a:r>
              <a:endParaRPr lang="ko-KR" altLang="en-US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0CC414-0D98-3556-0005-3E9FE081FC51}"/>
                </a:ext>
              </a:extLst>
            </p:cNvPr>
            <p:cNvSpPr txBox="1"/>
            <p:nvPr/>
          </p:nvSpPr>
          <p:spPr>
            <a:xfrm>
              <a:off x="7441558" y="2867297"/>
              <a:ext cx="1286692" cy="556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/>
                <a:t>+1℃</a:t>
              </a:r>
            </a:p>
            <a:p>
              <a:pPr algn="r"/>
              <a:r>
                <a:rPr lang="en-US" altLang="ko-KR" sz="1200" dirty="0"/>
                <a:t>5.6% </a:t>
              </a:r>
              <a:r>
                <a:rPr lang="ko-KR" altLang="en-US" sz="1200" dirty="0"/>
                <a:t>차이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61A357F-7481-56E7-8E8B-12CE4A3222EB}"/>
              </a:ext>
            </a:extLst>
          </p:cNvPr>
          <p:cNvGrpSpPr/>
          <p:nvPr/>
        </p:nvGrpSpPr>
        <p:grpSpPr>
          <a:xfrm>
            <a:off x="349954" y="3279942"/>
            <a:ext cx="8405948" cy="502346"/>
            <a:chOff x="404949" y="2867297"/>
            <a:chExt cx="8405948" cy="881743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EF5CE0F6-F561-3D45-B327-8CD9D36A2BED}"/>
                </a:ext>
              </a:extLst>
            </p:cNvPr>
            <p:cNvSpPr/>
            <p:nvPr/>
          </p:nvSpPr>
          <p:spPr>
            <a:xfrm>
              <a:off x="404949" y="2867297"/>
              <a:ext cx="8405948" cy="8817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ko-KR" altLang="en-US" sz="1400" b="1" dirty="0"/>
                <a:t>습도</a:t>
              </a:r>
              <a:r>
                <a:rPr lang="en-US" altLang="ko-KR" sz="1400" b="1" dirty="0"/>
                <a:t>		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400" dirty="0"/>
                <a:t>현재</a:t>
              </a:r>
              <a:r>
                <a:rPr lang="en-US" altLang="ko-KR" sz="1400" dirty="0"/>
                <a:t>: 68% → </a:t>
              </a:r>
              <a:r>
                <a:rPr lang="ko-KR" altLang="en-US" sz="1400" dirty="0"/>
                <a:t>권장</a:t>
              </a:r>
              <a:r>
                <a:rPr lang="en-US" altLang="ko-KR" sz="1400" dirty="0"/>
                <a:t>: 70%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EF1790-2DA4-7D76-61E8-54D5B10AA012}"/>
                </a:ext>
              </a:extLst>
            </p:cNvPr>
            <p:cNvSpPr txBox="1"/>
            <p:nvPr/>
          </p:nvSpPr>
          <p:spPr>
            <a:xfrm>
              <a:off x="7441558" y="2867297"/>
              <a:ext cx="1286692" cy="823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/>
                <a:t>-2%</a:t>
              </a:r>
            </a:p>
            <a:p>
              <a:pPr algn="r"/>
              <a:r>
                <a:rPr lang="en-US" altLang="ko-KR" sz="1200" dirty="0"/>
                <a:t>2.9% </a:t>
              </a:r>
              <a:r>
                <a:rPr lang="ko-KR" altLang="en-US" sz="1200" dirty="0"/>
                <a:t>차이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72EAA80-1C62-EBB4-EB9A-C3BAA46770D5}"/>
              </a:ext>
            </a:extLst>
          </p:cNvPr>
          <p:cNvGrpSpPr/>
          <p:nvPr/>
        </p:nvGrpSpPr>
        <p:grpSpPr>
          <a:xfrm>
            <a:off x="349954" y="3865943"/>
            <a:ext cx="8405948" cy="502346"/>
            <a:chOff x="404949" y="2867297"/>
            <a:chExt cx="8405948" cy="881743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0A8A931-2AF4-448B-4495-CAA82398ED0C}"/>
                </a:ext>
              </a:extLst>
            </p:cNvPr>
            <p:cNvSpPr/>
            <p:nvPr/>
          </p:nvSpPr>
          <p:spPr>
            <a:xfrm>
              <a:off x="404949" y="2867297"/>
              <a:ext cx="8405948" cy="8817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en-US" altLang="ko-KR" sz="1400" b="1" dirty="0"/>
                <a:t>CO2		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400" dirty="0"/>
                <a:t>현재</a:t>
              </a:r>
              <a:r>
                <a:rPr lang="en-US" altLang="ko-KR" sz="1400" dirty="0"/>
                <a:t>: 915ppm → </a:t>
              </a:r>
              <a:r>
                <a:rPr lang="ko-KR" altLang="en-US" sz="1400" dirty="0"/>
                <a:t>권장</a:t>
              </a:r>
              <a:r>
                <a:rPr lang="en-US" altLang="ko-KR" sz="1400" dirty="0"/>
                <a:t>: 900ppm</a:t>
              </a:r>
              <a:endParaRPr lang="ko-KR" alt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718290-0A8A-E711-6218-134D7EC8FCD9}"/>
                </a:ext>
              </a:extLst>
            </p:cNvPr>
            <p:cNvSpPr txBox="1"/>
            <p:nvPr/>
          </p:nvSpPr>
          <p:spPr>
            <a:xfrm>
              <a:off x="7441558" y="2867297"/>
              <a:ext cx="1286692" cy="823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/>
                <a:t>+15ppm</a:t>
              </a:r>
            </a:p>
            <a:p>
              <a:pPr algn="r"/>
              <a:r>
                <a:rPr lang="en-US" altLang="ko-KR" sz="1200" dirty="0"/>
                <a:t>1.7% </a:t>
              </a:r>
              <a:r>
                <a:rPr lang="ko-KR" altLang="en-US" sz="1200" dirty="0"/>
                <a:t>차이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7CC85DB-4173-1A25-97B7-CA88896CB781}"/>
              </a:ext>
            </a:extLst>
          </p:cNvPr>
          <p:cNvGrpSpPr/>
          <p:nvPr/>
        </p:nvGrpSpPr>
        <p:grpSpPr>
          <a:xfrm>
            <a:off x="349954" y="4467192"/>
            <a:ext cx="4062548" cy="922875"/>
            <a:chOff x="349954" y="4709160"/>
            <a:chExt cx="4062548" cy="960120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35685AD4-0865-D007-5480-21B7D9FDC969}"/>
                </a:ext>
              </a:extLst>
            </p:cNvPr>
            <p:cNvSpPr/>
            <p:nvPr/>
          </p:nvSpPr>
          <p:spPr>
            <a:xfrm>
              <a:off x="349954" y="4709160"/>
              <a:ext cx="4062548" cy="96012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ko-KR" sz="2000" b="1" dirty="0"/>
            </a:p>
            <a:p>
              <a:r>
                <a:rPr lang="en-US" altLang="ko-KR" sz="20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+12.5%</a:t>
              </a:r>
            </a:p>
            <a:p>
              <a:r>
                <a:rPr lang="ko-KR" altLang="en-US" sz="1200" dirty="0"/>
                <a:t>약 </a:t>
              </a:r>
              <a:r>
                <a:rPr lang="en-US" altLang="ko-KR" sz="1200" dirty="0"/>
                <a:t>+228kg/</a:t>
              </a:r>
              <a:r>
                <a:rPr lang="ko-KR" altLang="en-US" sz="1200" dirty="0"/>
                <a:t>월 증가 예상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17F70316-DB76-388C-D973-0B56D428BF2B}"/>
                </a:ext>
              </a:extLst>
            </p:cNvPr>
            <p:cNvGrpSpPr/>
            <p:nvPr/>
          </p:nvGrpSpPr>
          <p:grpSpPr>
            <a:xfrm>
              <a:off x="481113" y="4769398"/>
              <a:ext cx="2225470" cy="368064"/>
              <a:chOff x="419961" y="5934974"/>
              <a:chExt cx="2421508" cy="314979"/>
            </a:xfrm>
          </p:grpSpPr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77A1721-B233-5D6E-6501-428F498D6586}"/>
                  </a:ext>
                </a:extLst>
              </p:cNvPr>
              <p:cNvSpPr/>
              <p:nvPr/>
            </p:nvSpPr>
            <p:spPr>
              <a:xfrm>
                <a:off x="419961" y="5989326"/>
                <a:ext cx="379419" cy="260627"/>
              </a:xfrm>
              <a:custGeom>
                <a:avLst/>
                <a:gdLst>
                  <a:gd name="csX0" fmla="*/ 401003 w 553402"/>
                  <a:gd name="csY0" fmla="*/ 0 h 324802"/>
                  <a:gd name="csX1" fmla="*/ 457200 w 553402"/>
                  <a:gd name="csY1" fmla="*/ 56198 h 324802"/>
                  <a:gd name="csX2" fmla="*/ 381953 w 553402"/>
                  <a:gd name="csY2" fmla="*/ 131445 h 324802"/>
                  <a:gd name="csX3" fmla="*/ 324803 w 553402"/>
                  <a:gd name="csY3" fmla="*/ 74295 h 324802"/>
                  <a:gd name="csX4" fmla="*/ 229553 w 553402"/>
                  <a:gd name="csY4" fmla="*/ 169545 h 324802"/>
                  <a:gd name="csX5" fmla="*/ 172403 w 553402"/>
                  <a:gd name="csY5" fmla="*/ 112395 h 324802"/>
                  <a:gd name="csX6" fmla="*/ 0 w 553402"/>
                  <a:gd name="csY6" fmla="*/ 284798 h 324802"/>
                  <a:gd name="csX7" fmla="*/ 40005 w 553402"/>
                  <a:gd name="csY7" fmla="*/ 324803 h 324802"/>
                  <a:gd name="csX8" fmla="*/ 172403 w 553402"/>
                  <a:gd name="csY8" fmla="*/ 192405 h 324802"/>
                  <a:gd name="csX9" fmla="*/ 229553 w 553402"/>
                  <a:gd name="csY9" fmla="*/ 249555 h 324802"/>
                  <a:gd name="csX10" fmla="*/ 324803 w 553402"/>
                  <a:gd name="csY10" fmla="*/ 154305 h 324802"/>
                  <a:gd name="csX11" fmla="*/ 381953 w 553402"/>
                  <a:gd name="csY11" fmla="*/ 211455 h 324802"/>
                  <a:gd name="csX12" fmla="*/ 497205 w 553402"/>
                  <a:gd name="csY12" fmla="*/ 96202 h 324802"/>
                  <a:gd name="csX13" fmla="*/ 553403 w 553402"/>
                  <a:gd name="csY13" fmla="*/ 152400 h 324802"/>
                  <a:gd name="csX14" fmla="*/ 553403 w 553402"/>
                  <a:gd name="csY14" fmla="*/ 0 h 3248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>
                <a:noAutofit/>
              </a:bodyPr>
              <a:lstStyle/>
              <a:p>
                <a:endParaRPr lang="ko-KR" altLang="en-US" sz="16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59BB952-AE48-A683-FFB2-6ADF1B4BA795}"/>
                  </a:ext>
                </a:extLst>
              </p:cNvPr>
              <p:cNvSpPr txBox="1"/>
              <p:nvPr/>
            </p:nvSpPr>
            <p:spPr>
              <a:xfrm>
                <a:off x="799380" y="5934974"/>
                <a:ext cx="2042089" cy="286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예상 생산량 증가</a:t>
                </a: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4FA8B47-B78D-26E0-8F02-68AA616B6674}"/>
              </a:ext>
            </a:extLst>
          </p:cNvPr>
          <p:cNvGrpSpPr/>
          <p:nvPr/>
        </p:nvGrpSpPr>
        <p:grpSpPr>
          <a:xfrm>
            <a:off x="4693354" y="4467192"/>
            <a:ext cx="4062548" cy="922875"/>
            <a:chOff x="4693354" y="4709160"/>
            <a:chExt cx="4062548" cy="96012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4CCF1EFC-4719-B457-DA14-9B11AEAE9F17}"/>
                </a:ext>
              </a:extLst>
            </p:cNvPr>
            <p:cNvSpPr/>
            <p:nvPr/>
          </p:nvSpPr>
          <p:spPr>
            <a:xfrm>
              <a:off x="4693354" y="4709160"/>
              <a:ext cx="4062548" cy="96012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ko-KR" sz="2000" b="1" dirty="0"/>
            </a:p>
            <a:p>
              <a:r>
                <a:rPr lang="en-US" altLang="ko-KR" sz="2000" b="1" dirty="0">
                  <a:solidFill>
                    <a:schemeClr val="accent6">
                      <a:lumMod val="75000"/>
                    </a:schemeClr>
                  </a:solidFill>
                </a:rPr>
                <a:t>+2,394,000</a:t>
              </a:r>
              <a:r>
                <a:rPr lang="ko-KR" alt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원</a:t>
              </a:r>
              <a:endParaRPr lang="en-US" altLang="ko-KR" sz="2000" b="1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r>
                <a:rPr lang="ko-KR" altLang="en-US" sz="1200" dirty="0"/>
                <a:t>약 </a:t>
              </a:r>
              <a:r>
                <a:rPr lang="en-US" altLang="ko-KR" sz="1200" dirty="0"/>
                <a:t>+228kg/</a:t>
              </a:r>
              <a:r>
                <a:rPr lang="ko-KR" altLang="en-US" sz="1200" dirty="0"/>
                <a:t>월 증가 예상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AA5EF76-C8E0-3936-F7B3-B250B5AB6F5B}"/>
                </a:ext>
              </a:extLst>
            </p:cNvPr>
            <p:cNvGrpSpPr/>
            <p:nvPr/>
          </p:nvGrpSpPr>
          <p:grpSpPr>
            <a:xfrm>
              <a:off x="4761204" y="4769398"/>
              <a:ext cx="2066675" cy="338554"/>
              <a:chOff x="3912656" y="5991834"/>
              <a:chExt cx="2066675" cy="338554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F8B82E1-24FD-B9AB-8AB2-4CA33F7C3912}"/>
                  </a:ext>
                </a:extLst>
              </p:cNvPr>
              <p:cNvSpPr txBox="1"/>
              <p:nvPr/>
            </p:nvSpPr>
            <p:spPr>
              <a:xfrm>
                <a:off x="4102563" y="5991834"/>
                <a:ext cx="18767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예상 수익 증가</a:t>
                </a:r>
              </a:p>
            </p:txBody>
          </p:sp>
          <p:pic>
            <p:nvPicPr>
              <p:cNvPr id="44" name="그래픽 43" descr="달러 단색으로 채워진">
                <a:extLst>
                  <a:ext uri="{FF2B5EF4-FFF2-40B4-BE49-F238E27FC236}">
                    <a16:creationId xmlns:a16="http://schemas.microsoft.com/office/drawing/2014/main" id="{88D5BC05-0551-0DDF-2508-C4346CBB41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912656" y="6011235"/>
                <a:ext cx="295496" cy="295496"/>
              </a:xfrm>
              <a:prstGeom prst="rect">
                <a:avLst/>
              </a:prstGeom>
            </p:spPr>
          </p:pic>
        </p:grpSp>
      </p:grp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447A2CE-B0F2-7D57-F9D4-39C998E58CDD}"/>
              </a:ext>
            </a:extLst>
          </p:cNvPr>
          <p:cNvSpPr/>
          <p:nvPr/>
        </p:nvSpPr>
        <p:spPr>
          <a:xfrm>
            <a:off x="349956" y="5488970"/>
            <a:ext cx="8405946" cy="12776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pic>
        <p:nvPicPr>
          <p:cNvPr id="48" name="그래픽 47" descr="데이터베이스 단색으로 채워진">
            <a:extLst>
              <a:ext uri="{FF2B5EF4-FFF2-40B4-BE49-F238E27FC236}">
                <a16:creationId xmlns:a16="http://schemas.microsoft.com/office/drawing/2014/main" id="{64D04588-3697-0C78-C6BE-A51F62B16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444" y="5562952"/>
            <a:ext cx="335547" cy="48342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FDDAF46-EC28-136E-38CC-C06B2349B07A}"/>
              </a:ext>
            </a:extLst>
          </p:cNvPr>
          <p:cNvSpPr txBox="1"/>
          <p:nvPr/>
        </p:nvSpPr>
        <p:spPr>
          <a:xfrm>
            <a:off x="704155" y="5525900"/>
            <a:ext cx="7001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맞춤 분석을 원하시나요</a:t>
            </a:r>
            <a:r>
              <a:rPr lang="en-US" altLang="ko-KR" sz="1600" dirty="0"/>
              <a:t>?</a:t>
            </a:r>
          </a:p>
          <a:p>
            <a:r>
              <a:rPr lang="ko-KR" altLang="en-US" sz="1200" dirty="0"/>
              <a:t>농가의 실제 데이터를 업로드하면 더욱 정확한 분석 결과를 제공합니다</a:t>
            </a:r>
            <a:r>
              <a:rPr lang="en-US" altLang="ko-KR" sz="1200" dirty="0"/>
              <a:t>.</a:t>
            </a:r>
          </a:p>
          <a:p>
            <a:endParaRPr lang="ko-KR" altLang="en-US" sz="14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589F18D9-6486-0EF2-95DA-91276268F2C7}"/>
              </a:ext>
            </a:extLst>
          </p:cNvPr>
          <p:cNvSpPr/>
          <p:nvPr/>
        </p:nvSpPr>
        <p:spPr>
          <a:xfrm>
            <a:off x="777563" y="6112007"/>
            <a:ext cx="2212927" cy="50292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환경 데이터</a:t>
            </a:r>
            <a:endParaRPr lang="en-US" altLang="ko-KR" sz="1400" dirty="0"/>
          </a:p>
          <a:p>
            <a:pPr algn="ctr"/>
            <a:r>
              <a:rPr lang="en-US" altLang="ko-KR" sz="1200" dirty="0"/>
              <a:t>CSV, Excel</a:t>
            </a:r>
            <a:endParaRPr lang="ko-KR" altLang="en-US" sz="1200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4446777-EF07-AEB2-A43D-6EFD69633A3F}"/>
              </a:ext>
            </a:extLst>
          </p:cNvPr>
          <p:cNvSpPr/>
          <p:nvPr/>
        </p:nvSpPr>
        <p:spPr>
          <a:xfrm>
            <a:off x="3473555" y="6112007"/>
            <a:ext cx="2212927" cy="50292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생육 데이터</a:t>
            </a:r>
            <a:endParaRPr lang="en-US" altLang="ko-KR" sz="1400" dirty="0"/>
          </a:p>
          <a:p>
            <a:pPr algn="ctr"/>
            <a:r>
              <a:rPr lang="en-US" altLang="ko-KR" sz="1200" dirty="0"/>
              <a:t>CSV, Excel</a:t>
            </a:r>
            <a:endParaRPr lang="ko-KR" altLang="en-US" sz="12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2379D82-226E-0371-0AB8-CFFEDD2112B7}"/>
              </a:ext>
            </a:extLst>
          </p:cNvPr>
          <p:cNvSpPr/>
          <p:nvPr/>
        </p:nvSpPr>
        <p:spPr>
          <a:xfrm>
            <a:off x="6169547" y="6112007"/>
            <a:ext cx="2212927" cy="50292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생산량 데이터</a:t>
            </a:r>
            <a:endParaRPr lang="en-US" altLang="ko-KR" sz="1400" dirty="0"/>
          </a:p>
          <a:p>
            <a:pPr algn="ctr"/>
            <a:r>
              <a:rPr lang="en-US" altLang="ko-KR" sz="1200" dirty="0"/>
              <a:t>CSV, Excel</a:t>
            </a:r>
            <a:endParaRPr lang="ko-KR" altLang="en-US" sz="12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D2E715A-09DA-E997-36A3-C8949A72C8FD}"/>
              </a:ext>
            </a:extLst>
          </p:cNvPr>
          <p:cNvSpPr/>
          <p:nvPr/>
        </p:nvSpPr>
        <p:spPr>
          <a:xfrm>
            <a:off x="70446" y="80002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EFDC1B2-517D-16B3-0A29-C29A94EA1BC2}"/>
              </a:ext>
            </a:extLst>
          </p:cNvPr>
          <p:cNvSpPr/>
          <p:nvPr/>
        </p:nvSpPr>
        <p:spPr>
          <a:xfrm>
            <a:off x="6749462" y="75447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F45635A-8719-CDD2-5104-6F5D823E0572}"/>
              </a:ext>
            </a:extLst>
          </p:cNvPr>
          <p:cNvSpPr/>
          <p:nvPr/>
        </p:nvSpPr>
        <p:spPr>
          <a:xfrm>
            <a:off x="7078873" y="193641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0576EE4-62D9-4E90-B440-6E33BB100985}"/>
              </a:ext>
            </a:extLst>
          </p:cNvPr>
          <p:cNvSpPr/>
          <p:nvPr/>
        </p:nvSpPr>
        <p:spPr>
          <a:xfrm>
            <a:off x="64215" y="216474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9488068-DB41-BECB-F565-3A0F0BC32022}"/>
              </a:ext>
            </a:extLst>
          </p:cNvPr>
          <p:cNvSpPr/>
          <p:nvPr/>
        </p:nvSpPr>
        <p:spPr>
          <a:xfrm>
            <a:off x="101152" y="271185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ED44919-E2AF-759E-F35F-D9D6C374D170}"/>
              </a:ext>
            </a:extLst>
          </p:cNvPr>
          <p:cNvSpPr/>
          <p:nvPr/>
        </p:nvSpPr>
        <p:spPr>
          <a:xfrm>
            <a:off x="132508" y="447340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5FE9BF2-1D34-62BA-BCEE-E1BCA05176D6}"/>
              </a:ext>
            </a:extLst>
          </p:cNvPr>
          <p:cNvSpPr/>
          <p:nvPr/>
        </p:nvSpPr>
        <p:spPr>
          <a:xfrm>
            <a:off x="4503270" y="445402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E3359C3-F957-7548-3494-47E6664DF6ED}"/>
              </a:ext>
            </a:extLst>
          </p:cNvPr>
          <p:cNvSpPr/>
          <p:nvPr/>
        </p:nvSpPr>
        <p:spPr>
          <a:xfrm>
            <a:off x="47754" y="5442910"/>
            <a:ext cx="409338" cy="2400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D0D0D7D-54DA-EFD4-96D0-530186F911DD}"/>
              </a:ext>
            </a:extLst>
          </p:cNvPr>
          <p:cNvSpPr/>
          <p:nvPr/>
        </p:nvSpPr>
        <p:spPr>
          <a:xfrm>
            <a:off x="7583365" y="277131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4052FAB-B312-FD85-2FD4-7F37ADB9158D}"/>
              </a:ext>
            </a:extLst>
          </p:cNvPr>
          <p:cNvSpPr/>
          <p:nvPr/>
        </p:nvSpPr>
        <p:spPr>
          <a:xfrm>
            <a:off x="375955" y="6112007"/>
            <a:ext cx="409338" cy="2400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879EC744-7183-A4A6-8B83-112251D762B2}"/>
              </a:ext>
            </a:extLst>
          </p:cNvPr>
          <p:cNvSpPr/>
          <p:nvPr/>
        </p:nvSpPr>
        <p:spPr>
          <a:xfrm>
            <a:off x="6920175" y="5649206"/>
            <a:ext cx="1462299" cy="2931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AI </a:t>
            </a:r>
            <a:r>
              <a:rPr lang="ko-KR" altLang="en-US" sz="1600" dirty="0"/>
              <a:t>분석 시작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727229A-CC8B-4500-954F-47543F4C2ADF}"/>
              </a:ext>
            </a:extLst>
          </p:cNvPr>
          <p:cNvSpPr/>
          <p:nvPr/>
        </p:nvSpPr>
        <p:spPr>
          <a:xfrm>
            <a:off x="6468678" y="5591731"/>
            <a:ext cx="409338" cy="2400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12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2622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AD78ED-788E-CA7C-E2FC-698F3FB54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C0276AE-A5FF-7D74-A3E5-93B1C154B082}"/>
              </a:ext>
            </a:extLst>
          </p:cNvPr>
          <p:cNvCxnSpPr>
            <a:cxnSpLocks/>
          </p:cNvCxnSpPr>
          <p:nvPr/>
        </p:nvCxnSpPr>
        <p:spPr>
          <a:xfrm>
            <a:off x="293914" y="577970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EAFA063-CF47-5A02-352B-E55527936BE2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5C50C1A-A50D-DE1B-9DB9-6538BD5C446A}"/>
              </a:ext>
            </a:extLst>
          </p:cNvPr>
          <p:cNvSpPr txBox="1"/>
          <p:nvPr/>
        </p:nvSpPr>
        <p:spPr>
          <a:xfrm>
            <a:off x="9285828" y="175384"/>
            <a:ext cx="280502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DataAnalysis.html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작물 가격 예측 서비스에 대한 간략한 설명을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예측에 앞서 본인에 맞게 선택하는 항목들이다</a:t>
            </a:r>
            <a:r>
              <a:rPr lang="en-US" altLang="ko-KR" sz="1200" dirty="0"/>
              <a:t>. </a:t>
            </a:r>
            <a:r>
              <a:rPr lang="ko-KR" altLang="en-US" sz="1200" dirty="0"/>
              <a:t>추후 다른 작물까지 확장하기위해 작물까지 선택항목에 넣었다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예측 실행을 누르면 설정한 항목들을 서버로 보낸다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현재 가격을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내일 가격을 날씨에 따른 생육속도와</a:t>
            </a:r>
            <a:r>
              <a:rPr lang="en-US" altLang="ko-KR" sz="1200" dirty="0"/>
              <a:t>, </a:t>
            </a:r>
            <a:r>
              <a:rPr lang="ko-KR" altLang="en-US" sz="1200" dirty="0"/>
              <a:t>시기에 따른 가격 데이터를 종합하여 예측하고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예측 신뢰도를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처음에 하나의 예측기간을 선택했더라도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다른 탭을 선택하면 그에 맞게 다시 예측하여 표기해준다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가격 예측을 그래프로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가격 예측을 텍스트 중심으로 보여준다</a:t>
            </a:r>
            <a:r>
              <a:rPr lang="en-US" altLang="ko-KR" sz="1200" dirty="0"/>
              <a:t>.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670B9302-F64E-C8C7-DA68-A1BD895F4515}"/>
              </a:ext>
            </a:extLst>
          </p:cNvPr>
          <p:cNvGrpSpPr/>
          <p:nvPr/>
        </p:nvGrpSpPr>
        <p:grpSpPr>
          <a:xfrm>
            <a:off x="241663" y="91390"/>
            <a:ext cx="8835996" cy="412890"/>
            <a:chOff x="241663" y="91389"/>
            <a:chExt cx="8835996" cy="5421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ABF3EF-4D46-61F8-D42D-6C28682DE9D0}"/>
                </a:ext>
              </a:extLst>
            </p:cNvPr>
            <p:cNvSpPr txBox="1"/>
            <p:nvPr/>
          </p:nvSpPr>
          <p:spPr>
            <a:xfrm>
              <a:off x="874648" y="177802"/>
              <a:ext cx="1966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딸기 </a:t>
              </a:r>
              <a:r>
                <a:rPr lang="ko-KR" altLang="en-US" dirty="0" err="1"/>
                <a:t>스마트팜</a:t>
              </a:r>
              <a:r>
                <a:rPr lang="ko-KR" altLang="en-US" dirty="0"/>
                <a:t> </a:t>
              </a:r>
              <a:r>
                <a:rPr lang="en-US" altLang="ko-KR" dirty="0"/>
                <a:t>AI</a:t>
              </a:r>
              <a:endParaRPr lang="ko-KR" altLang="en-US" dirty="0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D6D225ED-1FF4-1A2A-89F3-9BCC543CB41E}"/>
                </a:ext>
              </a:extLst>
            </p:cNvPr>
            <p:cNvGrpSpPr/>
            <p:nvPr/>
          </p:nvGrpSpPr>
          <p:grpSpPr>
            <a:xfrm>
              <a:off x="2954235" y="199611"/>
              <a:ext cx="3819754" cy="307777"/>
              <a:chOff x="4065917" y="301284"/>
              <a:chExt cx="3819754" cy="30777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F384F4-DB07-8E8D-6C81-66B4F48BB67C}"/>
                  </a:ext>
                </a:extLst>
              </p:cNvPr>
              <p:cNvSpPr txBox="1"/>
              <p:nvPr/>
            </p:nvSpPr>
            <p:spPr>
              <a:xfrm>
                <a:off x="5316748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데이터분석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F28608-7B25-62FB-3E81-EFBC661C2EE2}"/>
                  </a:ext>
                </a:extLst>
              </p:cNvPr>
              <p:cNvSpPr txBox="1"/>
              <p:nvPr/>
            </p:nvSpPr>
            <p:spPr>
              <a:xfrm>
                <a:off x="6493943" y="301284"/>
                <a:ext cx="1391728" cy="30777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가격 예측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3FF8D2-95EA-7EE7-3FF5-60A495F2750A}"/>
                  </a:ext>
                </a:extLst>
              </p:cNvPr>
              <p:cNvSpPr txBox="1"/>
              <p:nvPr/>
            </p:nvSpPr>
            <p:spPr>
              <a:xfrm>
                <a:off x="4065917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대시보드</a:t>
                </a: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3710AB1-E604-34F1-621A-4D0F2D544713}"/>
                </a:ext>
              </a:extLst>
            </p:cNvPr>
            <p:cNvSpPr/>
            <p:nvPr/>
          </p:nvSpPr>
          <p:spPr>
            <a:xfrm>
              <a:off x="8176402" y="193591"/>
              <a:ext cx="901257" cy="34633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로그아웃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222F41B-2B2D-6709-90E3-16B42238636D}"/>
                </a:ext>
              </a:extLst>
            </p:cNvPr>
            <p:cNvSpPr/>
            <p:nvPr/>
          </p:nvSpPr>
          <p:spPr>
            <a:xfrm>
              <a:off x="241663" y="91389"/>
              <a:ext cx="653330" cy="5421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35286A7-CC32-3E85-BA9D-38D4FF07508C}"/>
                </a:ext>
              </a:extLst>
            </p:cNvPr>
            <p:cNvSpPr txBox="1"/>
            <p:nvPr/>
          </p:nvSpPr>
          <p:spPr>
            <a:xfrm>
              <a:off x="7276011" y="199611"/>
              <a:ext cx="9003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홍길동님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77613-F381-8B95-2829-80A2F14E754D}"/>
              </a:ext>
            </a:extLst>
          </p:cNvPr>
          <p:cNvSpPr txBox="1"/>
          <p:nvPr/>
        </p:nvSpPr>
        <p:spPr>
          <a:xfrm>
            <a:off x="241663" y="633733"/>
            <a:ext cx="8008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작물 가격 예측 서비스</a:t>
            </a:r>
            <a:endParaRPr lang="en-US" altLang="ko-KR" sz="1600" b="1" dirty="0"/>
          </a:p>
          <a:p>
            <a:r>
              <a:rPr lang="ko-KR" altLang="en-US" sz="1200" dirty="0"/>
              <a:t>도</a:t>
            </a:r>
            <a:r>
              <a:rPr lang="en-US" altLang="ko-KR" sz="1200" dirty="0"/>
              <a:t>/</a:t>
            </a:r>
            <a:r>
              <a:rPr lang="ko-KR" altLang="en-US" sz="1200" dirty="0"/>
              <a:t>소매가 분석과 날씨 데이터를 연동하여 정확한 가격을 예측합니다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271DA19-8ED4-A069-321E-BD2429AB8348}"/>
              </a:ext>
            </a:extLst>
          </p:cNvPr>
          <p:cNvGrpSpPr/>
          <p:nvPr/>
        </p:nvGrpSpPr>
        <p:grpSpPr>
          <a:xfrm>
            <a:off x="241663" y="1207609"/>
            <a:ext cx="8835996" cy="699567"/>
            <a:chOff x="267314" y="1439949"/>
            <a:chExt cx="8642007" cy="1180529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D5713820-073E-0F8F-AAB5-51078CD4357B}"/>
                </a:ext>
              </a:extLst>
            </p:cNvPr>
            <p:cNvSpPr/>
            <p:nvPr/>
          </p:nvSpPr>
          <p:spPr>
            <a:xfrm>
              <a:off x="267314" y="1439949"/>
              <a:ext cx="8642007" cy="11805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F15AB84-CABC-531E-1A68-4A756E09DA07}"/>
                </a:ext>
              </a:extLst>
            </p:cNvPr>
            <p:cNvGrpSpPr/>
            <p:nvPr/>
          </p:nvGrpSpPr>
          <p:grpSpPr>
            <a:xfrm>
              <a:off x="352361" y="1487438"/>
              <a:ext cx="6888126" cy="898142"/>
              <a:chOff x="285584" y="3081106"/>
              <a:chExt cx="7412805" cy="89814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61E226-D4A2-7585-156C-C35BE4A7B172}"/>
                  </a:ext>
                </a:extLst>
              </p:cNvPr>
              <p:cNvSpPr txBox="1"/>
              <p:nvPr/>
            </p:nvSpPr>
            <p:spPr>
              <a:xfrm>
                <a:off x="285584" y="3081106"/>
                <a:ext cx="1149438" cy="307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작물 선택</a:t>
                </a: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15794581-CD55-0D88-D8C7-A8A45E4430A5}"/>
                  </a:ext>
                </a:extLst>
              </p:cNvPr>
              <p:cNvSpPr/>
              <p:nvPr/>
            </p:nvSpPr>
            <p:spPr>
              <a:xfrm>
                <a:off x="318309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딸기</a:t>
                </a:r>
              </a:p>
            </p:txBody>
          </p:sp>
          <p:pic>
            <p:nvPicPr>
              <p:cNvPr id="30" name="그림 29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AF26A35E-DF36-9557-4ECE-DA20D7110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5309" y="3616146"/>
                <a:ext cx="318896" cy="348792"/>
              </a:xfrm>
              <a:prstGeom prst="rect">
                <a:avLst/>
              </a:prstGeom>
            </p:spPr>
          </p:pic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3F35F4FA-AC85-C033-06F0-CA611FDC957C}"/>
                  </a:ext>
                </a:extLst>
              </p:cNvPr>
              <p:cNvSpPr txBox="1"/>
              <p:nvPr/>
            </p:nvSpPr>
            <p:spPr>
              <a:xfrm>
                <a:off x="2171057" y="3081106"/>
                <a:ext cx="1149438" cy="51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품종</a:t>
                </a:r>
              </a:p>
            </p:txBody>
          </p:sp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65BBD21-A6A9-C150-24E7-8B8B348CCCD7}"/>
                  </a:ext>
                </a:extLst>
              </p:cNvPr>
              <p:cNvSpPr/>
              <p:nvPr/>
            </p:nvSpPr>
            <p:spPr>
              <a:xfrm>
                <a:off x="2203782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 err="1"/>
                  <a:t>설향</a:t>
                </a:r>
                <a:endParaRPr lang="ko-KR" altLang="en-US" sz="1400" dirty="0"/>
              </a:p>
            </p:txBody>
          </p:sp>
          <p:pic>
            <p:nvPicPr>
              <p:cNvPr id="137" name="그림 136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F238FA5C-982A-5C46-EDAE-973FA4E0C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10782" y="3616146"/>
                <a:ext cx="318896" cy="348792"/>
              </a:xfrm>
              <a:prstGeom prst="rect">
                <a:avLst/>
              </a:prstGeom>
            </p:spPr>
          </p:pic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363CB59-093C-7C3F-F7F3-9BB08732F88D}"/>
                  </a:ext>
                </a:extLst>
              </p:cNvPr>
              <p:cNvSpPr txBox="1"/>
              <p:nvPr/>
            </p:nvSpPr>
            <p:spPr>
              <a:xfrm>
                <a:off x="4046473" y="3081106"/>
                <a:ext cx="1149438" cy="51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지역</a:t>
                </a:r>
              </a:p>
            </p:txBody>
          </p:sp>
          <p:sp>
            <p:nvSpPr>
              <p:cNvPr id="139" name="사각형: 둥근 모서리 138">
                <a:extLst>
                  <a:ext uri="{FF2B5EF4-FFF2-40B4-BE49-F238E27FC236}">
                    <a16:creationId xmlns:a16="http://schemas.microsoft.com/office/drawing/2014/main" id="{C89140C3-F5BD-53FC-DD6D-FA86B8DC84ED}"/>
                  </a:ext>
                </a:extLst>
              </p:cNvPr>
              <p:cNvSpPr/>
              <p:nvPr/>
            </p:nvSpPr>
            <p:spPr>
              <a:xfrm>
                <a:off x="4079198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전국</a:t>
                </a:r>
              </a:p>
            </p:txBody>
          </p:sp>
          <p:pic>
            <p:nvPicPr>
              <p:cNvPr id="140" name="그림 139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4816C53B-FE37-2298-DD0F-35D3527C48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86198" y="3616146"/>
                <a:ext cx="318896" cy="348792"/>
              </a:xfrm>
              <a:prstGeom prst="rect">
                <a:avLst/>
              </a:prstGeom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A034F6B-8B73-827B-E90C-3367B2307C93}"/>
                  </a:ext>
                </a:extLst>
              </p:cNvPr>
              <p:cNvSpPr txBox="1"/>
              <p:nvPr/>
            </p:nvSpPr>
            <p:spPr>
              <a:xfrm>
                <a:off x="5980561" y="3081106"/>
                <a:ext cx="1149438" cy="51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예측 기간</a:t>
                </a:r>
              </a:p>
            </p:txBody>
          </p:sp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D09F7AFB-A528-5CFD-E739-C56266A526A2}"/>
                  </a:ext>
                </a:extLst>
              </p:cNvPr>
              <p:cNvSpPr/>
              <p:nvPr/>
            </p:nvSpPr>
            <p:spPr>
              <a:xfrm>
                <a:off x="6013286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단기</a:t>
                </a:r>
                <a:r>
                  <a:rPr lang="en-US" altLang="ko-KR" sz="1400" dirty="0"/>
                  <a:t>(1-3</a:t>
                </a:r>
                <a:r>
                  <a:rPr lang="ko-KR" altLang="en-US" sz="1400" dirty="0"/>
                  <a:t>일</a:t>
                </a:r>
                <a:r>
                  <a:rPr lang="en-US" altLang="ko-KR" sz="1400" dirty="0"/>
                  <a:t>)</a:t>
                </a:r>
                <a:endParaRPr lang="ko-KR" altLang="en-US" sz="1400" dirty="0"/>
              </a:p>
            </p:txBody>
          </p:sp>
          <p:pic>
            <p:nvPicPr>
              <p:cNvPr id="156" name="그림 155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92D54817-5D72-983A-A579-9C809D7C7A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20286" y="3616146"/>
                <a:ext cx="318896" cy="348792"/>
              </a:xfrm>
              <a:prstGeom prst="rect">
                <a:avLst/>
              </a:prstGeom>
            </p:spPr>
          </p:pic>
        </p:grpSp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B33C1AA0-1C44-ADFF-2D1F-A52108BD3938}"/>
                </a:ext>
              </a:extLst>
            </p:cNvPr>
            <p:cNvSpPr/>
            <p:nvPr/>
          </p:nvSpPr>
          <p:spPr>
            <a:xfrm>
              <a:off x="7608943" y="1918350"/>
              <a:ext cx="1149437" cy="404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예측 실행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EB632B6-1229-F79B-0FC8-6E4671E58760}"/>
              </a:ext>
            </a:extLst>
          </p:cNvPr>
          <p:cNvGrpSpPr/>
          <p:nvPr/>
        </p:nvGrpSpPr>
        <p:grpSpPr>
          <a:xfrm>
            <a:off x="249067" y="2183808"/>
            <a:ext cx="2748827" cy="814293"/>
            <a:chOff x="241663" y="2627267"/>
            <a:chExt cx="2547257" cy="814293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DEE43137-459E-3CA2-965B-4661380C9E96}"/>
                </a:ext>
              </a:extLst>
            </p:cNvPr>
            <p:cNvSpPr/>
            <p:nvPr/>
          </p:nvSpPr>
          <p:spPr>
            <a:xfrm>
              <a:off x="241663" y="2627267"/>
              <a:ext cx="2547257" cy="81429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cs typeface="Calibri" panose="020F0502020204030204" pitchFamily="34" charset="0"/>
                </a:rPr>
                <a:t>현재 가격</a:t>
              </a:r>
              <a:endParaRPr lang="en-US" altLang="ko-KR" sz="1400" dirty="0">
                <a:cs typeface="Calibri" panose="020F0502020204030204" pitchFamily="34" charset="0"/>
              </a:endParaRPr>
            </a:p>
            <a:p>
              <a:r>
                <a:rPr lang="en-US" altLang="ko-KR" b="1" dirty="0">
                  <a:cs typeface="Calibri" panose="020F0502020204030204" pitchFamily="34" charset="0"/>
                </a:rPr>
                <a:t>10,500</a:t>
              </a:r>
              <a:r>
                <a:rPr lang="ko-KR" altLang="en-US" b="1" dirty="0">
                  <a:cs typeface="Calibri" panose="020F0502020204030204" pitchFamily="34" charset="0"/>
                </a:rPr>
                <a:t>원</a:t>
              </a:r>
              <a:r>
                <a:rPr lang="en-US" altLang="ko-KR" b="1" dirty="0">
                  <a:cs typeface="Calibri" panose="020F0502020204030204" pitchFamily="34" charset="0"/>
                </a:rPr>
                <a:t>/kg</a:t>
              </a:r>
            </a:p>
            <a:p>
              <a:r>
                <a:rPr lang="en-US" altLang="ko-KR" sz="1200" dirty="0">
                  <a:cs typeface="Calibri" panose="020F0502020204030204" pitchFamily="34" charset="0"/>
                </a:rPr>
                <a:t>2026</a:t>
              </a:r>
              <a:r>
                <a:rPr lang="ko-KR" altLang="en-US" sz="1200" dirty="0">
                  <a:cs typeface="Calibri" panose="020F0502020204030204" pitchFamily="34" charset="0"/>
                </a:rPr>
                <a:t>년 </a:t>
              </a:r>
              <a:r>
                <a:rPr lang="en-US" altLang="ko-KR" sz="1200" dirty="0">
                  <a:cs typeface="Calibri" panose="020F0502020204030204" pitchFamily="34" charset="0"/>
                </a:rPr>
                <a:t>3</a:t>
              </a:r>
              <a:r>
                <a:rPr lang="ko-KR" altLang="en-US" sz="1200" dirty="0">
                  <a:cs typeface="Calibri" panose="020F0502020204030204" pitchFamily="34" charset="0"/>
                </a:rPr>
                <a:t>월 </a:t>
              </a:r>
              <a:r>
                <a:rPr lang="en-US" altLang="ko-KR" sz="1200" dirty="0">
                  <a:cs typeface="Calibri" panose="020F0502020204030204" pitchFamily="34" charset="0"/>
                </a:rPr>
                <a:t>13</a:t>
              </a:r>
              <a:r>
                <a:rPr lang="ko-KR" altLang="en-US" sz="1200" dirty="0">
                  <a:cs typeface="Calibri" panose="020F0502020204030204" pitchFamily="34" charset="0"/>
                </a:rPr>
                <a:t>일 기준</a:t>
              </a:r>
            </a:p>
          </p:txBody>
        </p: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C5E1226E-1950-5DA9-2EC4-378AB65EB741}"/>
                </a:ext>
              </a:extLst>
            </p:cNvPr>
            <p:cNvGrpSpPr/>
            <p:nvPr/>
          </p:nvGrpSpPr>
          <p:grpSpPr>
            <a:xfrm>
              <a:off x="2117813" y="2750588"/>
              <a:ext cx="475511" cy="462875"/>
              <a:chOff x="4659661" y="3266646"/>
              <a:chExt cx="588779" cy="541523"/>
            </a:xfrm>
          </p:grpSpPr>
          <p:sp>
            <p:nvSpPr>
              <p:cNvPr id="101" name="사각형: 둥근 모서리 100">
                <a:extLst>
                  <a:ext uri="{FF2B5EF4-FFF2-40B4-BE49-F238E27FC236}">
                    <a16:creationId xmlns:a16="http://schemas.microsoft.com/office/drawing/2014/main" id="{55E8732B-6FDD-3E67-398B-E71476DFFAF2}"/>
                  </a:ext>
                </a:extLst>
              </p:cNvPr>
              <p:cNvSpPr/>
              <p:nvPr/>
            </p:nvSpPr>
            <p:spPr>
              <a:xfrm>
                <a:off x="4659661" y="3266646"/>
                <a:ext cx="588779" cy="541523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9" name="그래픽 98" descr="달러 단색으로 채워진">
                <a:extLst>
                  <a:ext uri="{FF2B5EF4-FFF2-40B4-BE49-F238E27FC236}">
                    <a16:creationId xmlns:a16="http://schemas.microsoft.com/office/drawing/2014/main" id="{AD34CC38-0264-A837-A0D1-45197A668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4735893" y="3325455"/>
                <a:ext cx="442131" cy="424980"/>
              </a:xfrm>
              <a:prstGeom prst="rect">
                <a:avLst/>
              </a:prstGeom>
            </p:spPr>
          </p:pic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6635BDDE-0978-5329-6A79-221623C26E20}"/>
              </a:ext>
            </a:extLst>
          </p:cNvPr>
          <p:cNvGrpSpPr/>
          <p:nvPr/>
        </p:nvGrpSpPr>
        <p:grpSpPr>
          <a:xfrm>
            <a:off x="6362484" y="2183808"/>
            <a:ext cx="2682601" cy="814293"/>
            <a:chOff x="241663" y="2627267"/>
            <a:chExt cx="2547257" cy="814293"/>
          </a:xfrm>
        </p:grpSpPr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2B32950B-BEEA-0306-2567-E4272EF8C0CB}"/>
                </a:ext>
              </a:extLst>
            </p:cNvPr>
            <p:cNvSpPr/>
            <p:nvPr/>
          </p:nvSpPr>
          <p:spPr>
            <a:xfrm>
              <a:off x="241663" y="2627267"/>
              <a:ext cx="2547257" cy="81429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cs typeface="Calibri" panose="020F0502020204030204" pitchFamily="34" charset="0"/>
                </a:rPr>
                <a:t>예측 신뢰도</a:t>
              </a:r>
              <a:endParaRPr lang="en-US" altLang="ko-KR" sz="1400" dirty="0">
                <a:cs typeface="Calibri" panose="020F0502020204030204" pitchFamily="34" charset="0"/>
              </a:endParaRPr>
            </a:p>
            <a:p>
              <a:r>
                <a:rPr lang="en-US" altLang="ko-KR" b="1" dirty="0">
                  <a:cs typeface="Calibri" panose="020F0502020204030204" pitchFamily="34" charset="0"/>
                </a:rPr>
                <a:t>88%</a:t>
              </a:r>
              <a:endParaRPr lang="en-US" altLang="ko-KR" sz="2400" b="1" dirty="0">
                <a:cs typeface="Calibri" panose="020F0502020204030204" pitchFamily="34" charset="0"/>
              </a:endParaRPr>
            </a:p>
            <a:p>
              <a:r>
                <a:rPr lang="ko-KR" altLang="en-US" sz="1200" dirty="0">
                  <a:cs typeface="Calibri" panose="020F0502020204030204" pitchFamily="34" charset="0"/>
                </a:rPr>
                <a:t>날씨 데이터 연동</a:t>
              </a: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1128B4E9-1A30-3E77-A20A-A0C4361DDC6A}"/>
                </a:ext>
              </a:extLst>
            </p:cNvPr>
            <p:cNvGrpSpPr/>
            <p:nvPr/>
          </p:nvGrpSpPr>
          <p:grpSpPr>
            <a:xfrm>
              <a:off x="2117813" y="2750588"/>
              <a:ext cx="475511" cy="462875"/>
              <a:chOff x="4659661" y="3266646"/>
              <a:chExt cx="588779" cy="541523"/>
            </a:xfrm>
          </p:grpSpPr>
          <p:sp>
            <p:nvSpPr>
              <p:cNvPr id="123" name="사각형: 둥근 모서리 122">
                <a:extLst>
                  <a:ext uri="{FF2B5EF4-FFF2-40B4-BE49-F238E27FC236}">
                    <a16:creationId xmlns:a16="http://schemas.microsoft.com/office/drawing/2014/main" id="{8BF37F90-FEBA-63D2-1205-B03C4BA7FE6B}"/>
                  </a:ext>
                </a:extLst>
              </p:cNvPr>
              <p:cNvSpPr/>
              <p:nvPr/>
            </p:nvSpPr>
            <p:spPr>
              <a:xfrm>
                <a:off x="4659661" y="3266646"/>
                <a:ext cx="588779" cy="541523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4" name="그래픽 123" descr="구름 단색으로 채워진">
                <a:extLst>
                  <a:ext uri="{FF2B5EF4-FFF2-40B4-BE49-F238E27FC236}">
                    <a16:creationId xmlns:a16="http://schemas.microsoft.com/office/drawing/2014/main" id="{0E2F5557-EE03-BC45-F4E9-5B75E962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4735893" y="3329071"/>
                <a:ext cx="442131" cy="417746"/>
              </a:xfrm>
              <a:prstGeom prst="rect">
                <a:avLst/>
              </a:prstGeom>
            </p:spPr>
          </p:pic>
        </p:grp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78123FC6-F104-995B-D1B7-82AB7290A238}"/>
              </a:ext>
            </a:extLst>
          </p:cNvPr>
          <p:cNvGrpSpPr/>
          <p:nvPr/>
        </p:nvGrpSpPr>
        <p:grpSpPr>
          <a:xfrm>
            <a:off x="3312308" y="2183808"/>
            <a:ext cx="2791096" cy="814293"/>
            <a:chOff x="3304904" y="2627267"/>
            <a:chExt cx="2791096" cy="814293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079C6C84-8B1D-8E03-0E17-46D14984E916}"/>
                </a:ext>
              </a:extLst>
            </p:cNvPr>
            <p:cNvGrpSpPr/>
            <p:nvPr/>
          </p:nvGrpSpPr>
          <p:grpSpPr>
            <a:xfrm>
              <a:off x="3304904" y="2627267"/>
              <a:ext cx="2791096" cy="814293"/>
              <a:chOff x="241663" y="2627267"/>
              <a:chExt cx="2547257" cy="814293"/>
            </a:xfrm>
          </p:grpSpPr>
          <p:sp>
            <p:nvSpPr>
              <p:cNvPr id="116" name="사각형: 둥근 모서리 115">
                <a:extLst>
                  <a:ext uri="{FF2B5EF4-FFF2-40B4-BE49-F238E27FC236}">
                    <a16:creationId xmlns:a16="http://schemas.microsoft.com/office/drawing/2014/main" id="{F0AE8AEB-BFD5-6648-6F65-73E58609992B}"/>
                  </a:ext>
                </a:extLst>
              </p:cNvPr>
              <p:cNvSpPr/>
              <p:nvPr/>
            </p:nvSpPr>
            <p:spPr>
              <a:xfrm>
                <a:off x="241663" y="2627267"/>
                <a:ext cx="2547257" cy="814293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>
                    <a:cs typeface="Calibri" panose="020F0502020204030204" pitchFamily="34" charset="0"/>
                  </a:rPr>
                  <a:t>내일 예측 가격</a:t>
                </a:r>
                <a:endParaRPr lang="en-US" altLang="ko-KR" sz="1400" dirty="0">
                  <a:cs typeface="Calibri" panose="020F0502020204030204" pitchFamily="34" charset="0"/>
                </a:endParaRPr>
              </a:p>
              <a:p>
                <a:r>
                  <a:rPr lang="en-US" altLang="ko-KR" b="1" dirty="0">
                    <a:cs typeface="Calibri" panose="020F0502020204030204" pitchFamily="34" charset="0"/>
                  </a:rPr>
                  <a:t>10,600</a:t>
                </a:r>
                <a:r>
                  <a:rPr lang="ko-KR" altLang="en-US" b="1" dirty="0">
                    <a:cs typeface="Calibri" panose="020F0502020204030204" pitchFamily="34" charset="0"/>
                  </a:rPr>
                  <a:t>원</a:t>
                </a:r>
                <a:r>
                  <a:rPr lang="en-US" altLang="ko-KR" b="1" dirty="0">
                    <a:cs typeface="Calibri" panose="020F0502020204030204" pitchFamily="34" charset="0"/>
                  </a:rPr>
                  <a:t>/kg</a:t>
                </a:r>
              </a:p>
              <a:p>
                <a:r>
                  <a:rPr lang="en-US" altLang="ko-KR" sz="1200" dirty="0">
                    <a:solidFill>
                      <a:schemeClr val="accent6"/>
                    </a:solidFill>
                    <a:cs typeface="Calibri" panose="020F0502020204030204" pitchFamily="34" charset="0"/>
                  </a:rPr>
                  <a:t>+100</a:t>
                </a:r>
                <a:r>
                  <a:rPr lang="ko-KR" altLang="en-US" sz="1200" dirty="0">
                    <a:solidFill>
                      <a:schemeClr val="accent6"/>
                    </a:solidFill>
                    <a:cs typeface="Calibri" panose="020F0502020204030204" pitchFamily="34" charset="0"/>
                  </a:rPr>
                  <a:t>원</a:t>
                </a:r>
                <a:r>
                  <a:rPr lang="en-US" altLang="ko-KR" sz="1200" dirty="0">
                    <a:solidFill>
                      <a:schemeClr val="accent6"/>
                    </a:solidFill>
                    <a:cs typeface="Calibri" panose="020F0502020204030204" pitchFamily="34" charset="0"/>
                  </a:rPr>
                  <a:t>(1.0%)</a:t>
                </a:r>
              </a:p>
            </p:txBody>
          </p:sp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AE74164F-9DEF-436C-09C6-889D6D532E6D}"/>
                  </a:ext>
                </a:extLst>
              </p:cNvPr>
              <p:cNvSpPr/>
              <p:nvPr/>
            </p:nvSpPr>
            <p:spPr>
              <a:xfrm>
                <a:off x="2117813" y="2750587"/>
                <a:ext cx="475511" cy="46287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25" name="자유형: 도형 124">
              <a:extLst>
                <a:ext uri="{FF2B5EF4-FFF2-40B4-BE49-F238E27FC236}">
                  <a16:creationId xmlns:a16="http://schemas.microsoft.com/office/drawing/2014/main" id="{5A79C498-FA32-DE38-2E0A-B6151CFD21DE}"/>
                </a:ext>
              </a:extLst>
            </p:cNvPr>
            <p:cNvSpPr/>
            <p:nvPr/>
          </p:nvSpPr>
          <p:spPr>
            <a:xfrm>
              <a:off x="5414278" y="2858138"/>
              <a:ext cx="348702" cy="292738"/>
            </a:xfrm>
            <a:custGeom>
              <a:avLst/>
              <a:gdLst>
                <a:gd name="csX0" fmla="*/ 401003 w 553402"/>
                <a:gd name="csY0" fmla="*/ 0 h 324802"/>
                <a:gd name="csX1" fmla="*/ 457200 w 553402"/>
                <a:gd name="csY1" fmla="*/ 56198 h 324802"/>
                <a:gd name="csX2" fmla="*/ 381953 w 553402"/>
                <a:gd name="csY2" fmla="*/ 131445 h 324802"/>
                <a:gd name="csX3" fmla="*/ 324803 w 553402"/>
                <a:gd name="csY3" fmla="*/ 74295 h 324802"/>
                <a:gd name="csX4" fmla="*/ 229553 w 553402"/>
                <a:gd name="csY4" fmla="*/ 169545 h 324802"/>
                <a:gd name="csX5" fmla="*/ 172403 w 553402"/>
                <a:gd name="csY5" fmla="*/ 112395 h 324802"/>
                <a:gd name="csX6" fmla="*/ 0 w 553402"/>
                <a:gd name="csY6" fmla="*/ 284798 h 324802"/>
                <a:gd name="csX7" fmla="*/ 40005 w 553402"/>
                <a:gd name="csY7" fmla="*/ 324803 h 324802"/>
                <a:gd name="csX8" fmla="*/ 172403 w 553402"/>
                <a:gd name="csY8" fmla="*/ 192405 h 324802"/>
                <a:gd name="csX9" fmla="*/ 229553 w 553402"/>
                <a:gd name="csY9" fmla="*/ 249555 h 324802"/>
                <a:gd name="csX10" fmla="*/ 324803 w 553402"/>
                <a:gd name="csY10" fmla="*/ 154305 h 324802"/>
                <a:gd name="csX11" fmla="*/ 381953 w 553402"/>
                <a:gd name="csY11" fmla="*/ 211455 h 324802"/>
                <a:gd name="csX12" fmla="*/ 497205 w 553402"/>
                <a:gd name="csY12" fmla="*/ 96202 h 324802"/>
                <a:gd name="csX13" fmla="*/ 553403 w 553402"/>
                <a:gd name="csY13" fmla="*/ 152400 h 324802"/>
                <a:gd name="csX14" fmla="*/ 553403 w 553402"/>
                <a:gd name="csY14" fmla="*/ 0 h 32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53402" h="324802">
                  <a:moveTo>
                    <a:pt x="401003" y="0"/>
                  </a:moveTo>
                  <a:lnTo>
                    <a:pt x="457200" y="56198"/>
                  </a:lnTo>
                  <a:lnTo>
                    <a:pt x="381953" y="131445"/>
                  </a:lnTo>
                  <a:lnTo>
                    <a:pt x="324803" y="74295"/>
                  </a:lnTo>
                  <a:lnTo>
                    <a:pt x="229553" y="169545"/>
                  </a:lnTo>
                  <a:lnTo>
                    <a:pt x="172403" y="112395"/>
                  </a:lnTo>
                  <a:lnTo>
                    <a:pt x="0" y="284798"/>
                  </a:lnTo>
                  <a:lnTo>
                    <a:pt x="40005" y="324803"/>
                  </a:lnTo>
                  <a:lnTo>
                    <a:pt x="172403" y="192405"/>
                  </a:lnTo>
                  <a:lnTo>
                    <a:pt x="229553" y="249555"/>
                  </a:lnTo>
                  <a:lnTo>
                    <a:pt x="324803" y="154305"/>
                  </a:lnTo>
                  <a:lnTo>
                    <a:pt x="381953" y="211455"/>
                  </a:lnTo>
                  <a:lnTo>
                    <a:pt x="497205" y="96202"/>
                  </a:lnTo>
                  <a:lnTo>
                    <a:pt x="553403" y="152400"/>
                  </a:lnTo>
                  <a:lnTo>
                    <a:pt x="553403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>
              <a:noAutofit/>
            </a:bodyPr>
            <a:lstStyle/>
            <a:p>
              <a:endParaRPr lang="ko-KR" altLang="en-US" sz="1600" dirty="0"/>
            </a:p>
          </p:txBody>
        </p:sp>
      </p:grpSp>
      <p:pic>
        <p:nvPicPr>
          <p:cNvPr id="131" name="그림 130" descr="The image displays a line graph showing the predicted and historical prices of a commodity, with confidence intervals over time.&#10;&#10;AI 생성 콘텐츠는 정확하지 않을 수 있습니다.">
            <a:extLst>
              <a:ext uri="{FF2B5EF4-FFF2-40B4-BE49-F238E27FC236}">
                <a16:creationId xmlns:a16="http://schemas.microsoft.com/office/drawing/2014/main" id="{C8C6A622-31F6-6E3E-7070-DA66D32AE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08" y="3105652"/>
            <a:ext cx="8647113" cy="3595149"/>
          </a:xfrm>
          <a:prstGeom prst="rect">
            <a:avLst/>
          </a:prstGeom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3C22FD29-79A0-81E9-E3B6-6EC36BC3D1D2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508B97E3-4C29-C1D0-2062-419736368DB6}"/>
              </a:ext>
            </a:extLst>
          </p:cNvPr>
          <p:cNvSpPr/>
          <p:nvPr/>
        </p:nvSpPr>
        <p:spPr>
          <a:xfrm>
            <a:off x="34729" y="63373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6517A4ED-30AE-A97E-97C6-13E66DD06667}"/>
              </a:ext>
            </a:extLst>
          </p:cNvPr>
          <p:cNvSpPr/>
          <p:nvPr/>
        </p:nvSpPr>
        <p:spPr>
          <a:xfrm>
            <a:off x="34729" y="123230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３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DF4F69F-D228-056B-88E0-9796A87A2BA1}"/>
              </a:ext>
            </a:extLst>
          </p:cNvPr>
          <p:cNvSpPr/>
          <p:nvPr/>
        </p:nvSpPr>
        <p:spPr>
          <a:xfrm>
            <a:off x="7703784" y="124542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４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1FDEBF6-FAC2-093D-E249-692C5C89D171}"/>
              </a:ext>
            </a:extLst>
          </p:cNvPr>
          <p:cNvSpPr/>
          <p:nvPr/>
        </p:nvSpPr>
        <p:spPr>
          <a:xfrm>
            <a:off x="75792" y="209896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５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AC417422-EFDA-F675-0B2A-F9B8F42A8DE7}"/>
              </a:ext>
            </a:extLst>
          </p:cNvPr>
          <p:cNvSpPr/>
          <p:nvPr/>
        </p:nvSpPr>
        <p:spPr>
          <a:xfrm>
            <a:off x="3194326" y="208981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６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8C03C94B-89C7-EB09-830A-33587DC1B407}"/>
              </a:ext>
            </a:extLst>
          </p:cNvPr>
          <p:cNvSpPr/>
          <p:nvPr/>
        </p:nvSpPr>
        <p:spPr>
          <a:xfrm>
            <a:off x="6227743" y="209896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７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F22B280D-DC34-D815-F19E-50DFC0E66303}"/>
              </a:ext>
            </a:extLst>
          </p:cNvPr>
          <p:cNvSpPr/>
          <p:nvPr/>
        </p:nvSpPr>
        <p:spPr>
          <a:xfrm>
            <a:off x="290828" y="321976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８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47711258-F598-0E4C-86EE-E17FD774FB0F}"/>
              </a:ext>
            </a:extLst>
          </p:cNvPr>
          <p:cNvSpPr/>
          <p:nvPr/>
        </p:nvSpPr>
        <p:spPr>
          <a:xfrm>
            <a:off x="281678" y="3675738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９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99900E4-CFA1-A929-FFDF-40176F096A17}"/>
              </a:ext>
            </a:extLst>
          </p:cNvPr>
          <p:cNvSpPr/>
          <p:nvPr/>
        </p:nvSpPr>
        <p:spPr>
          <a:xfrm>
            <a:off x="293098" y="5786333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6290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06032-24A3-37AE-9402-5990E4B99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4B9FADA-2AEB-477A-84C5-152B2BBB2540}"/>
              </a:ext>
            </a:extLst>
          </p:cNvPr>
          <p:cNvCxnSpPr>
            <a:cxnSpLocks/>
          </p:cNvCxnSpPr>
          <p:nvPr/>
        </p:nvCxnSpPr>
        <p:spPr>
          <a:xfrm>
            <a:off x="293914" y="577970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32F122B-CDED-1DB2-2A36-70F9C95035CE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32C1C1A-A3A1-8FC0-D275-73EF384BE525}"/>
              </a:ext>
            </a:extLst>
          </p:cNvPr>
          <p:cNvSpPr txBox="1"/>
          <p:nvPr/>
        </p:nvSpPr>
        <p:spPr>
          <a:xfrm>
            <a:off x="9285828" y="175384"/>
            <a:ext cx="28050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DataAnalysis.html</a:t>
            </a:r>
          </a:p>
          <a:p>
            <a:endParaRPr lang="en-US" altLang="ko-KR" sz="1200" dirty="0"/>
          </a:p>
          <a:p>
            <a:r>
              <a:rPr lang="en-US" altLang="ko-KR" sz="1200" dirty="0"/>
              <a:t>11. </a:t>
            </a:r>
            <a:r>
              <a:rPr lang="ko-KR" altLang="en-US" sz="1200" dirty="0"/>
              <a:t>날씨 요인이 가격 예측에 미치는         영향을 분석하여 보여준다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12. </a:t>
            </a:r>
            <a:r>
              <a:rPr lang="ko-KR" altLang="en-US" sz="1200" dirty="0"/>
              <a:t>처음 설정했던 예측기간에 맞춰서</a:t>
            </a:r>
            <a:r>
              <a:rPr lang="en-US" altLang="ko-KR" sz="1200" dirty="0"/>
              <a:t>, </a:t>
            </a:r>
            <a:r>
              <a:rPr lang="ko-KR" altLang="en-US" sz="1200" dirty="0"/>
              <a:t>최적의 출하시기를 추천해준다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13. </a:t>
            </a:r>
            <a:r>
              <a:rPr lang="ko-KR" altLang="en-US" sz="1200" dirty="0"/>
              <a:t>주간 단위로 시장 동향을 보여준다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14. </a:t>
            </a:r>
            <a:r>
              <a:rPr lang="ko-KR" altLang="en-US" sz="1200" dirty="0"/>
              <a:t>월간 단위로 출하시기를 추천해준다</a:t>
            </a:r>
            <a:r>
              <a:rPr lang="en-US" altLang="ko-KR" sz="1200" dirty="0"/>
              <a:t>.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9F785C3-3D76-C2C7-A9FA-DD440F99ED12}"/>
              </a:ext>
            </a:extLst>
          </p:cNvPr>
          <p:cNvGrpSpPr/>
          <p:nvPr/>
        </p:nvGrpSpPr>
        <p:grpSpPr>
          <a:xfrm>
            <a:off x="241663" y="91390"/>
            <a:ext cx="8835996" cy="412890"/>
            <a:chOff x="241663" y="91389"/>
            <a:chExt cx="8835996" cy="5421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CADC53-993D-9DE8-F57D-9B7EB3CBF84B}"/>
                </a:ext>
              </a:extLst>
            </p:cNvPr>
            <p:cNvSpPr txBox="1"/>
            <p:nvPr/>
          </p:nvSpPr>
          <p:spPr>
            <a:xfrm>
              <a:off x="874648" y="177802"/>
              <a:ext cx="1966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딸기 </a:t>
              </a:r>
              <a:r>
                <a:rPr lang="ko-KR" altLang="en-US" dirty="0" err="1"/>
                <a:t>스마트팜</a:t>
              </a:r>
              <a:r>
                <a:rPr lang="ko-KR" altLang="en-US" dirty="0"/>
                <a:t> </a:t>
              </a:r>
              <a:r>
                <a:rPr lang="en-US" altLang="ko-KR" dirty="0"/>
                <a:t>AI</a:t>
              </a:r>
              <a:endParaRPr lang="ko-KR" altLang="en-US" dirty="0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CE188C32-37DC-DE9A-6C77-733E5D678985}"/>
                </a:ext>
              </a:extLst>
            </p:cNvPr>
            <p:cNvGrpSpPr/>
            <p:nvPr/>
          </p:nvGrpSpPr>
          <p:grpSpPr>
            <a:xfrm>
              <a:off x="2954235" y="199611"/>
              <a:ext cx="3819754" cy="307777"/>
              <a:chOff x="4065917" y="301284"/>
              <a:chExt cx="3819754" cy="30777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C30701-AF75-E077-D56E-8B8FDB408B35}"/>
                  </a:ext>
                </a:extLst>
              </p:cNvPr>
              <p:cNvSpPr txBox="1"/>
              <p:nvPr/>
            </p:nvSpPr>
            <p:spPr>
              <a:xfrm>
                <a:off x="5316748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데이터분석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806CDC-D46E-F25E-5277-93E0363DA50A}"/>
                  </a:ext>
                </a:extLst>
              </p:cNvPr>
              <p:cNvSpPr txBox="1"/>
              <p:nvPr/>
            </p:nvSpPr>
            <p:spPr>
              <a:xfrm>
                <a:off x="6493943" y="301284"/>
                <a:ext cx="1391728" cy="30777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가격 예측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77F276-88AC-8396-52B4-B85EFAA79F5D}"/>
                  </a:ext>
                </a:extLst>
              </p:cNvPr>
              <p:cNvSpPr txBox="1"/>
              <p:nvPr/>
            </p:nvSpPr>
            <p:spPr>
              <a:xfrm>
                <a:off x="4065917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대시보드</a:t>
                </a: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83290D9-2EC5-9C00-46EC-F209F7A7A1AB}"/>
                </a:ext>
              </a:extLst>
            </p:cNvPr>
            <p:cNvSpPr/>
            <p:nvPr/>
          </p:nvSpPr>
          <p:spPr>
            <a:xfrm>
              <a:off x="8176402" y="193591"/>
              <a:ext cx="901257" cy="34633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로그아웃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0BEA9FE-3773-2B1E-EED1-23785FE33182}"/>
                </a:ext>
              </a:extLst>
            </p:cNvPr>
            <p:cNvSpPr/>
            <p:nvPr/>
          </p:nvSpPr>
          <p:spPr>
            <a:xfrm>
              <a:off x="241663" y="91389"/>
              <a:ext cx="653330" cy="5421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55DCB33-7C30-154D-46BD-E1946F3C3B0F}"/>
                </a:ext>
              </a:extLst>
            </p:cNvPr>
            <p:cNvSpPr txBox="1"/>
            <p:nvPr/>
          </p:nvSpPr>
          <p:spPr>
            <a:xfrm>
              <a:off x="7276011" y="199611"/>
              <a:ext cx="9003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홍길동님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20C0E93-E2E1-1E35-2D59-D01A04E818C4}"/>
              </a:ext>
            </a:extLst>
          </p:cNvPr>
          <p:cNvGrpSpPr/>
          <p:nvPr/>
        </p:nvGrpSpPr>
        <p:grpSpPr>
          <a:xfrm>
            <a:off x="241663" y="674049"/>
            <a:ext cx="2580995" cy="412890"/>
            <a:chOff x="241663" y="624184"/>
            <a:chExt cx="2580995" cy="41289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D1361BB-935A-CBC0-8992-DB3AB377A2DF}"/>
                </a:ext>
              </a:extLst>
            </p:cNvPr>
            <p:cNvSpPr txBox="1"/>
            <p:nvPr/>
          </p:nvSpPr>
          <p:spPr>
            <a:xfrm>
              <a:off x="654553" y="661352"/>
              <a:ext cx="21681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날씨 영향 분석</a:t>
              </a:r>
            </a:p>
          </p:txBody>
        </p:sp>
        <p:pic>
          <p:nvPicPr>
            <p:cNvPr id="4" name="그래픽 3" descr="구름 단색으로 채워진">
              <a:extLst>
                <a:ext uri="{FF2B5EF4-FFF2-40B4-BE49-F238E27FC236}">
                  <a16:creationId xmlns:a16="http://schemas.microsoft.com/office/drawing/2014/main" id="{24DCAD4A-5A38-4C0E-CD72-7129089B8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663" y="624184"/>
              <a:ext cx="412890" cy="412890"/>
            </a:xfrm>
            <a:prstGeom prst="rect">
              <a:avLst/>
            </a:prstGeom>
          </p:spPr>
        </p:pic>
      </p:grp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C34E9241-3874-9B51-3ED0-52BA69B18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632576"/>
              </p:ext>
            </p:extLst>
          </p:nvPr>
        </p:nvGraphicFramePr>
        <p:xfrm>
          <a:off x="293914" y="1037074"/>
          <a:ext cx="8334414" cy="2275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E9024AEC-67E6-8381-30A6-AEFB17D0CA30}"/>
              </a:ext>
            </a:extLst>
          </p:cNvPr>
          <p:cNvGrpSpPr/>
          <p:nvPr/>
        </p:nvGrpSpPr>
        <p:grpSpPr>
          <a:xfrm>
            <a:off x="305851" y="3376181"/>
            <a:ext cx="2516807" cy="338554"/>
            <a:chOff x="305851" y="3661451"/>
            <a:chExt cx="2516807" cy="33855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B314A5-05EE-C890-958E-10C4F36C49AC}"/>
                </a:ext>
              </a:extLst>
            </p:cNvPr>
            <p:cNvSpPr txBox="1"/>
            <p:nvPr/>
          </p:nvSpPr>
          <p:spPr>
            <a:xfrm>
              <a:off x="654553" y="3661451"/>
              <a:ext cx="21681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출하 추천</a:t>
              </a: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4A865D9B-EB9C-61B1-05E9-F279DF54F20F}"/>
                </a:ext>
              </a:extLst>
            </p:cNvPr>
            <p:cNvSpPr/>
            <p:nvPr/>
          </p:nvSpPr>
          <p:spPr>
            <a:xfrm>
              <a:off x="305851" y="3684359"/>
              <a:ext cx="348702" cy="292738"/>
            </a:xfrm>
            <a:custGeom>
              <a:avLst/>
              <a:gdLst>
                <a:gd name="csX0" fmla="*/ 401003 w 553402"/>
                <a:gd name="csY0" fmla="*/ 0 h 324802"/>
                <a:gd name="csX1" fmla="*/ 457200 w 553402"/>
                <a:gd name="csY1" fmla="*/ 56198 h 324802"/>
                <a:gd name="csX2" fmla="*/ 381953 w 553402"/>
                <a:gd name="csY2" fmla="*/ 131445 h 324802"/>
                <a:gd name="csX3" fmla="*/ 324803 w 553402"/>
                <a:gd name="csY3" fmla="*/ 74295 h 324802"/>
                <a:gd name="csX4" fmla="*/ 229553 w 553402"/>
                <a:gd name="csY4" fmla="*/ 169545 h 324802"/>
                <a:gd name="csX5" fmla="*/ 172403 w 553402"/>
                <a:gd name="csY5" fmla="*/ 112395 h 324802"/>
                <a:gd name="csX6" fmla="*/ 0 w 553402"/>
                <a:gd name="csY6" fmla="*/ 284798 h 324802"/>
                <a:gd name="csX7" fmla="*/ 40005 w 553402"/>
                <a:gd name="csY7" fmla="*/ 324803 h 324802"/>
                <a:gd name="csX8" fmla="*/ 172403 w 553402"/>
                <a:gd name="csY8" fmla="*/ 192405 h 324802"/>
                <a:gd name="csX9" fmla="*/ 229553 w 553402"/>
                <a:gd name="csY9" fmla="*/ 249555 h 324802"/>
                <a:gd name="csX10" fmla="*/ 324803 w 553402"/>
                <a:gd name="csY10" fmla="*/ 154305 h 324802"/>
                <a:gd name="csX11" fmla="*/ 381953 w 553402"/>
                <a:gd name="csY11" fmla="*/ 211455 h 324802"/>
                <a:gd name="csX12" fmla="*/ 497205 w 553402"/>
                <a:gd name="csY12" fmla="*/ 96202 h 324802"/>
                <a:gd name="csX13" fmla="*/ 553403 w 553402"/>
                <a:gd name="csY13" fmla="*/ 152400 h 324802"/>
                <a:gd name="csX14" fmla="*/ 553403 w 553402"/>
                <a:gd name="csY14" fmla="*/ 0 h 32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53402" h="324802">
                  <a:moveTo>
                    <a:pt x="401003" y="0"/>
                  </a:moveTo>
                  <a:lnTo>
                    <a:pt x="457200" y="56198"/>
                  </a:lnTo>
                  <a:lnTo>
                    <a:pt x="381953" y="131445"/>
                  </a:lnTo>
                  <a:lnTo>
                    <a:pt x="324803" y="74295"/>
                  </a:lnTo>
                  <a:lnTo>
                    <a:pt x="229553" y="169545"/>
                  </a:lnTo>
                  <a:lnTo>
                    <a:pt x="172403" y="112395"/>
                  </a:lnTo>
                  <a:lnTo>
                    <a:pt x="0" y="284798"/>
                  </a:lnTo>
                  <a:lnTo>
                    <a:pt x="40005" y="324803"/>
                  </a:lnTo>
                  <a:lnTo>
                    <a:pt x="172403" y="192405"/>
                  </a:lnTo>
                  <a:lnTo>
                    <a:pt x="229553" y="249555"/>
                  </a:lnTo>
                  <a:lnTo>
                    <a:pt x="324803" y="154305"/>
                  </a:lnTo>
                  <a:lnTo>
                    <a:pt x="381953" y="211455"/>
                  </a:lnTo>
                  <a:lnTo>
                    <a:pt x="497205" y="96202"/>
                  </a:lnTo>
                  <a:lnTo>
                    <a:pt x="553403" y="152400"/>
                  </a:lnTo>
                  <a:lnTo>
                    <a:pt x="553403" y="0"/>
                  </a:lnTo>
                  <a:close/>
                </a:path>
              </a:pathLst>
            </a:custGeom>
            <a:solidFill>
              <a:srgbClr val="C00000"/>
            </a:solidFill>
            <a:ln w="9525" cap="flat">
              <a:noFill/>
              <a:prstDash val="solid"/>
              <a:miter/>
            </a:ln>
          </p:spPr>
          <p:txBody>
            <a:bodyPr>
              <a:noAutofit/>
            </a:bodyPr>
            <a:lstStyle/>
            <a:p>
              <a:endParaRPr lang="ko-KR" altLang="en-US" sz="16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57FAD45-5C91-E837-428C-BFA50119DC1A}"/>
              </a:ext>
            </a:extLst>
          </p:cNvPr>
          <p:cNvGrpSpPr/>
          <p:nvPr/>
        </p:nvGrpSpPr>
        <p:grpSpPr>
          <a:xfrm>
            <a:off x="305851" y="3801281"/>
            <a:ext cx="8409496" cy="809892"/>
            <a:chOff x="349149" y="4075610"/>
            <a:chExt cx="8409496" cy="809892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861BA2CC-E68A-43DA-75FB-2EF5328C371B}"/>
                </a:ext>
              </a:extLst>
            </p:cNvPr>
            <p:cNvSpPr/>
            <p:nvPr/>
          </p:nvSpPr>
          <p:spPr>
            <a:xfrm>
              <a:off x="349149" y="4075610"/>
              <a:ext cx="8409496" cy="809892"/>
            </a:xfrm>
            <a:prstGeom prst="roundRect">
              <a:avLst/>
            </a:prstGeom>
            <a:grp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b="1" dirty="0"/>
                <a:t>최적 출하 시기</a:t>
              </a:r>
              <a:endParaRPr lang="en-US" altLang="ko-KR" b="1" dirty="0"/>
            </a:p>
            <a:p>
              <a:endParaRPr lang="en-US" altLang="ko-KR" sz="500" dirty="0"/>
            </a:p>
            <a:p>
              <a:r>
                <a:rPr lang="en-US" altLang="ko-KR" sz="1600" dirty="0"/>
                <a:t>2026</a:t>
              </a:r>
              <a:r>
                <a:rPr lang="ko-KR" altLang="en-US" sz="1600" dirty="0"/>
                <a:t>년 </a:t>
              </a:r>
              <a:r>
                <a:rPr lang="en-US" altLang="ko-KR" sz="1600" dirty="0"/>
                <a:t>3</a:t>
              </a:r>
              <a:r>
                <a:rPr lang="ko-KR" altLang="en-US" sz="1600" dirty="0"/>
                <a:t>월 </a:t>
              </a:r>
              <a:r>
                <a:rPr lang="en-US" altLang="ko-KR" sz="1600" dirty="0"/>
                <a:t>16</a:t>
              </a:r>
              <a:r>
                <a:rPr lang="ko-KR" altLang="en-US" sz="1600" dirty="0"/>
                <a:t>일 </a:t>
              </a:r>
              <a:r>
                <a:rPr lang="en-US" altLang="ko-KR" sz="1600" dirty="0"/>
                <a:t>– 3</a:t>
              </a:r>
              <a:r>
                <a:rPr lang="ko-KR" altLang="en-US" sz="1600" dirty="0"/>
                <a:t>월 </a:t>
              </a:r>
              <a:r>
                <a:rPr lang="en-US" altLang="ko-KR" sz="1600" dirty="0"/>
                <a:t>17</a:t>
              </a:r>
              <a:r>
                <a:rPr lang="ko-KR" altLang="en-US" sz="1600" dirty="0"/>
                <a:t>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DCD2FC-997C-3C38-6F5D-71CBF4411C7F}"/>
                </a:ext>
              </a:extLst>
            </p:cNvPr>
            <p:cNvSpPr txBox="1"/>
            <p:nvPr/>
          </p:nvSpPr>
          <p:spPr>
            <a:xfrm>
              <a:off x="6994173" y="4157391"/>
              <a:ext cx="1632857" cy="64633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/>
                <a:t>예상 가격</a:t>
              </a:r>
              <a:endParaRPr lang="en-US" altLang="ko-KR" dirty="0"/>
            </a:p>
            <a:p>
              <a:pPr algn="r"/>
              <a:r>
                <a:rPr lang="en-US" altLang="ko-KR" b="1" dirty="0"/>
                <a:t>10,750</a:t>
              </a:r>
              <a:r>
                <a:rPr lang="ko-KR" altLang="en-US" b="1" dirty="0"/>
                <a:t>원</a:t>
              </a:r>
              <a:r>
                <a:rPr lang="en-US" altLang="ko-KR" b="1" dirty="0"/>
                <a:t>/kg</a:t>
              </a:r>
              <a:endParaRPr lang="ko-KR" altLang="en-US" b="1" dirty="0"/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B06FB9A-B567-651A-96DF-EBC9B27A854C}"/>
              </a:ext>
            </a:extLst>
          </p:cNvPr>
          <p:cNvSpPr/>
          <p:nvPr/>
        </p:nvSpPr>
        <p:spPr>
          <a:xfrm>
            <a:off x="305851" y="4811103"/>
            <a:ext cx="8409496" cy="8098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/>
              <a:t>시장 동향</a:t>
            </a:r>
            <a:r>
              <a:rPr lang="en-US" altLang="ko-KR" dirty="0"/>
              <a:t>: </a:t>
            </a:r>
            <a:r>
              <a:rPr lang="ko-KR" altLang="en-US" sz="1600" dirty="0"/>
              <a:t>다음 주 날씨가 맑을 것으로 예상되어 딸기 당도가 높아질 것입니다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	   </a:t>
            </a:r>
            <a:r>
              <a:rPr lang="ko-KR" altLang="en-US" sz="1600" dirty="0"/>
              <a:t>고품질 딸기는 프리미엄 가격을 받을 수 있습니다</a:t>
            </a:r>
            <a:r>
              <a:rPr lang="en-US" altLang="ko-KR" sz="1600" dirty="0"/>
              <a:t>.</a:t>
            </a:r>
            <a:endParaRPr lang="en-US" altLang="ko-KR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261239D-0792-E920-9A13-ADB95652DA9D}"/>
              </a:ext>
            </a:extLst>
          </p:cNvPr>
          <p:cNvSpPr/>
          <p:nvPr/>
        </p:nvSpPr>
        <p:spPr>
          <a:xfrm>
            <a:off x="305851" y="5820926"/>
            <a:ext cx="8409496" cy="809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/>
              <a:t>장기 전략</a:t>
            </a:r>
            <a:r>
              <a:rPr lang="en-US" altLang="ko-KR" dirty="0"/>
              <a:t>: </a:t>
            </a:r>
            <a:r>
              <a:rPr lang="en-US" altLang="ko-KR" sz="1600" dirty="0"/>
              <a:t>3-4</a:t>
            </a:r>
            <a:r>
              <a:rPr lang="ko-KR" altLang="en-US" sz="1600" dirty="0"/>
              <a:t>월 가격이 가장 높은 시기입니다</a:t>
            </a:r>
            <a:r>
              <a:rPr lang="en-US" altLang="ko-KR" sz="1600" dirty="0"/>
              <a:t>. </a:t>
            </a:r>
            <a:r>
              <a:rPr lang="ko-KR" altLang="en-US" sz="1600" dirty="0"/>
              <a:t>품질 관리를 철저히 하여 이 시기에 집</a:t>
            </a:r>
            <a:r>
              <a:rPr lang="en-US" altLang="ko-KR" sz="1600" dirty="0"/>
              <a:t>	   </a:t>
            </a:r>
            <a:r>
              <a:rPr lang="ko-KR" altLang="en-US" sz="1600" dirty="0"/>
              <a:t>중 출하하면 최대 수익을 얻을 수 있습니다</a:t>
            </a:r>
            <a:r>
              <a:rPr lang="en-US" altLang="ko-KR" sz="1600" dirty="0"/>
              <a:t>.</a:t>
            </a:r>
            <a:endParaRPr lang="en-US" altLang="ko-KR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C07853B-F6B1-24DC-7DF0-D228A6C291F5}"/>
              </a:ext>
            </a:extLst>
          </p:cNvPr>
          <p:cNvSpPr/>
          <p:nvPr/>
        </p:nvSpPr>
        <p:spPr>
          <a:xfrm>
            <a:off x="36265" y="598907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D24FBD-86B7-A347-791E-8DE2217BC922}"/>
              </a:ext>
            </a:extLst>
          </p:cNvPr>
          <p:cNvSpPr/>
          <p:nvPr/>
        </p:nvSpPr>
        <p:spPr>
          <a:xfrm>
            <a:off x="21279" y="3717867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12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C91ACEE-5E40-8F4C-1910-E4BA6E4B8ABF}"/>
              </a:ext>
            </a:extLst>
          </p:cNvPr>
          <p:cNvSpPr/>
          <p:nvPr/>
        </p:nvSpPr>
        <p:spPr>
          <a:xfrm>
            <a:off x="36265" y="4788280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13</a:t>
            </a:r>
            <a:endParaRPr lang="ko-KR" altLang="en-US" sz="16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B939540-D5EA-AB41-BFCB-BBB915D3A175}"/>
              </a:ext>
            </a:extLst>
          </p:cNvPr>
          <p:cNvSpPr/>
          <p:nvPr/>
        </p:nvSpPr>
        <p:spPr>
          <a:xfrm>
            <a:off x="21279" y="5803482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14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99994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6422162-3CEA-5FE5-A9D4-69D07836F10B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E0E874-4E99-3AE8-4B78-A696F72BD1D1}"/>
              </a:ext>
            </a:extLst>
          </p:cNvPr>
          <p:cNvSpPr/>
          <p:nvPr/>
        </p:nvSpPr>
        <p:spPr>
          <a:xfrm>
            <a:off x="2220781" y="102440"/>
            <a:ext cx="4871048" cy="6537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EA84B-41DD-EB39-1455-FEB3FF1E60CC}"/>
              </a:ext>
            </a:extLst>
          </p:cNvPr>
          <p:cNvSpPr txBox="1"/>
          <p:nvPr/>
        </p:nvSpPr>
        <p:spPr>
          <a:xfrm>
            <a:off x="2651182" y="461020"/>
            <a:ext cx="3985403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로그인</a:t>
            </a:r>
            <a:endParaRPr lang="en-US" altLang="ko-KR" sz="2000" b="1" dirty="0"/>
          </a:p>
          <a:p>
            <a:pPr algn="ctr"/>
            <a:endParaRPr lang="en-US" altLang="ko-KR" sz="1050" b="1" dirty="0"/>
          </a:p>
          <a:p>
            <a:pPr algn="ctr"/>
            <a:r>
              <a:rPr lang="ko-KR" altLang="en-US" sz="1400" dirty="0"/>
              <a:t>계정에 로그인하여 서비스를 이용하세요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8F0DF9A-5551-A3EB-7FDD-A5FD5341E04B}"/>
              </a:ext>
            </a:extLst>
          </p:cNvPr>
          <p:cNvGrpSpPr/>
          <p:nvPr/>
        </p:nvGrpSpPr>
        <p:grpSpPr>
          <a:xfrm>
            <a:off x="2427676" y="1422606"/>
            <a:ext cx="4338884" cy="1514331"/>
            <a:chOff x="2427676" y="1722306"/>
            <a:chExt cx="4338884" cy="1514331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02752EA-5587-5EC4-E2B0-7067B636F9AB}"/>
                </a:ext>
              </a:extLst>
            </p:cNvPr>
            <p:cNvGrpSpPr/>
            <p:nvPr/>
          </p:nvGrpSpPr>
          <p:grpSpPr>
            <a:xfrm>
              <a:off x="2461739" y="1722306"/>
              <a:ext cx="4304821" cy="713924"/>
              <a:chOff x="2454100" y="2613160"/>
              <a:chExt cx="4164744" cy="75353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DC611A-7CC3-A7D5-C092-ECB02DFB9651}"/>
                  </a:ext>
                </a:extLst>
              </p:cNvPr>
              <p:cNvSpPr txBox="1"/>
              <p:nvPr/>
            </p:nvSpPr>
            <p:spPr>
              <a:xfrm>
                <a:off x="2454100" y="2613160"/>
                <a:ext cx="1138687" cy="324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아이디</a:t>
                </a: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E20865BD-2040-CFF2-FF00-2DF9B1B7CF75}"/>
                  </a:ext>
                </a:extLst>
              </p:cNvPr>
              <p:cNvSpPr/>
              <p:nvPr/>
            </p:nvSpPr>
            <p:spPr>
              <a:xfrm>
                <a:off x="2535674" y="2916688"/>
                <a:ext cx="4083170" cy="45001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ko-KR" sz="1200" dirty="0">
                    <a:solidFill>
                      <a:schemeClr val="dk1">
                        <a:alpha val="50000"/>
                      </a:schemeClr>
                    </a:solidFill>
                  </a:rPr>
                  <a:t>example@email.com</a:t>
                </a:r>
                <a:endParaRPr lang="ko-KR" altLang="en-US" sz="1200" dirty="0">
                  <a:solidFill>
                    <a:schemeClr val="dk1">
                      <a:alpha val="50000"/>
                    </a:schemeClr>
                  </a:solidFill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4E6F6C9-247A-FFA1-0F4D-CD753699A7C4}"/>
                </a:ext>
              </a:extLst>
            </p:cNvPr>
            <p:cNvGrpSpPr/>
            <p:nvPr/>
          </p:nvGrpSpPr>
          <p:grpSpPr>
            <a:xfrm>
              <a:off x="2427676" y="2559053"/>
              <a:ext cx="4338883" cy="677584"/>
              <a:chOff x="2427676" y="2559053"/>
              <a:chExt cx="4338883" cy="67758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62A352-B5FF-7CB5-BFE9-0A9633AC9E66}"/>
                  </a:ext>
                </a:extLst>
              </p:cNvPr>
              <p:cNvSpPr txBox="1"/>
              <p:nvPr/>
            </p:nvSpPr>
            <p:spPr>
              <a:xfrm>
                <a:off x="2427676" y="2559053"/>
                <a:ext cx="11769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비밀번호</a:t>
                </a: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C2AE9E15-0325-89FB-55B6-8CAB935764A4}"/>
                  </a:ext>
                </a:extLst>
              </p:cNvPr>
              <p:cNvSpPr/>
              <p:nvPr/>
            </p:nvSpPr>
            <p:spPr>
              <a:xfrm>
                <a:off x="2546056" y="2810284"/>
                <a:ext cx="4220503" cy="4263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>
                    <a:solidFill>
                      <a:schemeClr val="dk1">
                        <a:alpha val="50000"/>
                      </a:schemeClr>
                    </a:solidFill>
                  </a:rPr>
                  <a:t>∙∙∙∙∙∙∙∙∙</a:t>
                </a:r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5728DA7-D4B6-1FD5-68A5-B1455E80F383}"/>
              </a:ext>
            </a:extLst>
          </p:cNvPr>
          <p:cNvSpPr/>
          <p:nvPr/>
        </p:nvSpPr>
        <p:spPr>
          <a:xfrm>
            <a:off x="2546056" y="3147472"/>
            <a:ext cx="4220503" cy="3127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로그인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C2D6F19-B053-9DA4-1607-1AFAE1DCA7E3}"/>
              </a:ext>
            </a:extLst>
          </p:cNvPr>
          <p:cNvGrpSpPr/>
          <p:nvPr/>
        </p:nvGrpSpPr>
        <p:grpSpPr>
          <a:xfrm>
            <a:off x="2546056" y="3670742"/>
            <a:ext cx="4220503" cy="333101"/>
            <a:chOff x="2546056" y="3833486"/>
            <a:chExt cx="4220503" cy="333101"/>
          </a:xfrm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339BB2B0-B606-814E-828A-D27F76189034}"/>
                </a:ext>
              </a:extLst>
            </p:cNvPr>
            <p:cNvCxnSpPr/>
            <p:nvPr/>
          </p:nvCxnSpPr>
          <p:spPr>
            <a:xfrm>
              <a:off x="2546056" y="4000037"/>
              <a:ext cx="4220503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E76771D5-6970-F0A2-AFC3-A33244A62114}"/>
                </a:ext>
              </a:extLst>
            </p:cNvPr>
            <p:cNvSpPr/>
            <p:nvPr/>
          </p:nvSpPr>
          <p:spPr>
            <a:xfrm>
              <a:off x="3859170" y="3833486"/>
              <a:ext cx="1594271" cy="3331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또는 간편 로그인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8742375-E9F8-9E8B-CCF9-3D2A3848FF51}"/>
              </a:ext>
            </a:extLst>
          </p:cNvPr>
          <p:cNvGrpSpPr/>
          <p:nvPr/>
        </p:nvGrpSpPr>
        <p:grpSpPr>
          <a:xfrm>
            <a:off x="2546056" y="4161558"/>
            <a:ext cx="4220503" cy="1210166"/>
            <a:chOff x="2546056" y="4366941"/>
            <a:chExt cx="4220503" cy="1210166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3BEDE1A-0DEF-6E70-F02A-315CFE23E9BE}"/>
                </a:ext>
              </a:extLst>
            </p:cNvPr>
            <p:cNvGrpSpPr/>
            <p:nvPr/>
          </p:nvGrpSpPr>
          <p:grpSpPr>
            <a:xfrm>
              <a:off x="2546056" y="5244008"/>
              <a:ext cx="4220503" cy="333099"/>
              <a:chOff x="2546056" y="5244008"/>
              <a:chExt cx="4220503" cy="333099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9F9DE687-77F9-8D12-3286-EDE5117930E3}"/>
                  </a:ext>
                </a:extLst>
              </p:cNvPr>
              <p:cNvSpPr/>
              <p:nvPr/>
            </p:nvSpPr>
            <p:spPr>
              <a:xfrm>
                <a:off x="2546056" y="5244008"/>
                <a:ext cx="4220503" cy="3330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구글로 시작하기</a:t>
                </a:r>
              </a:p>
            </p:txBody>
          </p:sp>
          <p:pic>
            <p:nvPicPr>
              <p:cNvPr id="36" name="그림 35" descr="The image depicts a vibrant, multicolored Google logo.&#10;&#10;AI 생성 콘텐츠는 정확하지 않을 수 있습니다.">
                <a:extLst>
                  <a:ext uri="{FF2B5EF4-FFF2-40B4-BE49-F238E27FC236}">
                    <a16:creationId xmlns:a16="http://schemas.microsoft.com/office/drawing/2014/main" id="{60776DEB-C66D-C874-0D19-EFF199512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10505" y="5272581"/>
                <a:ext cx="308905" cy="281850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53AF0780-97D7-0CD4-ABD3-4EA95E6634A1}"/>
                </a:ext>
              </a:extLst>
            </p:cNvPr>
            <p:cNvGrpSpPr/>
            <p:nvPr/>
          </p:nvGrpSpPr>
          <p:grpSpPr>
            <a:xfrm>
              <a:off x="2546056" y="4812925"/>
              <a:ext cx="4220503" cy="336048"/>
              <a:chOff x="2546056" y="4812925"/>
              <a:chExt cx="4220503" cy="336048"/>
            </a:xfrm>
          </p:grpSpPr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C33BB95C-3FA9-4686-EBD6-C0D8D15AB6CA}"/>
                  </a:ext>
                </a:extLst>
              </p:cNvPr>
              <p:cNvSpPr/>
              <p:nvPr/>
            </p:nvSpPr>
            <p:spPr>
              <a:xfrm>
                <a:off x="2546056" y="4812925"/>
                <a:ext cx="4220503" cy="333099"/>
              </a:xfrm>
              <a:prstGeom prst="roundRect">
                <a:avLst/>
              </a:prstGeom>
              <a:solidFill>
                <a:srgbClr val="F3E54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카카오로 시작하기</a:t>
                </a:r>
              </a:p>
            </p:txBody>
          </p:sp>
          <p:pic>
            <p:nvPicPr>
              <p:cNvPr id="38" name="그림 37" descr="TALK&#10;&#10;AI 생성 콘텐츠는 정확하지 않을 수 있습니다.">
                <a:extLst>
                  <a:ext uri="{FF2B5EF4-FFF2-40B4-BE49-F238E27FC236}">
                    <a16:creationId xmlns:a16="http://schemas.microsoft.com/office/drawing/2014/main" id="{CA5469F8-EA23-3133-9390-B84A1397A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5519" y="4815874"/>
                <a:ext cx="331318" cy="333099"/>
              </a:xfrm>
              <a:prstGeom prst="rect">
                <a:avLst/>
              </a:prstGeom>
            </p:spPr>
          </p:pic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1998B5C5-F85B-5EDF-6619-8A5C3B787DF9}"/>
                </a:ext>
              </a:extLst>
            </p:cNvPr>
            <p:cNvGrpSpPr/>
            <p:nvPr/>
          </p:nvGrpSpPr>
          <p:grpSpPr>
            <a:xfrm>
              <a:off x="2546056" y="4366941"/>
              <a:ext cx="4220503" cy="333099"/>
              <a:chOff x="2546056" y="4366941"/>
              <a:chExt cx="4220503" cy="333099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8B073B6C-866D-E022-23ED-5C218406F8CF}"/>
                  </a:ext>
                </a:extLst>
              </p:cNvPr>
              <p:cNvSpPr/>
              <p:nvPr/>
            </p:nvSpPr>
            <p:spPr>
              <a:xfrm>
                <a:off x="2546056" y="4366941"/>
                <a:ext cx="4220503" cy="333099"/>
              </a:xfrm>
              <a:prstGeom prst="roundRect">
                <a:avLst/>
              </a:prstGeom>
              <a:solidFill>
                <a:srgbClr val="6AC35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네이버로 시작하기</a:t>
                </a:r>
              </a:p>
            </p:txBody>
          </p:sp>
          <p:pic>
            <p:nvPicPr>
              <p:cNvPr id="40" name="그림 39" descr="n&#10;&#10;AI 생성 콘텐츠는 정확하지 않을 수 있습니다.">
                <a:extLst>
                  <a:ext uri="{FF2B5EF4-FFF2-40B4-BE49-F238E27FC236}">
                    <a16:creationId xmlns:a16="http://schemas.microsoft.com/office/drawing/2014/main" id="{1A6B7140-3E01-127C-48D4-A410A789C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51787" y="4369890"/>
                <a:ext cx="318782" cy="325252"/>
              </a:xfrm>
              <a:prstGeom prst="rect">
                <a:avLst/>
              </a:prstGeom>
            </p:spPr>
          </p:pic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A7326C5-C240-870A-DFB6-A18D5D13FC89}"/>
              </a:ext>
            </a:extLst>
          </p:cNvPr>
          <p:cNvSpPr txBox="1"/>
          <p:nvPr/>
        </p:nvSpPr>
        <p:spPr>
          <a:xfrm>
            <a:off x="3016168" y="5636621"/>
            <a:ext cx="32837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계정이 </a:t>
            </a:r>
            <a:r>
              <a:rPr lang="ko-KR" altLang="en-US" sz="1400" dirty="0" err="1"/>
              <a:t>없으신가요</a:t>
            </a:r>
            <a:r>
              <a:rPr lang="en-US" altLang="ko-KR" sz="1400" dirty="0"/>
              <a:t>?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</a:rPr>
              <a:t>회원가입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ko-KR" sz="1400" dirty="0"/>
          </a:p>
          <a:p>
            <a:pPr algn="ctr"/>
            <a:r>
              <a:rPr lang="ko-KR" altLang="en-US" sz="1400" dirty="0"/>
              <a:t>메인으로 돌아가기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9845D8-0A7A-B25E-C379-8C86134C709F}"/>
              </a:ext>
            </a:extLst>
          </p:cNvPr>
          <p:cNvSpPr/>
          <p:nvPr/>
        </p:nvSpPr>
        <p:spPr>
          <a:xfrm>
            <a:off x="2258665" y="172368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93BD5EB-9BF2-2792-32E2-9968BD07A099}"/>
              </a:ext>
            </a:extLst>
          </p:cNvPr>
          <p:cNvSpPr/>
          <p:nvPr/>
        </p:nvSpPr>
        <p:spPr>
          <a:xfrm>
            <a:off x="2258665" y="2519996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221664-0488-4A25-8DB1-3A7EEB10D4D6}"/>
              </a:ext>
            </a:extLst>
          </p:cNvPr>
          <p:cNvSpPr/>
          <p:nvPr/>
        </p:nvSpPr>
        <p:spPr>
          <a:xfrm>
            <a:off x="2258665" y="3143656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4F103A8-D95E-5470-206C-EEDD182BF790}"/>
              </a:ext>
            </a:extLst>
          </p:cNvPr>
          <p:cNvSpPr/>
          <p:nvPr/>
        </p:nvSpPr>
        <p:spPr>
          <a:xfrm>
            <a:off x="2283962" y="421439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39DA522-4966-4A06-E746-052E11FE7788}"/>
              </a:ext>
            </a:extLst>
          </p:cNvPr>
          <p:cNvSpPr/>
          <p:nvPr/>
        </p:nvSpPr>
        <p:spPr>
          <a:xfrm>
            <a:off x="2283962" y="466135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87897F9-6749-8309-6A61-030129E66051}"/>
              </a:ext>
            </a:extLst>
          </p:cNvPr>
          <p:cNvSpPr/>
          <p:nvPr/>
        </p:nvSpPr>
        <p:spPr>
          <a:xfrm>
            <a:off x="2283962" y="5067198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8A9CE95-366C-0B07-244A-5FE43FC048C6}"/>
              </a:ext>
            </a:extLst>
          </p:cNvPr>
          <p:cNvSpPr/>
          <p:nvPr/>
        </p:nvSpPr>
        <p:spPr>
          <a:xfrm>
            <a:off x="4981154" y="541115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6E3EF0C-4AD1-FC6F-4F2C-3016611C7A6E}"/>
              </a:ext>
            </a:extLst>
          </p:cNvPr>
          <p:cNvSpPr/>
          <p:nvPr/>
        </p:nvSpPr>
        <p:spPr>
          <a:xfrm>
            <a:off x="3642341" y="609551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F85495-159A-A9D3-76D1-9241CD162926}"/>
              </a:ext>
            </a:extLst>
          </p:cNvPr>
          <p:cNvSpPr txBox="1"/>
          <p:nvPr/>
        </p:nvSpPr>
        <p:spPr>
          <a:xfrm>
            <a:off x="9285828" y="175384"/>
            <a:ext cx="2805020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SignIn.html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아이디 입력 형식을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비밀번호는 가려서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버튼을 누르면 폼을 서버로 보낸다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네이버 계정으로 로그인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카카오 계정으로 로그인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구글 계정으로 로그인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회원가입 글자를 클릭하여 회원가입 페이지로 이동한다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en-US" altLang="ko-KR" sz="1200" dirty="0"/>
              <a:t>‘</a:t>
            </a:r>
            <a:r>
              <a:rPr lang="ko-KR" altLang="en-US" sz="1200" dirty="0"/>
              <a:t>메인으로 돌아가기</a:t>
            </a:r>
            <a:r>
              <a:rPr lang="en-US" altLang="ko-KR" sz="1200" dirty="0"/>
              <a:t>’</a:t>
            </a:r>
            <a:r>
              <a:rPr lang="ko-KR" altLang="en-US" sz="1200" dirty="0"/>
              <a:t>를 클릭하면 </a:t>
            </a:r>
            <a:r>
              <a:rPr lang="ko-KR" altLang="en-US" sz="1200" dirty="0" err="1"/>
              <a:t>메인페이지로</a:t>
            </a:r>
            <a:r>
              <a:rPr lang="ko-KR" altLang="en-US" sz="1200" dirty="0"/>
              <a:t> 이동한다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825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F677A62-5ECD-CB9C-EDE4-801AEA48D098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25BD2A-91DE-1EEB-2D27-25257FFD75BE}"/>
              </a:ext>
            </a:extLst>
          </p:cNvPr>
          <p:cNvSpPr txBox="1"/>
          <p:nvPr/>
        </p:nvSpPr>
        <p:spPr>
          <a:xfrm>
            <a:off x="9285828" y="175384"/>
            <a:ext cx="280502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SignUp.html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이름은 필수항목이다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이메일 형식의 아이디를 </a:t>
            </a:r>
            <a:r>
              <a:rPr lang="ko-KR" altLang="en-US" sz="1200" dirty="0" err="1"/>
              <a:t>입력받는다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비밀번호는 안보이게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동일한 비밀번호를 </a:t>
            </a:r>
            <a:r>
              <a:rPr lang="ko-KR" altLang="en-US" sz="1200" dirty="0" err="1"/>
              <a:t>두번</a:t>
            </a:r>
            <a:r>
              <a:rPr lang="ko-KR" altLang="en-US" sz="1200" dirty="0"/>
              <a:t> 입력해야만 진행된다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추후 </a:t>
            </a:r>
            <a:r>
              <a:rPr lang="ko-KR" altLang="en-US" sz="1200" dirty="0" err="1"/>
              <a:t>알림서비스를</a:t>
            </a:r>
            <a:r>
              <a:rPr lang="ko-KR" altLang="en-US" sz="1200" dirty="0"/>
              <a:t> 하기 위해 전화번호를 </a:t>
            </a:r>
            <a:r>
              <a:rPr lang="ko-KR" altLang="en-US" sz="1200" dirty="0" err="1"/>
              <a:t>입력받는다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지역별 날씨에 맞는 추천을 하기 위해 지역을 </a:t>
            </a:r>
            <a:r>
              <a:rPr lang="ko-KR" altLang="en-US" sz="1200" dirty="0" err="1"/>
              <a:t>입력받는다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 분석의 정확도를 높이기 위해 재배면적을 </a:t>
            </a:r>
            <a:r>
              <a:rPr lang="ko-KR" altLang="en-US" sz="1200" dirty="0" err="1"/>
              <a:t>입력받는다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작물은 </a:t>
            </a:r>
            <a:r>
              <a:rPr lang="ko-KR" altLang="en-US" sz="1200" dirty="0" err="1"/>
              <a:t>가입할때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입력받지만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분석할때는</a:t>
            </a:r>
            <a:r>
              <a:rPr lang="ko-KR" altLang="en-US" sz="1200" dirty="0"/>
              <a:t> 다른 작물을 </a:t>
            </a:r>
            <a:r>
              <a:rPr lang="ko-KR" altLang="en-US" sz="1200" dirty="0" err="1"/>
              <a:t>선택할수도</a:t>
            </a:r>
            <a:r>
              <a:rPr lang="ko-KR" altLang="en-US" sz="1200" dirty="0"/>
              <a:t> 있다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가입 버튼을 누르면 서버로 가서 승인을 받는다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취소를 누르면 이전 화면으로 돌아간다</a:t>
            </a:r>
            <a:r>
              <a:rPr lang="en-US" altLang="ko-KR" sz="1200" dirty="0"/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05085A-2D28-40B5-B9C2-6FC1CE46B567}"/>
              </a:ext>
            </a:extLst>
          </p:cNvPr>
          <p:cNvSpPr/>
          <p:nvPr/>
        </p:nvSpPr>
        <p:spPr>
          <a:xfrm>
            <a:off x="2280196" y="0"/>
            <a:ext cx="4871048" cy="6537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1AA46A-04A7-3B20-139B-2CC11001E4F0}"/>
              </a:ext>
            </a:extLst>
          </p:cNvPr>
          <p:cNvSpPr txBox="1"/>
          <p:nvPr/>
        </p:nvSpPr>
        <p:spPr>
          <a:xfrm>
            <a:off x="2651182" y="334498"/>
            <a:ext cx="3985403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회원가입</a:t>
            </a:r>
            <a:endParaRPr lang="en-US" altLang="ko-KR" sz="2000" b="1" dirty="0"/>
          </a:p>
          <a:p>
            <a:pPr algn="ctr"/>
            <a:endParaRPr lang="en-US" altLang="ko-KR" sz="1050" b="1" dirty="0"/>
          </a:p>
          <a:p>
            <a:pPr algn="ctr"/>
            <a:r>
              <a:rPr lang="ko-KR" altLang="en-US" sz="1400" dirty="0"/>
              <a:t>새로운 계정을 만들어 서비스를 시작하세요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6F3AC4E-710C-4687-CBD8-F5D98C396684}"/>
              </a:ext>
            </a:extLst>
          </p:cNvPr>
          <p:cNvGrpSpPr/>
          <p:nvPr/>
        </p:nvGrpSpPr>
        <p:grpSpPr>
          <a:xfrm>
            <a:off x="2478991" y="1925080"/>
            <a:ext cx="4304821" cy="639331"/>
            <a:chOff x="2454100" y="2613160"/>
            <a:chExt cx="4164744" cy="75353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6E273C-4A93-F949-D356-D4D2BF43019C}"/>
                </a:ext>
              </a:extLst>
            </p:cNvPr>
            <p:cNvSpPr txBox="1"/>
            <p:nvPr/>
          </p:nvSpPr>
          <p:spPr>
            <a:xfrm>
              <a:off x="2454100" y="2613160"/>
              <a:ext cx="1992661" cy="32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이메일 </a:t>
              </a:r>
              <a:r>
                <a:rPr lang="en-US" altLang="ko-KR" sz="1400" dirty="0"/>
                <a:t>(</a:t>
              </a:r>
              <a:r>
                <a:rPr lang="ko-KR" altLang="en-US" sz="1400" dirty="0"/>
                <a:t>아이디</a:t>
              </a:r>
              <a:r>
                <a:rPr lang="en-US" altLang="ko-KR" sz="1400" dirty="0"/>
                <a:t>) *</a:t>
              </a:r>
              <a:endParaRPr lang="ko-KR" altLang="en-US" sz="1400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D9293E0-FF10-C9F5-AF48-C51180574850}"/>
                </a:ext>
              </a:extLst>
            </p:cNvPr>
            <p:cNvSpPr/>
            <p:nvPr/>
          </p:nvSpPr>
          <p:spPr>
            <a:xfrm>
              <a:off x="2535674" y="2916688"/>
              <a:ext cx="4083170" cy="4500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200" dirty="0">
                  <a:solidFill>
                    <a:schemeClr val="dk1">
                      <a:alpha val="50000"/>
                    </a:schemeClr>
                  </a:solidFill>
                </a:rPr>
                <a:t>example@email.com</a:t>
              </a:r>
              <a:endParaRPr lang="ko-KR" altLang="en-US" sz="1200" dirty="0">
                <a:solidFill>
                  <a:schemeClr val="dk1">
                    <a:alpha val="50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04570AB-D9F2-4F12-AF1C-887B91BC5C8B}"/>
              </a:ext>
            </a:extLst>
          </p:cNvPr>
          <p:cNvGrpSpPr/>
          <p:nvPr/>
        </p:nvGrpSpPr>
        <p:grpSpPr>
          <a:xfrm>
            <a:off x="2500741" y="2688461"/>
            <a:ext cx="2011740" cy="607153"/>
            <a:chOff x="2478991" y="2941371"/>
            <a:chExt cx="2011740" cy="6775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147361-E062-FB18-ABB4-A749CD86088F}"/>
                </a:ext>
              </a:extLst>
            </p:cNvPr>
            <p:cNvSpPr txBox="1"/>
            <p:nvPr/>
          </p:nvSpPr>
          <p:spPr>
            <a:xfrm>
              <a:off x="2478991" y="2941371"/>
              <a:ext cx="11769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비밀번호 </a:t>
              </a:r>
              <a:r>
                <a:rPr lang="en-US" altLang="ko-KR" sz="1400" dirty="0"/>
                <a:t>*</a:t>
              </a:r>
              <a:endParaRPr lang="ko-KR" altLang="en-US" sz="1400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15CA57B-053F-D26C-924F-238EEBC7D5EE}"/>
                </a:ext>
              </a:extLst>
            </p:cNvPr>
            <p:cNvSpPr/>
            <p:nvPr/>
          </p:nvSpPr>
          <p:spPr>
            <a:xfrm>
              <a:off x="2597371" y="3256728"/>
              <a:ext cx="1893360" cy="36222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dk1">
                      <a:alpha val="50000"/>
                    </a:schemeClr>
                  </a:solidFill>
                </a:rPr>
                <a:t>∙∙∙∙∙∙∙∙∙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F10CFE1-AB1F-8F64-D20F-9C5EE027CE7E}"/>
              </a:ext>
            </a:extLst>
          </p:cNvPr>
          <p:cNvGrpSpPr/>
          <p:nvPr/>
        </p:nvGrpSpPr>
        <p:grpSpPr>
          <a:xfrm>
            <a:off x="4613346" y="2688461"/>
            <a:ext cx="2065256" cy="586484"/>
            <a:chOff x="4718556" y="2877618"/>
            <a:chExt cx="2065256" cy="77038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936BF1-EDAF-7B20-D311-8928B5E8BDC7}"/>
                </a:ext>
              </a:extLst>
            </p:cNvPr>
            <p:cNvSpPr txBox="1"/>
            <p:nvPr/>
          </p:nvSpPr>
          <p:spPr>
            <a:xfrm>
              <a:off x="4718556" y="2877618"/>
              <a:ext cx="1602277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비밀번호 확인 </a:t>
              </a:r>
              <a:r>
                <a:rPr lang="en-US" altLang="ko-KR" sz="1400" dirty="0"/>
                <a:t>*</a:t>
              </a:r>
              <a:endParaRPr lang="ko-KR" altLang="en-US" sz="14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163BE47-5F7B-2DD3-845F-1588B67E04FA}"/>
                </a:ext>
              </a:extLst>
            </p:cNvPr>
            <p:cNvSpPr/>
            <p:nvPr/>
          </p:nvSpPr>
          <p:spPr>
            <a:xfrm>
              <a:off x="4733026" y="3221654"/>
              <a:ext cx="2050786" cy="42635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dk1">
                      <a:alpha val="50000"/>
                    </a:schemeClr>
                  </a:solidFill>
                </a:rPr>
                <a:t>∙∙∙∙∙∙∙∙∙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C848E13-50FF-CD07-3D32-6D758F53F53B}"/>
              </a:ext>
            </a:extLst>
          </p:cNvPr>
          <p:cNvGrpSpPr/>
          <p:nvPr/>
        </p:nvGrpSpPr>
        <p:grpSpPr>
          <a:xfrm>
            <a:off x="2542228" y="3371386"/>
            <a:ext cx="4262663" cy="518401"/>
            <a:chOff x="2580614" y="4484423"/>
            <a:chExt cx="4262663" cy="53762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258F654-BECB-4F4C-CD8E-AC74CB191957}"/>
                </a:ext>
              </a:extLst>
            </p:cNvPr>
            <p:cNvSpPr txBox="1"/>
            <p:nvPr/>
          </p:nvSpPr>
          <p:spPr>
            <a:xfrm>
              <a:off x="2580614" y="4484423"/>
              <a:ext cx="16022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전화번호 </a:t>
              </a:r>
              <a:r>
                <a:rPr lang="en-US" altLang="ko-KR" sz="1400" dirty="0"/>
                <a:t>*</a:t>
              </a:r>
              <a:endParaRPr lang="ko-KR" altLang="en-US" sz="1400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D93B3B10-621B-1424-8A08-FD25205CED23}"/>
                </a:ext>
              </a:extLst>
            </p:cNvPr>
            <p:cNvSpPr/>
            <p:nvPr/>
          </p:nvSpPr>
          <p:spPr>
            <a:xfrm>
              <a:off x="2622774" y="4760016"/>
              <a:ext cx="4220503" cy="26203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400" dirty="0">
                  <a:solidFill>
                    <a:schemeClr val="dk1">
                      <a:alpha val="50000"/>
                    </a:schemeClr>
                  </a:solidFill>
                </a:rPr>
                <a:t>010-1234-5678</a:t>
              </a:r>
              <a:endParaRPr lang="ko-KR" altLang="en-US" sz="1400" dirty="0">
                <a:solidFill>
                  <a:schemeClr val="dk1">
                    <a:alpha val="50000"/>
                  </a:schemeClr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5D2157F-1F16-8D41-3812-B815859B4D65}"/>
              </a:ext>
            </a:extLst>
          </p:cNvPr>
          <p:cNvGrpSpPr/>
          <p:nvPr/>
        </p:nvGrpSpPr>
        <p:grpSpPr>
          <a:xfrm>
            <a:off x="2483563" y="1269173"/>
            <a:ext cx="4304821" cy="597629"/>
            <a:chOff x="2454100" y="2613160"/>
            <a:chExt cx="4164744" cy="75353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254AE69-C3C7-043A-7F16-4272054A5E3E}"/>
                </a:ext>
              </a:extLst>
            </p:cNvPr>
            <p:cNvSpPr txBox="1"/>
            <p:nvPr/>
          </p:nvSpPr>
          <p:spPr>
            <a:xfrm>
              <a:off x="2454100" y="2613160"/>
              <a:ext cx="1138687" cy="32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이름 </a:t>
              </a:r>
              <a:r>
                <a:rPr lang="en-US" altLang="ko-KR" sz="1400" dirty="0"/>
                <a:t>*</a:t>
              </a:r>
              <a:endParaRPr lang="ko-KR" altLang="en-US" sz="14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BE72D788-80C3-44B8-0D7E-A2F003733062}"/>
                </a:ext>
              </a:extLst>
            </p:cNvPr>
            <p:cNvSpPr/>
            <p:nvPr/>
          </p:nvSpPr>
          <p:spPr>
            <a:xfrm>
              <a:off x="2535674" y="2916688"/>
              <a:ext cx="4083170" cy="4500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chemeClr val="dk1">
                      <a:alpha val="50000"/>
                    </a:schemeClr>
                  </a:solidFill>
                </a:rPr>
                <a:t>홍길동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F4D3877-AFE4-7815-EFB2-863643A758E9}"/>
              </a:ext>
            </a:extLst>
          </p:cNvPr>
          <p:cNvSpPr txBox="1"/>
          <p:nvPr/>
        </p:nvSpPr>
        <p:spPr>
          <a:xfrm>
            <a:off x="2542228" y="3954571"/>
            <a:ext cx="1602277" cy="300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지역 </a:t>
            </a:r>
            <a:r>
              <a:rPr lang="en-US" altLang="ko-KR" sz="1400" dirty="0"/>
              <a:t>*</a:t>
            </a:r>
            <a:endParaRPr lang="ko-KR" altLang="en-US" sz="1400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A929867-8B40-D362-D607-48728D0B0565}"/>
              </a:ext>
            </a:extLst>
          </p:cNvPr>
          <p:cNvSpPr/>
          <p:nvPr/>
        </p:nvSpPr>
        <p:spPr>
          <a:xfrm>
            <a:off x="2584388" y="4223204"/>
            <a:ext cx="4220503" cy="2462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dk1">
                    <a:alpha val="50000"/>
                  </a:schemeClr>
                </a:solidFill>
              </a:rPr>
              <a:t>지역을 선택하세요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61AC7E0-BE63-A924-E0DC-7E0330CB4471}"/>
              </a:ext>
            </a:extLst>
          </p:cNvPr>
          <p:cNvGrpSpPr/>
          <p:nvPr/>
        </p:nvGrpSpPr>
        <p:grpSpPr>
          <a:xfrm>
            <a:off x="2542228" y="4563992"/>
            <a:ext cx="2202299" cy="622950"/>
            <a:chOff x="2584388" y="5203923"/>
            <a:chExt cx="2202299" cy="75573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6A4D737-B39D-B64B-A5D7-8FCDF0C5CD4D}"/>
                </a:ext>
              </a:extLst>
            </p:cNvPr>
            <p:cNvSpPr txBox="1"/>
            <p:nvPr/>
          </p:nvSpPr>
          <p:spPr>
            <a:xfrm>
              <a:off x="2584388" y="5203923"/>
              <a:ext cx="1602277" cy="300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재배면적 </a:t>
              </a:r>
              <a:r>
                <a:rPr lang="en-US" altLang="ko-KR" sz="1400" dirty="0"/>
                <a:t>(</a:t>
              </a:r>
              <a:r>
                <a:rPr lang="ko-KR" altLang="en-US" sz="1400" dirty="0"/>
                <a:t>평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837EAF54-C80A-BDFA-C0CA-C9F5ED63AAB0}"/>
                </a:ext>
              </a:extLst>
            </p:cNvPr>
            <p:cNvSpPr/>
            <p:nvPr/>
          </p:nvSpPr>
          <p:spPr>
            <a:xfrm>
              <a:off x="2611518" y="5544077"/>
              <a:ext cx="2175169" cy="4155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dk1">
                      <a:alpha val="50000"/>
                    </a:schemeClr>
                  </a:solidFill>
                </a:rPr>
                <a:t>예</a:t>
              </a:r>
              <a:r>
                <a:rPr lang="en-US" altLang="ko-KR" sz="1400" dirty="0">
                  <a:solidFill>
                    <a:schemeClr val="dk1">
                      <a:alpha val="50000"/>
                    </a:schemeClr>
                  </a:solidFill>
                </a:rPr>
                <a:t>: 500</a:t>
              </a:r>
              <a:endParaRPr lang="ko-KR" altLang="en-US" sz="1400" dirty="0">
                <a:solidFill>
                  <a:schemeClr val="dk1">
                    <a:alpha val="50000"/>
                  </a:schemeClr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682407A-DEAA-4889-B127-C82B61D4D23C}"/>
              </a:ext>
            </a:extLst>
          </p:cNvPr>
          <p:cNvGrpSpPr/>
          <p:nvPr/>
        </p:nvGrpSpPr>
        <p:grpSpPr>
          <a:xfrm>
            <a:off x="4909985" y="4563992"/>
            <a:ext cx="1894906" cy="622950"/>
            <a:chOff x="2584388" y="5203923"/>
            <a:chExt cx="1894906" cy="755738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75880BA-BB5A-2DE4-38FC-9C1A99E2E86E}"/>
                </a:ext>
              </a:extLst>
            </p:cNvPr>
            <p:cNvSpPr txBox="1"/>
            <p:nvPr/>
          </p:nvSpPr>
          <p:spPr>
            <a:xfrm>
              <a:off x="2584388" y="5203923"/>
              <a:ext cx="1602277" cy="373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주요 작물</a:t>
              </a: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5D401F2A-A633-5937-A1E5-91879EDEA330}"/>
                </a:ext>
              </a:extLst>
            </p:cNvPr>
            <p:cNvSpPr/>
            <p:nvPr/>
          </p:nvSpPr>
          <p:spPr>
            <a:xfrm>
              <a:off x="2611519" y="5544077"/>
              <a:ext cx="1867775" cy="4155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dk1">
                      <a:alpha val="50000"/>
                    </a:schemeClr>
                  </a:solidFill>
                </a:rPr>
                <a:t>딸기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905C8DEB-5082-E7F0-F678-8979F5FE31FD}"/>
              </a:ext>
            </a:extLst>
          </p:cNvPr>
          <p:cNvSpPr txBox="1"/>
          <p:nvPr/>
        </p:nvSpPr>
        <p:spPr>
          <a:xfrm>
            <a:off x="2534803" y="5311828"/>
            <a:ext cx="1919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* </a:t>
            </a:r>
            <a:r>
              <a:rPr lang="ko-KR" altLang="en-US" sz="1200" dirty="0" err="1"/>
              <a:t>필수입력항목</a:t>
            </a:r>
            <a:endParaRPr lang="ko-KR" altLang="en-US" sz="12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3C254CFF-E16E-E828-0A0A-5D8E820AA37B}"/>
              </a:ext>
            </a:extLst>
          </p:cNvPr>
          <p:cNvSpPr/>
          <p:nvPr/>
        </p:nvSpPr>
        <p:spPr>
          <a:xfrm>
            <a:off x="3660549" y="5733691"/>
            <a:ext cx="1083979" cy="3794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가입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C6940A2-3596-A82B-B7D4-7A4E881728D8}"/>
              </a:ext>
            </a:extLst>
          </p:cNvPr>
          <p:cNvSpPr/>
          <p:nvPr/>
        </p:nvSpPr>
        <p:spPr>
          <a:xfrm>
            <a:off x="4863906" y="5733691"/>
            <a:ext cx="1083979" cy="3794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B1AFC09-72C0-23F5-EAFE-255E55F5E4E7}"/>
              </a:ext>
            </a:extLst>
          </p:cNvPr>
          <p:cNvSpPr/>
          <p:nvPr/>
        </p:nvSpPr>
        <p:spPr>
          <a:xfrm>
            <a:off x="2276629" y="156846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2CB8B2B-DBA3-1630-903A-FA3E8E6AFC08}"/>
              </a:ext>
            </a:extLst>
          </p:cNvPr>
          <p:cNvSpPr/>
          <p:nvPr/>
        </p:nvSpPr>
        <p:spPr>
          <a:xfrm>
            <a:off x="2296996" y="222960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DC67B25-6F5A-F602-4159-4B28A0C8ED32}"/>
              </a:ext>
            </a:extLst>
          </p:cNvPr>
          <p:cNvSpPr/>
          <p:nvPr/>
        </p:nvSpPr>
        <p:spPr>
          <a:xfrm>
            <a:off x="2296996" y="274217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8B7763E-E0CC-3584-F564-91D80038EBB1}"/>
              </a:ext>
            </a:extLst>
          </p:cNvPr>
          <p:cNvSpPr/>
          <p:nvPr/>
        </p:nvSpPr>
        <p:spPr>
          <a:xfrm>
            <a:off x="4406412" y="273655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30A53A1-11AB-4634-D2EC-708EE05A1931}"/>
              </a:ext>
            </a:extLst>
          </p:cNvPr>
          <p:cNvSpPr/>
          <p:nvPr/>
        </p:nvSpPr>
        <p:spPr>
          <a:xfrm>
            <a:off x="2319277" y="344115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E7BA8A0-CF52-B2AD-4D02-4205FD1FA20B}"/>
              </a:ext>
            </a:extLst>
          </p:cNvPr>
          <p:cNvSpPr/>
          <p:nvPr/>
        </p:nvSpPr>
        <p:spPr>
          <a:xfrm>
            <a:off x="2289571" y="402150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9E088C5-3ACA-039B-A1A0-61A57AA1D10D}"/>
              </a:ext>
            </a:extLst>
          </p:cNvPr>
          <p:cNvSpPr/>
          <p:nvPr/>
        </p:nvSpPr>
        <p:spPr>
          <a:xfrm>
            <a:off x="2318077" y="46023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111E3D0-7B9B-FD4D-F07D-48EF1701BEE4}"/>
              </a:ext>
            </a:extLst>
          </p:cNvPr>
          <p:cNvSpPr/>
          <p:nvPr/>
        </p:nvSpPr>
        <p:spPr>
          <a:xfrm>
            <a:off x="4715720" y="458571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9486320-FF95-A021-B06E-8CC6E8C28FFD}"/>
              </a:ext>
            </a:extLst>
          </p:cNvPr>
          <p:cNvSpPr/>
          <p:nvPr/>
        </p:nvSpPr>
        <p:spPr>
          <a:xfrm>
            <a:off x="3726558" y="548824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CD802BFE-7FBA-446E-0517-0719906939AB}"/>
              </a:ext>
            </a:extLst>
          </p:cNvPr>
          <p:cNvSpPr/>
          <p:nvPr/>
        </p:nvSpPr>
        <p:spPr>
          <a:xfrm>
            <a:off x="4874305" y="5485520"/>
            <a:ext cx="462569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5975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1194</Words>
  <Application>Microsoft Office PowerPoint</Application>
  <PresentationFormat>와이드스크린</PresentationFormat>
  <Paragraphs>414</Paragraphs>
  <Slides>7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jm93924@naver.com</dc:creator>
  <cp:lastModifiedBy>jm93924@naver.com</cp:lastModifiedBy>
  <cp:revision>17</cp:revision>
  <dcterms:created xsi:type="dcterms:W3CDTF">2026-03-15T13:32:53Z</dcterms:created>
  <dcterms:modified xsi:type="dcterms:W3CDTF">2026-03-16T02:11:10Z</dcterms:modified>
</cp:coreProperties>
</file>