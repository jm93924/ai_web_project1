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E54E"/>
    <a:srgbClr val="FFFF00"/>
    <a:srgbClr val="6AC352"/>
    <a:srgbClr val="8ED9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기온</c:v>
                </c:pt>
                <c:pt idx="1">
                  <c:v>강수량</c:v>
                </c:pt>
                <c:pt idx="2">
                  <c:v>일조량</c:v>
                </c:pt>
                <c:pt idx="3">
                  <c:v>습도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12</c:v>
                </c:pt>
                <c:pt idx="2">
                  <c:v>15</c:v>
                </c:pt>
                <c:pt idx="3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075-49BD-878A-E0FC98E708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2110251136"/>
        <c:axId val="2110254976"/>
      </c:barChart>
      <c:catAx>
        <c:axId val="211025113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2110254976"/>
        <c:crosses val="autoZero"/>
        <c:auto val="1"/>
        <c:lblAlgn val="ctr"/>
        <c:lblOffset val="100"/>
        <c:noMultiLvlLbl val="0"/>
      </c:catAx>
      <c:valAx>
        <c:axId val="211025497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ko-KR" altLang="en-US" dirty="0"/>
                  <a:t>영향도</a:t>
                </a:r>
                <a:r>
                  <a:rPr lang="en-US" altLang="ko-KR" dirty="0"/>
                  <a:t>(%)</a:t>
                </a:r>
                <a:endParaRPr lang="ko-KR" altLang="en-US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21102511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2B58E-7D29-490D-73FE-DB8B88DDD1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D4B67A7-03CC-8971-3374-149C8A20D9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258328-D8DA-A96B-4AE9-9F4CA5A2C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14A2-6FD9-4418-9ABE-0B2064741464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875713-2B18-AEA9-D418-C49BDA3F5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E14637-781D-218F-4CD3-6638969E6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1BA63-EB66-4652-8AD2-682A947711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73068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C57A50-DCE2-B659-2CC1-4C67C81AA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A4A602-BF7A-8DDA-8498-03AF95C655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0A51D9-4267-0C14-2641-652CE09E0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14A2-6FD9-4418-9ABE-0B2064741464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63D70C-3001-03F9-D628-308B79F25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2CE12B-40E4-3A2D-0F9C-54255733F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1BA63-EB66-4652-8AD2-682A947711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962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D6E41-BA40-8B75-DCE8-D6E807C3A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4F47847-0632-0A07-D885-A34FFE7425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17E2DF-D71F-3DB7-F043-A513D3A03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14A2-6FD9-4418-9ABE-0B2064741464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556A15-1C78-9E69-9330-E430E4F2D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464F43-5383-1436-8044-83F929D85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1BA63-EB66-4652-8AD2-682A947711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2506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3B6511-1AE7-B5C5-2255-9EB0C2DD9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FC7FA1-6163-D9F7-3805-3A694069B4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1134612-2DE7-D839-399C-DC33B5979F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B7639A-428F-2FEA-4856-29F142F3C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14A2-6FD9-4418-9ABE-0B2064741464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6192FA9-229F-4992-AE48-269DEE2A1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C87FB93-D658-450F-B945-2591EBF51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1BA63-EB66-4652-8AD2-682A947711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7132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E8027B-AC3E-0C25-2100-5D41E0078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2650682-F3A0-AA7B-C93B-3464FC37AA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8A268BE-D72A-9AA3-F236-29CE4D9EA5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5070330-5FB4-57BD-0BFC-ADBB53122C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3B75E60-B8CB-42E6-B746-8E1A1730E8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807225C-2C28-B74D-76CB-336EBA351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14A2-6FD9-4418-9ABE-0B2064741464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64C7391-EA54-06D5-8C5E-28A200AF3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A7B58F1-CE4E-94A9-6032-9A034A6AC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1BA63-EB66-4652-8AD2-682A947711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4518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4E127C-0836-2874-A43D-6758BA82C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1A00A9-ADCC-3C1F-8FAF-5F2B87073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14A2-6FD9-4418-9ABE-0B2064741464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2120A6E-9C50-7195-D617-3BB9E21A6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C04E618-1424-4BDA-A003-BE6734682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1BA63-EB66-4652-8AD2-682A947711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7755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5D57566-B76A-F7CF-E352-BDFAA90B8B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14A2-6FD9-4418-9ABE-0B2064741464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6A2606-EC54-C58B-405F-A9A8EB27D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435C63-D5E8-71FD-0D59-D74ECEA83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1BA63-EB66-4652-8AD2-682A947711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6108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40118A-F51C-5D36-C1EE-294D2722B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446DB1-611C-8031-778E-05B6A9EE0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61EBB22-6758-19CD-B151-F9AA6701E7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7241CF0-A994-62C9-041F-40B3891BE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14A2-6FD9-4418-9ABE-0B2064741464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393C19A-BF1F-70C1-69D8-F588C76A8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BF824C-F02C-6B57-CA7B-9F87F77FD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1BA63-EB66-4652-8AD2-682A947711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7490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903BE4-9488-3549-CB5E-EFE8A56EE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D8501AE-2F61-EF91-F3A3-A18872F6D9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2C5BB3F-6DB0-C70A-E0F2-2196D8EB60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FE7F8A-403C-4A1E-D7AE-A11549A7E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14A2-6FD9-4418-9ABE-0B2064741464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75D571E-6221-965B-70AD-9BDB15CC6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999A95D-E3C7-5FA0-009D-9EE299CC6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1BA63-EB66-4652-8AD2-682A947711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3925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0698E9-0B77-74B5-CB50-47F26D487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CD31C35-BC2A-31C9-9D46-319AA3924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B48120-7A54-FDA2-B135-2B7A09D74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14A2-6FD9-4418-9ABE-0B2064741464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ABB77C-2EB2-F8EC-7A1D-4315D79F2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19D5BA-D0FE-BB5F-22FF-1B4152C75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1BA63-EB66-4652-8AD2-682A947711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2228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D2DD3D8-3268-89B1-14F6-4C9D7334BC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F1A9300-B07B-178B-2AA6-90B947E5B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44203B-9C5B-FAF2-707D-5A1A13B6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414A2-6FD9-4418-9ABE-0B2064741464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7FB0DA-D280-8816-A244-5B32D6D53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EDF7DC-FBB7-6D17-50D2-0786230DB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1BA63-EB66-4652-8AD2-682A947711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553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F2CA66C-ADF7-5FB9-252B-70C22550D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2FAC804-BDA9-97C9-B363-BE0116544C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854606-F6B6-9F6D-4D69-4ECCE90832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5414A2-6FD9-4418-9ABE-0B2064741464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ADECDA-A105-E703-2067-36A21C06A4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753136-D04A-25EB-2607-307661B4D0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71BA63-EB66-4652-8AD2-682A947711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76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42437-E69B-2F8C-5A11-888AC413D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8150BB3-9AF1-DB22-47BB-1448F11228AD}"/>
              </a:ext>
            </a:extLst>
          </p:cNvPr>
          <p:cNvCxnSpPr>
            <a:cxnSpLocks/>
          </p:cNvCxnSpPr>
          <p:nvPr/>
        </p:nvCxnSpPr>
        <p:spPr>
          <a:xfrm>
            <a:off x="293914" y="689004"/>
            <a:ext cx="864305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2A32846-3DE5-FC5F-9EDE-1F5837A501CE}"/>
              </a:ext>
            </a:extLst>
          </p:cNvPr>
          <p:cNvSpPr txBox="1"/>
          <p:nvPr/>
        </p:nvSpPr>
        <p:spPr>
          <a:xfrm>
            <a:off x="1224949" y="156457"/>
            <a:ext cx="1966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딸기 </a:t>
            </a:r>
            <a:r>
              <a:rPr lang="ko-KR" altLang="en-US" dirty="0" err="1"/>
              <a:t>스마트팜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endParaRPr lang="ko-KR" altLang="en-US" dirty="0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00BF3B12-0F78-0B5E-94A5-36FBF9B17E3C}"/>
              </a:ext>
            </a:extLst>
          </p:cNvPr>
          <p:cNvGrpSpPr/>
          <p:nvPr/>
        </p:nvGrpSpPr>
        <p:grpSpPr>
          <a:xfrm>
            <a:off x="3754642" y="196231"/>
            <a:ext cx="4080295" cy="307777"/>
            <a:chOff x="4065917" y="301284"/>
            <a:chExt cx="4080295" cy="30777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3261596-BF25-0FBB-C255-3CBDC6F57A3A}"/>
                </a:ext>
              </a:extLst>
            </p:cNvPr>
            <p:cNvSpPr txBox="1"/>
            <p:nvPr/>
          </p:nvSpPr>
          <p:spPr>
            <a:xfrm>
              <a:off x="5316748" y="301284"/>
              <a:ext cx="139172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데이터분석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2F07EFD-0581-5B7E-31E8-947B0A061CD8}"/>
                </a:ext>
              </a:extLst>
            </p:cNvPr>
            <p:cNvSpPr txBox="1"/>
            <p:nvPr/>
          </p:nvSpPr>
          <p:spPr>
            <a:xfrm>
              <a:off x="6754484" y="301284"/>
              <a:ext cx="139172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가격 예측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B3B239-8DED-7A7D-A3DD-3DFA4346511F}"/>
                </a:ext>
              </a:extLst>
            </p:cNvPr>
            <p:cNvSpPr txBox="1"/>
            <p:nvPr/>
          </p:nvSpPr>
          <p:spPr>
            <a:xfrm>
              <a:off x="4065917" y="301284"/>
              <a:ext cx="139172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대시보드</a:t>
              </a:r>
            </a:p>
          </p:txBody>
        </p:sp>
      </p:grp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EDFC751-8745-E4B4-8D48-B426D88FAC1C}"/>
              </a:ext>
            </a:extLst>
          </p:cNvPr>
          <p:cNvSpPr/>
          <p:nvPr/>
        </p:nvSpPr>
        <p:spPr>
          <a:xfrm>
            <a:off x="8176403" y="193591"/>
            <a:ext cx="718868" cy="346339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로그인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B678C8-C12A-29A5-CECE-D035F12690A5}"/>
              </a:ext>
            </a:extLst>
          </p:cNvPr>
          <p:cNvSpPr txBox="1"/>
          <p:nvPr/>
        </p:nvSpPr>
        <p:spPr>
          <a:xfrm>
            <a:off x="250887" y="886072"/>
            <a:ext cx="4307457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AI</a:t>
            </a:r>
            <a:r>
              <a:rPr lang="ko-KR" altLang="en-US" dirty="0"/>
              <a:t>로 시작하는</a:t>
            </a:r>
            <a:endParaRPr lang="en-US" altLang="ko-KR" dirty="0"/>
          </a:p>
          <a:p>
            <a:r>
              <a:rPr lang="ko-KR" altLang="en-US" sz="2800" dirty="0"/>
              <a:t>스마트 딸기 재배</a:t>
            </a:r>
            <a:endParaRPr lang="en-US" altLang="ko-KR" sz="2800" dirty="0"/>
          </a:p>
          <a:p>
            <a:endParaRPr lang="en-US" altLang="ko-KR" dirty="0"/>
          </a:p>
          <a:p>
            <a:r>
              <a:rPr lang="ko-KR" altLang="en-US" sz="1400" dirty="0"/>
              <a:t>데이터 분석과 </a:t>
            </a:r>
            <a:r>
              <a:rPr lang="en-US" altLang="ko-KR" sz="1400" dirty="0"/>
              <a:t>AI </a:t>
            </a:r>
            <a:r>
              <a:rPr lang="ko-KR" altLang="en-US" sz="1400" dirty="0"/>
              <a:t>예측으로 딸기 생산량을 높이고</a:t>
            </a:r>
            <a:r>
              <a:rPr lang="en-US" altLang="ko-KR" sz="1400" dirty="0"/>
              <a:t>, </a:t>
            </a:r>
            <a:r>
              <a:rPr lang="ko-KR" altLang="en-US" sz="1400" dirty="0"/>
              <a:t>최적의 판매 시기를 찾아드립니다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CFB1803-4F83-3CDE-14EF-43FCB51340B2}"/>
              </a:ext>
            </a:extLst>
          </p:cNvPr>
          <p:cNvSpPr/>
          <p:nvPr/>
        </p:nvSpPr>
        <p:spPr>
          <a:xfrm>
            <a:off x="4917056" y="886072"/>
            <a:ext cx="4019910" cy="160802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사진</a:t>
            </a:r>
            <a:r>
              <a:rPr lang="en-US" altLang="ko-KR" dirty="0"/>
              <a:t>2 (</a:t>
            </a:r>
            <a:r>
              <a:rPr lang="ko-KR" altLang="en-US" dirty="0"/>
              <a:t>딸기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E5F02D58-A4C7-2BEB-549B-C8059F34EEC4}"/>
              </a:ext>
            </a:extLst>
          </p:cNvPr>
          <p:cNvCxnSpPr>
            <a:cxnSpLocks/>
          </p:cNvCxnSpPr>
          <p:nvPr/>
        </p:nvCxnSpPr>
        <p:spPr>
          <a:xfrm>
            <a:off x="9201509" y="301284"/>
            <a:ext cx="0" cy="6472249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B99AB241-6A58-B66A-8B25-A22F200CB91D}"/>
              </a:ext>
            </a:extLst>
          </p:cNvPr>
          <p:cNvGrpSpPr/>
          <p:nvPr/>
        </p:nvGrpSpPr>
        <p:grpSpPr>
          <a:xfrm>
            <a:off x="302646" y="2819478"/>
            <a:ext cx="2967485" cy="1752599"/>
            <a:chOff x="302646" y="2819478"/>
            <a:chExt cx="2967485" cy="1752599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0B156595-5B46-62FE-54C6-92F93EFA2EDB}"/>
                </a:ext>
              </a:extLst>
            </p:cNvPr>
            <p:cNvGrpSpPr/>
            <p:nvPr/>
          </p:nvGrpSpPr>
          <p:grpSpPr>
            <a:xfrm>
              <a:off x="302646" y="2819478"/>
              <a:ext cx="2787770" cy="1752599"/>
              <a:chOff x="302646" y="2819478"/>
              <a:chExt cx="2787770" cy="1752599"/>
            </a:xfrm>
          </p:grpSpPr>
          <p:sp>
            <p:nvSpPr>
              <p:cNvPr id="22" name="사각형: 둥근 모서리 21">
                <a:extLst>
                  <a:ext uri="{FF2B5EF4-FFF2-40B4-BE49-F238E27FC236}">
                    <a16:creationId xmlns:a16="http://schemas.microsoft.com/office/drawing/2014/main" id="{66118FC8-D165-36AF-B7A1-CFEA80490F22}"/>
                  </a:ext>
                </a:extLst>
              </p:cNvPr>
              <p:cNvSpPr/>
              <p:nvPr/>
            </p:nvSpPr>
            <p:spPr>
              <a:xfrm>
                <a:off x="302646" y="2819478"/>
                <a:ext cx="2702942" cy="1752599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26" name="그래픽 25" descr="가로 막대형 차트 단색으로 채워진">
                <a:extLst>
                  <a:ext uri="{FF2B5EF4-FFF2-40B4-BE49-F238E27FC236}">
                    <a16:creationId xmlns:a16="http://schemas.microsoft.com/office/drawing/2014/main" id="{CACC65E2-B90B-56AD-C538-7F0EC51AD9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9040" y="2934498"/>
                <a:ext cx="462950" cy="462950"/>
              </a:xfrm>
              <a:prstGeom prst="rect">
                <a:avLst/>
              </a:prstGeom>
            </p:spPr>
          </p:pic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2D47219-0B89-8D03-D749-1B25975D2EF6}"/>
                  </a:ext>
                </a:extLst>
              </p:cNvPr>
              <p:cNvSpPr txBox="1"/>
              <p:nvPr/>
            </p:nvSpPr>
            <p:spPr>
              <a:xfrm>
                <a:off x="906494" y="2980481"/>
                <a:ext cx="19265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dirty="0"/>
                  <a:t>통합 대시보드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A02473F-2BB6-C6AF-98B8-87A0E158380F}"/>
                  </a:ext>
                </a:extLst>
              </p:cNvPr>
              <p:cNvSpPr txBox="1"/>
              <p:nvPr/>
            </p:nvSpPr>
            <p:spPr>
              <a:xfrm>
                <a:off x="387474" y="3795066"/>
                <a:ext cx="270294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Wingdings" panose="05000000000000000000" pitchFamily="2" charset="2"/>
                  <a:buChar char="ü"/>
                </a:pPr>
                <a:r>
                  <a:rPr lang="ko-KR" altLang="en-US" sz="1200" dirty="0"/>
                  <a:t>실시간 딸기 가격 및 생산량 현황</a:t>
                </a:r>
                <a:endParaRPr lang="en-US" altLang="ko-KR" sz="1200" dirty="0"/>
              </a:p>
              <a:p>
                <a:pPr marL="171450" indent="-171450">
                  <a:buFont typeface="Wingdings" panose="05000000000000000000" pitchFamily="2" charset="2"/>
                  <a:buChar char="ü"/>
                </a:pPr>
                <a:r>
                  <a:rPr lang="ko-KR" altLang="en-US" sz="1200" dirty="0"/>
                  <a:t>농가 재배 현황</a:t>
                </a:r>
                <a:endParaRPr lang="en-US" altLang="ko-KR" sz="1200" dirty="0"/>
              </a:p>
              <a:p>
                <a:pPr marL="171450" indent="-171450">
                  <a:buFont typeface="Wingdings" panose="05000000000000000000" pitchFamily="2" charset="2"/>
                  <a:buChar char="ü"/>
                </a:pPr>
                <a:r>
                  <a:rPr lang="ko-KR" altLang="en-US" sz="1200" dirty="0"/>
                  <a:t>농가 재배환경 현황</a:t>
                </a: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AB8C69E-36A9-2E59-AAB9-A3527F098690}"/>
                </a:ext>
              </a:extLst>
            </p:cNvPr>
            <p:cNvSpPr txBox="1"/>
            <p:nvPr/>
          </p:nvSpPr>
          <p:spPr>
            <a:xfrm>
              <a:off x="348652" y="3395980"/>
              <a:ext cx="292147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/>
                <a:t>실시간 데이터를 한 눈에 확인</a:t>
              </a:r>
            </a:p>
          </p:txBody>
        </p:sp>
      </p:grp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6C9B476B-E5C1-52AB-88B6-A897F1E6FA1D}"/>
              </a:ext>
            </a:extLst>
          </p:cNvPr>
          <p:cNvGrpSpPr/>
          <p:nvPr/>
        </p:nvGrpSpPr>
        <p:grpSpPr>
          <a:xfrm>
            <a:off x="3206873" y="2819478"/>
            <a:ext cx="3056623" cy="1752599"/>
            <a:chOff x="3206873" y="2819478"/>
            <a:chExt cx="3056623" cy="1752599"/>
          </a:xfrm>
        </p:grpSpPr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E8DF9B5F-3758-2C6E-D138-E42E1C75762D}"/>
                </a:ext>
              </a:extLst>
            </p:cNvPr>
            <p:cNvGrpSpPr/>
            <p:nvPr/>
          </p:nvGrpSpPr>
          <p:grpSpPr>
            <a:xfrm>
              <a:off x="3206873" y="2819478"/>
              <a:ext cx="2787770" cy="1752599"/>
              <a:chOff x="3206873" y="2819478"/>
              <a:chExt cx="2787770" cy="1752599"/>
            </a:xfrm>
          </p:grpSpPr>
          <p:sp>
            <p:nvSpPr>
              <p:cNvPr id="23" name="사각형: 둥근 모서리 22">
                <a:extLst>
                  <a:ext uri="{FF2B5EF4-FFF2-40B4-BE49-F238E27FC236}">
                    <a16:creationId xmlns:a16="http://schemas.microsoft.com/office/drawing/2014/main" id="{811229D3-342E-ADA6-6098-BF2EF0C5D0A0}"/>
                  </a:ext>
                </a:extLst>
              </p:cNvPr>
              <p:cNvSpPr/>
              <p:nvPr/>
            </p:nvSpPr>
            <p:spPr>
              <a:xfrm>
                <a:off x="3206873" y="2819478"/>
                <a:ext cx="2702942" cy="1752599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31" name="그래픽 30" descr="데이터베이스 단색으로 채워진">
                <a:extLst>
                  <a:ext uri="{FF2B5EF4-FFF2-40B4-BE49-F238E27FC236}">
                    <a16:creationId xmlns:a16="http://schemas.microsoft.com/office/drawing/2014/main" id="{A500DD5B-C6DF-D20A-AADD-631401F320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02474" y="2931580"/>
                <a:ext cx="464400" cy="464400"/>
              </a:xfrm>
              <a:prstGeom prst="rect">
                <a:avLst/>
              </a:prstGeom>
            </p:spPr>
          </p:pic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EF776A4-336E-5437-E8AC-837793D3D3D0}"/>
                  </a:ext>
                </a:extLst>
              </p:cNvPr>
              <p:cNvSpPr txBox="1"/>
              <p:nvPr/>
            </p:nvSpPr>
            <p:spPr>
              <a:xfrm>
                <a:off x="3766874" y="2980481"/>
                <a:ext cx="19265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dirty="0"/>
                  <a:t>데이터 분석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D3D4789-8989-D345-6265-CC9920A5C4CA}"/>
                  </a:ext>
                </a:extLst>
              </p:cNvPr>
              <p:cNvSpPr txBox="1"/>
              <p:nvPr/>
            </p:nvSpPr>
            <p:spPr>
              <a:xfrm>
                <a:off x="3291701" y="3795066"/>
                <a:ext cx="270294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Wingdings" panose="05000000000000000000" pitchFamily="2" charset="2"/>
                  <a:buChar char="ü"/>
                </a:pPr>
                <a:r>
                  <a:rPr lang="ko-KR" altLang="en-US" sz="1200" dirty="0"/>
                  <a:t>환경 요인 상관관계 분석</a:t>
                </a:r>
                <a:endParaRPr lang="en-US" altLang="ko-KR" sz="1200" dirty="0"/>
              </a:p>
              <a:p>
                <a:pPr marL="171450" indent="-171450">
                  <a:buFont typeface="Wingdings" panose="05000000000000000000" pitchFamily="2" charset="2"/>
                  <a:buChar char="ü"/>
                </a:pPr>
                <a:r>
                  <a:rPr lang="ko-KR" altLang="en-US" sz="1200" dirty="0"/>
                  <a:t>생산량 영향 요소 파악</a:t>
                </a:r>
                <a:endParaRPr lang="en-US" altLang="ko-KR" sz="1200" dirty="0"/>
              </a:p>
              <a:p>
                <a:pPr marL="171450" indent="-171450">
                  <a:buFont typeface="Wingdings" panose="05000000000000000000" pitchFamily="2" charset="2"/>
                  <a:buChar char="ü"/>
                </a:pPr>
                <a:r>
                  <a:rPr lang="ko-KR" altLang="en-US" sz="1200" dirty="0"/>
                  <a:t>최적 환경 조건 추천</a:t>
                </a: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CA59D8C-5FF3-8FFD-5EBD-4CF191DA4CA6}"/>
                </a:ext>
              </a:extLst>
            </p:cNvPr>
            <p:cNvSpPr txBox="1"/>
            <p:nvPr/>
          </p:nvSpPr>
          <p:spPr>
            <a:xfrm>
              <a:off x="3342017" y="3395980"/>
              <a:ext cx="292147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/>
                <a:t>축적된 데이터로 최적 조건 도출</a:t>
              </a:r>
            </a:p>
          </p:txBody>
        </p:sp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9192F2B7-FD07-17C8-10DA-4F5AB9B078B3}"/>
              </a:ext>
            </a:extLst>
          </p:cNvPr>
          <p:cNvGrpSpPr/>
          <p:nvPr/>
        </p:nvGrpSpPr>
        <p:grpSpPr>
          <a:xfrm>
            <a:off x="6142729" y="2819478"/>
            <a:ext cx="2990129" cy="1752599"/>
            <a:chOff x="6142729" y="2819478"/>
            <a:chExt cx="2990129" cy="1752599"/>
          </a:xfrm>
        </p:grpSpPr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4A6B0F23-4F85-E366-E9B8-D1DBC5D998FB}"/>
                </a:ext>
              </a:extLst>
            </p:cNvPr>
            <p:cNvSpPr/>
            <p:nvPr/>
          </p:nvSpPr>
          <p:spPr>
            <a:xfrm>
              <a:off x="6142729" y="2819478"/>
              <a:ext cx="2702942" cy="1752599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6" name="그래픽 35" descr="상향 추세 단색으로 채워진">
              <a:extLst>
                <a:ext uri="{FF2B5EF4-FFF2-40B4-BE49-F238E27FC236}">
                  <a16:creationId xmlns:a16="http://schemas.microsoft.com/office/drawing/2014/main" id="{ED54C93F-7D5E-BF99-3AC9-C4A755A01B9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46244" y="2908497"/>
              <a:ext cx="464400" cy="4644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7F5F4FF-725F-3B9A-924E-5E4EA376336B}"/>
                </a:ext>
              </a:extLst>
            </p:cNvPr>
            <p:cNvSpPr txBox="1"/>
            <p:nvPr/>
          </p:nvSpPr>
          <p:spPr>
            <a:xfrm>
              <a:off x="6815591" y="2980481"/>
              <a:ext cx="19265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가격 예측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488ED1B-73E3-95DD-F554-43C3768E3F5D}"/>
                </a:ext>
              </a:extLst>
            </p:cNvPr>
            <p:cNvSpPr txBox="1"/>
            <p:nvPr/>
          </p:nvSpPr>
          <p:spPr>
            <a:xfrm>
              <a:off x="6211379" y="3395980"/>
              <a:ext cx="292147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/>
                <a:t>시장 가격 분석 </a:t>
              </a:r>
              <a:r>
                <a:rPr lang="en-US" altLang="ko-KR" sz="1200" dirty="0"/>
                <a:t>&amp;</a:t>
              </a:r>
              <a:r>
                <a:rPr lang="ko-KR" altLang="en-US" sz="1200" dirty="0"/>
                <a:t> 판매시기 추천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4A05B46-8006-6352-37C1-FA37C9D8E981}"/>
                </a:ext>
              </a:extLst>
            </p:cNvPr>
            <p:cNvSpPr txBox="1"/>
            <p:nvPr/>
          </p:nvSpPr>
          <p:spPr>
            <a:xfrm>
              <a:off x="6234024" y="3767851"/>
              <a:ext cx="270294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Wingdings" panose="05000000000000000000" pitchFamily="2" charset="2"/>
                <a:buChar char="ü"/>
              </a:pPr>
              <a:r>
                <a:rPr lang="ko-KR" altLang="en-US" sz="1200" dirty="0"/>
                <a:t>도</a:t>
              </a:r>
              <a:r>
                <a:rPr lang="en-US" altLang="ko-KR" sz="1200" dirty="0"/>
                <a:t>/</a:t>
              </a:r>
              <a:r>
                <a:rPr lang="ko-KR" altLang="en-US" sz="1200" dirty="0"/>
                <a:t>소매가 시기별 분석</a:t>
              </a:r>
              <a:endParaRPr lang="en-US" altLang="ko-KR" sz="1200" dirty="0"/>
            </a:p>
            <a:p>
              <a:pPr marL="171450" indent="-171450">
                <a:buFont typeface="Wingdings" panose="05000000000000000000" pitchFamily="2" charset="2"/>
                <a:buChar char="ü"/>
              </a:pPr>
              <a:r>
                <a:rPr lang="ko-KR" altLang="en-US" sz="1200" dirty="0"/>
                <a:t>날씨 연동 가격 예측</a:t>
              </a:r>
              <a:endParaRPr lang="en-US" altLang="ko-KR" sz="1200" dirty="0"/>
            </a:p>
            <a:p>
              <a:pPr marL="171450" indent="-171450">
                <a:buFont typeface="Wingdings" panose="05000000000000000000" pitchFamily="2" charset="2"/>
                <a:buChar char="ü"/>
              </a:pPr>
              <a:r>
                <a:rPr lang="ko-KR" altLang="en-US" sz="1200" dirty="0"/>
                <a:t>최적 판매 시기 추천</a:t>
              </a:r>
            </a:p>
          </p:txBody>
        </p:sp>
      </p:grp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B6DC5ED-74F4-F426-3686-744259E36F5E}"/>
              </a:ext>
            </a:extLst>
          </p:cNvPr>
          <p:cNvSpPr/>
          <p:nvPr/>
        </p:nvSpPr>
        <p:spPr>
          <a:xfrm>
            <a:off x="241662" y="91389"/>
            <a:ext cx="983287" cy="448541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34E83DE5-4E6B-6AE7-C1F7-CE9F52D97856}"/>
              </a:ext>
            </a:extLst>
          </p:cNvPr>
          <p:cNvSpPr/>
          <p:nvPr/>
        </p:nvSpPr>
        <p:spPr>
          <a:xfrm>
            <a:off x="3180798" y="4786911"/>
            <a:ext cx="1225677" cy="505122"/>
          </a:xfrm>
          <a:prstGeom prst="roundRect">
            <a:avLst/>
          </a:prstGeom>
          <a:ln>
            <a:solidFill>
              <a:schemeClr val="bg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시작하기</a:t>
            </a: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7CBBAD1E-547A-8FC9-04B0-B3027420D841}"/>
              </a:ext>
            </a:extLst>
          </p:cNvPr>
          <p:cNvSpPr/>
          <p:nvPr/>
        </p:nvSpPr>
        <p:spPr>
          <a:xfrm>
            <a:off x="4621502" y="4799818"/>
            <a:ext cx="1163704" cy="505122"/>
          </a:xfrm>
          <a:prstGeom prst="roundRect">
            <a:avLst/>
          </a:prstGeom>
          <a:ln>
            <a:solidFill>
              <a:schemeClr val="bg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문의하기</a:t>
            </a: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39ABC949-7496-9FD9-F7C2-617D377B8754}"/>
              </a:ext>
            </a:extLst>
          </p:cNvPr>
          <p:cNvCxnSpPr>
            <a:cxnSpLocks/>
          </p:cNvCxnSpPr>
          <p:nvPr/>
        </p:nvCxnSpPr>
        <p:spPr>
          <a:xfrm>
            <a:off x="302646" y="5488824"/>
            <a:ext cx="864305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46332C93-4C71-E5B5-C273-098E8EF8CB4C}"/>
              </a:ext>
            </a:extLst>
          </p:cNvPr>
          <p:cNvSpPr txBox="1"/>
          <p:nvPr/>
        </p:nvSpPr>
        <p:spPr>
          <a:xfrm>
            <a:off x="314243" y="5591679"/>
            <a:ext cx="2948484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딸기 </a:t>
            </a:r>
            <a:r>
              <a:rPr lang="ko-KR" altLang="en-US" sz="1400" b="1" dirty="0" err="1"/>
              <a:t>스마트팜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AI</a:t>
            </a:r>
          </a:p>
          <a:p>
            <a:endParaRPr lang="en-US" altLang="ko-KR" sz="1400" dirty="0"/>
          </a:p>
          <a:p>
            <a:r>
              <a:rPr lang="en-US" altLang="ko-KR" sz="1200" dirty="0"/>
              <a:t>AI </a:t>
            </a:r>
            <a:r>
              <a:rPr lang="ko-KR" altLang="en-US" sz="1200" dirty="0"/>
              <a:t>기술로 딸기 농가의 생산성을 높이고 수익을 극대화하는 </a:t>
            </a:r>
            <a:r>
              <a:rPr lang="ko-KR" altLang="en-US" sz="1200" dirty="0" err="1"/>
              <a:t>스마트팜</a:t>
            </a:r>
            <a:r>
              <a:rPr lang="ko-KR" altLang="en-US" sz="1200" dirty="0"/>
              <a:t> 플랫폼</a:t>
            </a: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260EF70C-FDED-E0FA-93FC-1B4DFD2607FC}"/>
              </a:ext>
            </a:extLst>
          </p:cNvPr>
          <p:cNvGrpSpPr/>
          <p:nvPr/>
        </p:nvGrpSpPr>
        <p:grpSpPr>
          <a:xfrm>
            <a:off x="3302474" y="5567483"/>
            <a:ext cx="3871899" cy="1231323"/>
            <a:chOff x="3302474" y="5567483"/>
            <a:chExt cx="3871899" cy="1231323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102211E-EE03-7578-DCF7-6851AE5B1D6B}"/>
                </a:ext>
              </a:extLst>
            </p:cNvPr>
            <p:cNvSpPr txBox="1"/>
            <p:nvPr/>
          </p:nvSpPr>
          <p:spPr>
            <a:xfrm>
              <a:off x="3302474" y="5567483"/>
              <a:ext cx="2948484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 dirty="0"/>
                <a:t>연락처</a:t>
              </a:r>
              <a:endParaRPr lang="en-US" altLang="ko-KR" sz="1400" b="1" dirty="0"/>
            </a:p>
            <a:p>
              <a:endParaRPr lang="en-US" altLang="ko-KR" sz="1200" dirty="0"/>
            </a:p>
            <a:p>
              <a:r>
                <a:rPr lang="en-US" altLang="ko-KR" sz="1400" dirty="0"/>
                <a:t>☎ </a:t>
              </a:r>
              <a:r>
                <a:rPr lang="en-US" altLang="ko-KR" sz="1200" dirty="0"/>
                <a:t>02-1234-5678</a:t>
              </a:r>
              <a:endParaRPr lang="en-US" altLang="ko-KR" sz="1400" dirty="0"/>
            </a:p>
            <a:p>
              <a:endParaRPr lang="en-US" altLang="ko-KR" sz="1400" dirty="0"/>
            </a:p>
          </p:txBody>
        </p:sp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26630750-B972-8276-724C-9D1E79363911}"/>
                </a:ext>
              </a:extLst>
            </p:cNvPr>
            <p:cNvGrpSpPr/>
            <p:nvPr/>
          </p:nvGrpSpPr>
          <p:grpSpPr>
            <a:xfrm>
              <a:off x="3353160" y="6189459"/>
              <a:ext cx="3597504" cy="300923"/>
              <a:chOff x="7140164" y="5809504"/>
              <a:chExt cx="3597504" cy="300923"/>
            </a:xfrm>
          </p:grpSpPr>
          <p:pic>
            <p:nvPicPr>
              <p:cNvPr id="57" name="그래픽 56" descr="봉투 단색으로 채워진">
                <a:extLst>
                  <a:ext uri="{FF2B5EF4-FFF2-40B4-BE49-F238E27FC236}">
                    <a16:creationId xmlns:a16="http://schemas.microsoft.com/office/drawing/2014/main" id="{4729654A-AE8D-6730-D0F4-6B44029262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7140164" y="5833428"/>
                <a:ext cx="276999" cy="276999"/>
              </a:xfrm>
              <a:prstGeom prst="rect">
                <a:avLst/>
              </a:prstGeom>
            </p:spPr>
          </p:pic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6872CFB5-47C2-4569-0952-EC183A38A723}"/>
                  </a:ext>
                </a:extLst>
              </p:cNvPr>
              <p:cNvSpPr txBox="1"/>
              <p:nvPr/>
            </p:nvSpPr>
            <p:spPr>
              <a:xfrm>
                <a:off x="7353443" y="5809504"/>
                <a:ext cx="338422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dirty="0"/>
                  <a:t>contact@strawberryfarm.ai</a:t>
                </a:r>
                <a:endParaRPr lang="ko-KR" altLang="en-US" sz="1200" dirty="0"/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D3B832E8-8843-B016-0A6B-B306C0D2F811}"/>
                </a:ext>
              </a:extLst>
            </p:cNvPr>
            <p:cNvGrpSpPr/>
            <p:nvPr/>
          </p:nvGrpSpPr>
          <p:grpSpPr>
            <a:xfrm>
              <a:off x="3321530" y="6484231"/>
              <a:ext cx="3852843" cy="314575"/>
              <a:chOff x="6862601" y="5900592"/>
              <a:chExt cx="3852843" cy="314575"/>
            </a:xfrm>
          </p:grpSpPr>
          <p:pic>
            <p:nvPicPr>
              <p:cNvPr id="62" name="그래픽 61" descr="표식 단색으로 채워진">
                <a:extLst>
                  <a:ext uri="{FF2B5EF4-FFF2-40B4-BE49-F238E27FC236}">
                    <a16:creationId xmlns:a16="http://schemas.microsoft.com/office/drawing/2014/main" id="{FEB36D27-784D-3FF6-4D1A-D66D315A14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6862601" y="5900592"/>
                <a:ext cx="314575" cy="314575"/>
              </a:xfrm>
              <a:prstGeom prst="rect">
                <a:avLst/>
              </a:prstGeom>
            </p:spPr>
          </p:pic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7339EDE-0626-88CF-A5A1-9569AF6F268A}"/>
                  </a:ext>
                </a:extLst>
              </p:cNvPr>
              <p:cNvSpPr txBox="1"/>
              <p:nvPr/>
            </p:nvSpPr>
            <p:spPr>
              <a:xfrm>
                <a:off x="7075097" y="5912895"/>
                <a:ext cx="364034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200" dirty="0"/>
                  <a:t>서울특별시 종로구 </a:t>
                </a:r>
                <a:r>
                  <a:rPr lang="ko-KR" altLang="en-US" sz="1200" dirty="0" err="1"/>
                  <a:t>돈화문로</a:t>
                </a:r>
                <a:r>
                  <a:rPr lang="ko-KR" altLang="en-US" sz="1200" dirty="0"/>
                  <a:t> </a:t>
                </a:r>
                <a:r>
                  <a:rPr lang="en-US" altLang="ko-KR" sz="1200" dirty="0"/>
                  <a:t>123</a:t>
                </a:r>
                <a:endParaRPr lang="ko-KR" altLang="en-US" sz="1200" dirty="0"/>
              </a:p>
            </p:txBody>
          </p:sp>
        </p:grp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8F8B3776-28D9-FCAB-AC81-3964AD669902}"/>
              </a:ext>
            </a:extLst>
          </p:cNvPr>
          <p:cNvSpPr txBox="1"/>
          <p:nvPr/>
        </p:nvSpPr>
        <p:spPr>
          <a:xfrm>
            <a:off x="6234024" y="5597830"/>
            <a:ext cx="294848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바로가기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ko-KR" altLang="en-US" sz="1200" dirty="0"/>
              <a:t>서비스 소개</a:t>
            </a:r>
            <a:endParaRPr lang="en-US" altLang="ko-KR" sz="1200" dirty="0"/>
          </a:p>
          <a:p>
            <a:r>
              <a:rPr lang="ko-KR" altLang="en-US" sz="1200" dirty="0"/>
              <a:t>문의하기</a:t>
            </a:r>
            <a:endParaRPr lang="en-US" altLang="ko-KR" sz="1200" dirty="0"/>
          </a:p>
          <a:p>
            <a:r>
              <a:rPr lang="ko-KR" altLang="en-US" sz="1200" dirty="0"/>
              <a:t>이용약관</a:t>
            </a:r>
            <a:endParaRPr lang="en-US" altLang="ko-KR" sz="1200" dirty="0"/>
          </a:p>
          <a:p>
            <a:r>
              <a:rPr lang="ko-KR" altLang="en-US" sz="1200" dirty="0"/>
              <a:t>개인정보처리방침</a:t>
            </a:r>
            <a:endParaRPr lang="en-US" altLang="ko-KR" sz="1200" dirty="0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4BB19427-E985-07BE-87E5-B2A6F5BE53A6}"/>
              </a:ext>
            </a:extLst>
          </p:cNvPr>
          <p:cNvSpPr/>
          <p:nvPr/>
        </p:nvSpPr>
        <p:spPr>
          <a:xfrm>
            <a:off x="47754" y="5163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E58CC2A8-1432-4F45-882D-2ACD6FFC9372}"/>
              </a:ext>
            </a:extLst>
          </p:cNvPr>
          <p:cNvSpPr/>
          <p:nvPr/>
        </p:nvSpPr>
        <p:spPr>
          <a:xfrm>
            <a:off x="3583046" y="10549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CAFB5C0A-F0E4-9546-165B-4A738E803A16}"/>
              </a:ext>
            </a:extLst>
          </p:cNvPr>
          <p:cNvSpPr/>
          <p:nvPr/>
        </p:nvSpPr>
        <p:spPr>
          <a:xfrm>
            <a:off x="7999771" y="75255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7DBF074-75CB-DE37-B976-30E867FAB7AD}"/>
              </a:ext>
            </a:extLst>
          </p:cNvPr>
          <p:cNvSpPr txBox="1"/>
          <p:nvPr/>
        </p:nvSpPr>
        <p:spPr>
          <a:xfrm>
            <a:off x="9285828" y="175384"/>
            <a:ext cx="2805020" cy="6571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Main.html</a:t>
            </a:r>
          </a:p>
          <a:p>
            <a:pPr marL="342900" indent="-342900">
              <a:buAutoNum type="arabicPeriod"/>
            </a:pPr>
            <a:endParaRPr lang="en-US" altLang="ko-KR" sz="12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내비게이션 영역 안에 포함된</a:t>
            </a:r>
            <a:r>
              <a:rPr lang="en-US" altLang="ko-KR" sz="1200" dirty="0"/>
              <a:t>, </a:t>
            </a:r>
            <a:r>
              <a:rPr lang="ko-KR" altLang="en-US" sz="1200" dirty="0"/>
              <a:t>로고 및 웹 서비스명</a:t>
            </a:r>
            <a:r>
              <a:rPr lang="en-US" altLang="ko-KR" sz="1200" dirty="0"/>
              <a:t>. </a:t>
            </a:r>
            <a:r>
              <a:rPr lang="ko-KR" altLang="en-US" sz="1200" dirty="0"/>
              <a:t>어디서든</a:t>
            </a:r>
            <a:r>
              <a:rPr lang="en-US" altLang="ko-KR" sz="1200" dirty="0"/>
              <a:t> </a:t>
            </a:r>
            <a:r>
              <a:rPr lang="ko-KR" altLang="en-US" sz="1200" dirty="0"/>
              <a:t>로고를 클릭하면 </a:t>
            </a:r>
            <a:r>
              <a:rPr lang="ko-KR" altLang="en-US" sz="1200" dirty="0" err="1"/>
              <a:t>메인화면으로</a:t>
            </a:r>
            <a:r>
              <a:rPr lang="ko-KR" altLang="en-US" sz="1200" dirty="0"/>
              <a:t> 돌아온다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클릭하면 각 서비스 화면으로 넘어간다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로그인 창을 누르면 로그인 화면으로 넘어간다</a:t>
            </a:r>
            <a:r>
              <a:rPr lang="en-US" altLang="ko-KR" sz="1200" dirty="0"/>
              <a:t>. </a:t>
            </a:r>
            <a:r>
              <a:rPr lang="ko-KR" altLang="en-US" sz="1200" dirty="0"/>
              <a:t>로그인 상태라면 아이디 혹은 이름을 표시한다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서비스에 대해 간략히 설명하는 영역</a:t>
            </a:r>
            <a:endParaRPr lang="en-US" altLang="ko-KR" sz="1200" dirty="0"/>
          </a:p>
          <a:p>
            <a:pPr marL="342900" indent="-342900">
              <a:buAutoNum type="arabicPeriod"/>
            </a:pPr>
            <a:endParaRPr lang="en-US" altLang="ko-KR" sz="400" dirty="0"/>
          </a:p>
          <a:p>
            <a:pPr marL="342900" indent="-342900">
              <a:buAutoNum type="arabicPeriod"/>
            </a:pPr>
            <a:r>
              <a:rPr lang="ko-KR" altLang="en-US" sz="1200" dirty="0"/>
              <a:t>서비스를 이해하기 쉽도록 하는 사진</a:t>
            </a:r>
            <a:endParaRPr lang="en-US" altLang="ko-KR" sz="1200" dirty="0"/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로그인 상태에서 클릭하면 대시보드 화면으로 넘어간다</a:t>
            </a:r>
            <a:r>
              <a:rPr lang="en-US" altLang="ko-KR" sz="1200" dirty="0"/>
              <a:t>. </a:t>
            </a:r>
            <a:r>
              <a:rPr lang="ko-KR" altLang="en-US" sz="1200" dirty="0"/>
              <a:t>로그인을 하지 않았을 시에는 로그인</a:t>
            </a:r>
            <a:r>
              <a:rPr lang="en-US" altLang="ko-KR" sz="1200" dirty="0"/>
              <a:t>/</a:t>
            </a:r>
            <a:r>
              <a:rPr lang="ko-KR" altLang="en-US" sz="1200" dirty="0"/>
              <a:t>회원가입 창으로 넘어간다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클릭하면 데이터분석 화면으로 넘어간다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클릭하면 가격예측 화면으로 넘어간다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로그인</a:t>
            </a:r>
            <a:r>
              <a:rPr lang="en-US" altLang="ko-KR" sz="1200" dirty="0"/>
              <a:t> </a:t>
            </a:r>
            <a:r>
              <a:rPr lang="ko-KR" altLang="en-US" sz="1200" dirty="0"/>
              <a:t>화면으로 넘어간다</a:t>
            </a:r>
            <a:r>
              <a:rPr lang="en-US" altLang="ko-KR" sz="1200" dirty="0"/>
              <a:t>. </a:t>
            </a:r>
            <a:r>
              <a:rPr lang="ko-KR" altLang="en-US" sz="1200" dirty="0"/>
              <a:t>로그인 상태라면 보이지 않는다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클릭하면 문의 </a:t>
            </a:r>
            <a:r>
              <a:rPr lang="en-US" altLang="ko-KR" sz="1200" dirty="0"/>
              <a:t>form</a:t>
            </a:r>
            <a:r>
              <a:rPr lang="ko-KR" altLang="en-US" sz="1200" dirty="0"/>
              <a:t>을 띄운다</a:t>
            </a:r>
            <a:r>
              <a:rPr lang="en-US" altLang="ko-KR" sz="1200" dirty="0"/>
              <a:t>. 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간단한 설명</a:t>
            </a:r>
            <a:r>
              <a:rPr lang="en-US" altLang="ko-KR" sz="1200" dirty="0"/>
              <a:t>, </a:t>
            </a:r>
            <a:r>
              <a:rPr lang="ko-KR" altLang="en-US" sz="1200" dirty="0"/>
              <a:t>연락처</a:t>
            </a:r>
            <a:r>
              <a:rPr lang="en-US" altLang="ko-KR" sz="1200" dirty="0"/>
              <a:t>, </a:t>
            </a:r>
            <a:r>
              <a:rPr lang="ko-KR" altLang="en-US" sz="1200" dirty="0"/>
              <a:t>바로가기 링크를 모아둔 </a:t>
            </a:r>
            <a:r>
              <a:rPr lang="en-US" altLang="ko-KR" sz="1200" dirty="0"/>
              <a:t>footer</a:t>
            </a:r>
            <a:r>
              <a:rPr lang="ko-KR" altLang="en-US" sz="1200" dirty="0"/>
              <a:t>영역으로</a:t>
            </a:r>
            <a:r>
              <a:rPr lang="en-US" altLang="ko-KR" sz="1200" dirty="0"/>
              <a:t>, </a:t>
            </a:r>
            <a:r>
              <a:rPr lang="ko-KR" altLang="en-US" sz="1200" dirty="0"/>
              <a:t>어느 </a:t>
            </a:r>
            <a:r>
              <a:rPr lang="ko-KR" altLang="en-US" sz="1200" dirty="0" err="1"/>
              <a:t>페이지에서든</a:t>
            </a:r>
            <a:r>
              <a:rPr lang="ko-KR" altLang="en-US" sz="1200" dirty="0"/>
              <a:t> 최하단에 표시된다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ko-KR" altLang="en-US" sz="1200" dirty="0"/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9B2C3031-77F0-FACB-DE9B-7F11E3C8CEC9}"/>
              </a:ext>
            </a:extLst>
          </p:cNvPr>
          <p:cNvSpPr/>
          <p:nvPr/>
        </p:nvSpPr>
        <p:spPr>
          <a:xfrm>
            <a:off x="93946" y="874001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DB76D584-1D3C-217B-48CC-7FCFB874486D}"/>
              </a:ext>
            </a:extLst>
          </p:cNvPr>
          <p:cNvSpPr/>
          <p:nvPr/>
        </p:nvSpPr>
        <p:spPr>
          <a:xfrm>
            <a:off x="4917874" y="903094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1E9907D6-CF23-6E15-6DC6-E2DBEB0F9EEF}"/>
              </a:ext>
            </a:extLst>
          </p:cNvPr>
          <p:cNvSpPr/>
          <p:nvPr/>
        </p:nvSpPr>
        <p:spPr>
          <a:xfrm>
            <a:off x="233937" y="2750301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CEC173-4D97-9B71-C120-820C77881CA5}"/>
              </a:ext>
            </a:extLst>
          </p:cNvPr>
          <p:cNvSpPr/>
          <p:nvPr/>
        </p:nvSpPr>
        <p:spPr>
          <a:xfrm>
            <a:off x="3155835" y="2767419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E909F6C3-B2FA-2934-C9E6-9C93D80CC221}"/>
              </a:ext>
            </a:extLst>
          </p:cNvPr>
          <p:cNvSpPr/>
          <p:nvPr/>
        </p:nvSpPr>
        <p:spPr>
          <a:xfrm>
            <a:off x="6159571" y="2772680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728D6FBE-C2D7-81E1-1A4F-D9AE37267AF9}"/>
              </a:ext>
            </a:extLst>
          </p:cNvPr>
          <p:cNvSpPr/>
          <p:nvPr/>
        </p:nvSpPr>
        <p:spPr>
          <a:xfrm>
            <a:off x="3048682" y="4660844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977FCDEB-FF1B-4DBA-33E2-0F5EC386FC05}"/>
              </a:ext>
            </a:extLst>
          </p:cNvPr>
          <p:cNvSpPr/>
          <p:nvPr/>
        </p:nvSpPr>
        <p:spPr>
          <a:xfrm>
            <a:off x="4577527" y="4669138"/>
            <a:ext cx="431550" cy="21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10</a:t>
            </a:r>
            <a:endParaRPr lang="ko-KR" altLang="en-US" sz="1600" dirty="0"/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CB7BA8D5-0611-FF56-9290-F88190856027}"/>
              </a:ext>
            </a:extLst>
          </p:cNvPr>
          <p:cNvSpPr/>
          <p:nvPr/>
        </p:nvSpPr>
        <p:spPr>
          <a:xfrm>
            <a:off x="123403" y="5359306"/>
            <a:ext cx="431550" cy="2195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11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4373018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그림 118" descr="The image shows a line chart depicting the daily fluctuating prices of strawberries in South Korea, ranging from 10,350 to 10,600 won per kilogram between March 1st and March 14th.&#10;&#10;AI 생성 콘텐츠는 정확하지 않을 수 있습니다.">
            <a:extLst>
              <a:ext uri="{FF2B5EF4-FFF2-40B4-BE49-F238E27FC236}">
                <a16:creationId xmlns:a16="http://schemas.microsoft.com/office/drawing/2014/main" id="{98DD4B55-BCCF-D8BA-FA67-712CEE4698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4701" y="2105123"/>
            <a:ext cx="3632379" cy="2479940"/>
          </a:xfrm>
          <a:prstGeom prst="rect">
            <a:avLst/>
          </a:prstGeom>
        </p:spPr>
      </p:pic>
      <p:pic>
        <p:nvPicPr>
          <p:cNvPr id="113" name="그림 112" descr="The image shows a line graph depicting the daily production of strawberries in South Korea, with the data points ranging from March 3rd to March 14th, 2020.&#10;&#10;AI 생성 콘텐츠는 정확하지 않을 수 있습니다.">
            <a:extLst>
              <a:ext uri="{FF2B5EF4-FFF2-40B4-BE49-F238E27FC236}">
                <a16:creationId xmlns:a16="http://schemas.microsoft.com/office/drawing/2014/main" id="{9BB050D5-D033-8509-C8F8-8911B96A09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150" y="2104809"/>
            <a:ext cx="3615820" cy="2480189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AAE336C-B305-84D9-2A73-29921BA5922E}"/>
              </a:ext>
            </a:extLst>
          </p:cNvPr>
          <p:cNvCxnSpPr>
            <a:cxnSpLocks/>
          </p:cNvCxnSpPr>
          <p:nvPr/>
        </p:nvCxnSpPr>
        <p:spPr>
          <a:xfrm>
            <a:off x="293914" y="689004"/>
            <a:ext cx="87837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A5E42B8-7979-C18D-4533-D7CB1E0A0877}"/>
              </a:ext>
            </a:extLst>
          </p:cNvPr>
          <p:cNvSpPr txBox="1"/>
          <p:nvPr/>
        </p:nvSpPr>
        <p:spPr>
          <a:xfrm>
            <a:off x="874648" y="177802"/>
            <a:ext cx="1966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딸기 </a:t>
            </a:r>
            <a:r>
              <a:rPr lang="ko-KR" altLang="en-US" dirty="0" err="1"/>
              <a:t>스마트팜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endParaRPr lang="ko-KR" altLang="en-US" dirty="0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7965000A-B333-55FE-6C74-667922351B0E}"/>
              </a:ext>
            </a:extLst>
          </p:cNvPr>
          <p:cNvGrpSpPr/>
          <p:nvPr/>
        </p:nvGrpSpPr>
        <p:grpSpPr>
          <a:xfrm>
            <a:off x="2954235" y="199611"/>
            <a:ext cx="3819754" cy="307777"/>
            <a:chOff x="4065917" y="301284"/>
            <a:chExt cx="3819754" cy="30777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B8C4FFD-586D-B94C-723C-C4397F809826}"/>
                </a:ext>
              </a:extLst>
            </p:cNvPr>
            <p:cNvSpPr txBox="1"/>
            <p:nvPr/>
          </p:nvSpPr>
          <p:spPr>
            <a:xfrm>
              <a:off x="5316748" y="301284"/>
              <a:ext cx="139172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데이터분석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22FCC93-68EA-4968-528C-D83BB9A954D1}"/>
                </a:ext>
              </a:extLst>
            </p:cNvPr>
            <p:cNvSpPr txBox="1"/>
            <p:nvPr/>
          </p:nvSpPr>
          <p:spPr>
            <a:xfrm>
              <a:off x="6493943" y="301284"/>
              <a:ext cx="139172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가격 예측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6FA35B8-0471-2FFD-1270-086C0A460D7D}"/>
                </a:ext>
              </a:extLst>
            </p:cNvPr>
            <p:cNvSpPr txBox="1"/>
            <p:nvPr/>
          </p:nvSpPr>
          <p:spPr>
            <a:xfrm>
              <a:off x="4065917" y="301284"/>
              <a:ext cx="1391728" cy="307777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대시보드</a:t>
              </a:r>
            </a:p>
          </p:txBody>
        </p:sp>
      </p:grp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B0B24E7E-6C1C-D71E-705F-F273CA31DF33}"/>
              </a:ext>
            </a:extLst>
          </p:cNvPr>
          <p:cNvSpPr/>
          <p:nvPr/>
        </p:nvSpPr>
        <p:spPr>
          <a:xfrm>
            <a:off x="8176402" y="193591"/>
            <a:ext cx="901257" cy="346339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로그아웃</a:t>
            </a: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FDBAA96C-3E47-9F4A-1054-688EFCBD2114}"/>
              </a:ext>
            </a:extLst>
          </p:cNvPr>
          <p:cNvCxnSpPr>
            <a:cxnSpLocks/>
          </p:cNvCxnSpPr>
          <p:nvPr/>
        </p:nvCxnSpPr>
        <p:spPr>
          <a:xfrm>
            <a:off x="9201509" y="301284"/>
            <a:ext cx="0" cy="6472249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183148B9-DDDE-270C-9AB7-E7A6B49CD1A9}"/>
              </a:ext>
            </a:extLst>
          </p:cNvPr>
          <p:cNvSpPr/>
          <p:nvPr/>
        </p:nvSpPr>
        <p:spPr>
          <a:xfrm>
            <a:off x="241663" y="91389"/>
            <a:ext cx="653330" cy="54215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531DDDF8-8D25-65D6-4C5D-2D168151B714}"/>
              </a:ext>
            </a:extLst>
          </p:cNvPr>
          <p:cNvSpPr/>
          <p:nvPr/>
        </p:nvSpPr>
        <p:spPr>
          <a:xfrm>
            <a:off x="47754" y="5163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B0A8F858-472D-A9EB-60B7-2F8AC388FB2D}"/>
              </a:ext>
            </a:extLst>
          </p:cNvPr>
          <p:cNvSpPr/>
          <p:nvPr/>
        </p:nvSpPr>
        <p:spPr>
          <a:xfrm>
            <a:off x="2954235" y="75816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2FB0F881-3520-E483-41C4-E8BEC2893060}"/>
              </a:ext>
            </a:extLst>
          </p:cNvPr>
          <p:cNvSpPr/>
          <p:nvPr/>
        </p:nvSpPr>
        <p:spPr>
          <a:xfrm>
            <a:off x="7024762" y="117897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0001C15-1D02-467F-D92E-8DD6D109BC4E}"/>
              </a:ext>
            </a:extLst>
          </p:cNvPr>
          <p:cNvSpPr txBox="1"/>
          <p:nvPr/>
        </p:nvSpPr>
        <p:spPr>
          <a:xfrm>
            <a:off x="9285828" y="175384"/>
            <a:ext cx="2805020" cy="63401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DashBoard.html</a:t>
            </a:r>
          </a:p>
          <a:p>
            <a:pPr marL="342900" indent="-342900">
              <a:buAutoNum type="arabicPeriod"/>
            </a:pPr>
            <a:endParaRPr lang="en-US" altLang="ko-KR" sz="12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로고를 클릭하면 </a:t>
            </a:r>
            <a:r>
              <a:rPr lang="ko-KR" altLang="en-US" sz="1200" dirty="0" err="1"/>
              <a:t>메인화면으로</a:t>
            </a:r>
            <a:r>
              <a:rPr lang="ko-KR" altLang="en-US" sz="1200" dirty="0"/>
              <a:t> 돌아간다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현재 페이지의 서비스에 해당하는 항목의 배경이 회색으로 처리된다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로그인 시에는 사용자 이름</a:t>
            </a:r>
            <a:r>
              <a:rPr lang="en-US" altLang="ko-KR" sz="1200" dirty="0"/>
              <a:t> </a:t>
            </a:r>
            <a:r>
              <a:rPr lang="ko-KR" altLang="en-US" sz="1200" dirty="0"/>
              <a:t>혹은 아이디를 표시하고</a:t>
            </a:r>
            <a:r>
              <a:rPr lang="en-US" altLang="ko-KR" sz="1200" dirty="0"/>
              <a:t>, </a:t>
            </a:r>
            <a:r>
              <a:rPr lang="ko-KR" altLang="en-US" sz="1200" dirty="0"/>
              <a:t>로그아웃 버튼을 누르면 로그아웃이 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도매가 정보를 표시한다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사용자의 이번 달 수확량을 예측해서 표시한다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사용자의 이번 달 예상 매출을 표시한다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딸기 생산량 추이를 보여준다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일간</a:t>
            </a:r>
            <a:r>
              <a:rPr lang="en-US" altLang="ko-KR" sz="1200" dirty="0"/>
              <a:t>/</a:t>
            </a:r>
            <a:r>
              <a:rPr lang="ko-KR" altLang="en-US" sz="1200" dirty="0"/>
              <a:t>주간</a:t>
            </a:r>
            <a:r>
              <a:rPr lang="en-US" altLang="ko-KR" sz="1200" dirty="0"/>
              <a:t>/</a:t>
            </a:r>
            <a:r>
              <a:rPr lang="ko-KR" altLang="en-US" sz="1200" dirty="0"/>
              <a:t>월간으로 나눠서 보여준다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딸기 가격 추이를 보여준다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재배 현황을 표시한다</a:t>
            </a:r>
            <a:endParaRPr lang="en-US" altLang="ko-KR" sz="1200" dirty="0"/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각 동별로 표시한다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해당 동의 예상 출하일을 표시한다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예상 출하량을 표시한다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예상 수익을 표시한다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조기출하</a:t>
            </a:r>
            <a:r>
              <a:rPr lang="en-US" altLang="ko-KR" sz="1200" dirty="0"/>
              <a:t>, </a:t>
            </a:r>
            <a:r>
              <a:rPr lang="ko-KR" altLang="en-US" sz="1200" dirty="0"/>
              <a:t>출하지연</a:t>
            </a:r>
            <a:r>
              <a:rPr lang="en-US" altLang="ko-KR" sz="1200" dirty="0"/>
              <a:t>, </a:t>
            </a:r>
            <a:r>
              <a:rPr lang="ko-KR" altLang="en-US" sz="1200" dirty="0"/>
              <a:t>적기출하</a:t>
            </a:r>
            <a:r>
              <a:rPr lang="en-US" altLang="ko-KR" sz="1200" dirty="0"/>
              <a:t>, </a:t>
            </a:r>
            <a:r>
              <a:rPr lang="ko-KR" altLang="en-US" sz="1200" dirty="0"/>
              <a:t>이렇게 세 가지로 간단히 추천해서각 동별로 보여준다</a:t>
            </a:r>
            <a:r>
              <a:rPr lang="en-US" altLang="ko-KR" sz="1200" dirty="0"/>
              <a:t>.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AC4E8F1-611E-9DA3-CF5D-27282CF52EBE}"/>
              </a:ext>
            </a:extLst>
          </p:cNvPr>
          <p:cNvSpPr txBox="1"/>
          <p:nvPr/>
        </p:nvSpPr>
        <p:spPr>
          <a:xfrm>
            <a:off x="7276011" y="199611"/>
            <a:ext cx="9003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홍길동님</a:t>
            </a:r>
          </a:p>
        </p:txBody>
      </p: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D3940E03-08EA-EEA8-A9B5-A543766EE21B}"/>
              </a:ext>
            </a:extLst>
          </p:cNvPr>
          <p:cNvGrpSpPr/>
          <p:nvPr/>
        </p:nvGrpSpPr>
        <p:grpSpPr>
          <a:xfrm>
            <a:off x="292987" y="979715"/>
            <a:ext cx="8602819" cy="954104"/>
            <a:chOff x="292987" y="979714"/>
            <a:chExt cx="8602819" cy="1665511"/>
          </a:xfrm>
        </p:grpSpPr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3970DE77-6F3D-D70B-FB96-656259C8DDFE}"/>
                </a:ext>
              </a:extLst>
            </p:cNvPr>
            <p:cNvGrpSpPr/>
            <p:nvPr/>
          </p:nvGrpSpPr>
          <p:grpSpPr>
            <a:xfrm>
              <a:off x="292987" y="979714"/>
              <a:ext cx="2378368" cy="1665511"/>
              <a:chOff x="292987" y="979714"/>
              <a:chExt cx="2378368" cy="1665511"/>
            </a:xfrm>
          </p:grpSpPr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4AFE5E2E-54B5-C435-6BA2-9A61C8F2A4B6}"/>
                  </a:ext>
                </a:extLst>
              </p:cNvPr>
              <p:cNvSpPr/>
              <p:nvPr/>
            </p:nvSpPr>
            <p:spPr>
              <a:xfrm>
                <a:off x="292987" y="979714"/>
                <a:ext cx="2378368" cy="1665511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dirty="0"/>
                  <a:t>오늘의 딸기 도매가</a:t>
                </a:r>
                <a:endParaRPr lang="en-US" altLang="ko-KR" sz="1400" dirty="0"/>
              </a:p>
              <a:p>
                <a:pPr algn="ctr"/>
                <a:endParaRPr lang="en-US" altLang="ko-KR" sz="1400" dirty="0"/>
              </a:p>
              <a:p>
                <a:pPr algn="ctr"/>
                <a:r>
                  <a:rPr lang="en-US" altLang="ko-KR" b="1" dirty="0">
                    <a:solidFill>
                      <a:schemeClr val="tx1"/>
                    </a:solidFill>
                  </a:rPr>
                  <a:t>10,500</a:t>
                </a:r>
                <a:r>
                  <a:rPr lang="ko-KR" altLang="en-US" b="1" dirty="0">
                    <a:solidFill>
                      <a:schemeClr val="tx1"/>
                    </a:solidFill>
                  </a:rPr>
                  <a:t>원 </a:t>
                </a:r>
                <a:r>
                  <a:rPr lang="en-US" altLang="ko-KR" b="1" dirty="0">
                    <a:solidFill>
                      <a:schemeClr val="tx1"/>
                    </a:solidFill>
                  </a:rPr>
                  <a:t>/ kg</a:t>
                </a:r>
              </a:p>
              <a:p>
                <a:pPr algn="ctr"/>
                <a:endParaRPr lang="ko-KR" altLang="en-US" sz="1400" dirty="0"/>
              </a:p>
            </p:txBody>
          </p:sp>
          <p:grpSp>
            <p:nvGrpSpPr>
              <p:cNvPr id="95" name="그룹 94">
                <a:extLst>
                  <a:ext uri="{FF2B5EF4-FFF2-40B4-BE49-F238E27FC236}">
                    <a16:creationId xmlns:a16="http://schemas.microsoft.com/office/drawing/2014/main" id="{73BEA913-68EA-FF0B-15F6-1479BCAD8754}"/>
                  </a:ext>
                </a:extLst>
              </p:cNvPr>
              <p:cNvGrpSpPr/>
              <p:nvPr/>
            </p:nvGrpSpPr>
            <p:grpSpPr>
              <a:xfrm>
                <a:off x="769784" y="2191320"/>
                <a:ext cx="1392118" cy="385455"/>
                <a:chOff x="1063698" y="3193869"/>
                <a:chExt cx="1392118" cy="385455"/>
              </a:xfrm>
            </p:grpSpPr>
            <p:sp>
              <p:nvSpPr>
                <p:cNvPr id="93" name="자유형: 도형 92">
                  <a:extLst>
                    <a:ext uri="{FF2B5EF4-FFF2-40B4-BE49-F238E27FC236}">
                      <a16:creationId xmlns:a16="http://schemas.microsoft.com/office/drawing/2014/main" id="{29C9FAC8-B871-89F0-F0E2-70A17C693ABA}"/>
                    </a:ext>
                  </a:extLst>
                </p:cNvPr>
                <p:cNvSpPr/>
                <p:nvPr/>
              </p:nvSpPr>
              <p:spPr>
                <a:xfrm>
                  <a:off x="1063698" y="3297319"/>
                  <a:ext cx="386838" cy="261826"/>
                </a:xfrm>
                <a:custGeom>
                  <a:avLst/>
                  <a:gdLst>
                    <a:gd name="csX0" fmla="*/ 401003 w 553402"/>
                    <a:gd name="csY0" fmla="*/ 0 h 324802"/>
                    <a:gd name="csX1" fmla="*/ 457200 w 553402"/>
                    <a:gd name="csY1" fmla="*/ 56198 h 324802"/>
                    <a:gd name="csX2" fmla="*/ 381953 w 553402"/>
                    <a:gd name="csY2" fmla="*/ 131445 h 324802"/>
                    <a:gd name="csX3" fmla="*/ 324803 w 553402"/>
                    <a:gd name="csY3" fmla="*/ 74295 h 324802"/>
                    <a:gd name="csX4" fmla="*/ 229553 w 553402"/>
                    <a:gd name="csY4" fmla="*/ 169545 h 324802"/>
                    <a:gd name="csX5" fmla="*/ 172403 w 553402"/>
                    <a:gd name="csY5" fmla="*/ 112395 h 324802"/>
                    <a:gd name="csX6" fmla="*/ 0 w 553402"/>
                    <a:gd name="csY6" fmla="*/ 284798 h 324802"/>
                    <a:gd name="csX7" fmla="*/ 40005 w 553402"/>
                    <a:gd name="csY7" fmla="*/ 324803 h 324802"/>
                    <a:gd name="csX8" fmla="*/ 172403 w 553402"/>
                    <a:gd name="csY8" fmla="*/ 192405 h 324802"/>
                    <a:gd name="csX9" fmla="*/ 229553 w 553402"/>
                    <a:gd name="csY9" fmla="*/ 249555 h 324802"/>
                    <a:gd name="csX10" fmla="*/ 324803 w 553402"/>
                    <a:gd name="csY10" fmla="*/ 154305 h 324802"/>
                    <a:gd name="csX11" fmla="*/ 381953 w 553402"/>
                    <a:gd name="csY11" fmla="*/ 211455 h 324802"/>
                    <a:gd name="csX12" fmla="*/ 497205 w 553402"/>
                    <a:gd name="csY12" fmla="*/ 96202 h 324802"/>
                    <a:gd name="csX13" fmla="*/ 553403 w 553402"/>
                    <a:gd name="csY13" fmla="*/ 152400 h 324802"/>
                    <a:gd name="csX14" fmla="*/ 553403 w 553402"/>
                    <a:gd name="csY14" fmla="*/ 0 h 3248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553402" h="324802">
                      <a:moveTo>
                        <a:pt x="401003" y="0"/>
                      </a:moveTo>
                      <a:lnTo>
                        <a:pt x="457200" y="56198"/>
                      </a:lnTo>
                      <a:lnTo>
                        <a:pt x="381953" y="131445"/>
                      </a:lnTo>
                      <a:lnTo>
                        <a:pt x="324803" y="74295"/>
                      </a:lnTo>
                      <a:lnTo>
                        <a:pt x="229553" y="169545"/>
                      </a:lnTo>
                      <a:lnTo>
                        <a:pt x="172403" y="112395"/>
                      </a:lnTo>
                      <a:lnTo>
                        <a:pt x="0" y="284798"/>
                      </a:lnTo>
                      <a:lnTo>
                        <a:pt x="40005" y="324803"/>
                      </a:lnTo>
                      <a:lnTo>
                        <a:pt x="172403" y="192405"/>
                      </a:lnTo>
                      <a:lnTo>
                        <a:pt x="229553" y="249555"/>
                      </a:lnTo>
                      <a:lnTo>
                        <a:pt x="324803" y="154305"/>
                      </a:lnTo>
                      <a:lnTo>
                        <a:pt x="381953" y="211455"/>
                      </a:lnTo>
                      <a:lnTo>
                        <a:pt x="497205" y="96202"/>
                      </a:lnTo>
                      <a:lnTo>
                        <a:pt x="553403" y="152400"/>
                      </a:lnTo>
                      <a:lnTo>
                        <a:pt x="553403" y="0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D1CEDDA8-9578-F23B-0A6D-04E0CC2BC0C9}"/>
                    </a:ext>
                  </a:extLst>
                </p:cNvPr>
                <p:cNvSpPr txBox="1"/>
                <p:nvPr/>
              </p:nvSpPr>
              <p:spPr>
                <a:xfrm>
                  <a:off x="1417319" y="3193869"/>
                  <a:ext cx="1038497" cy="3854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1400" dirty="0">
                      <a:solidFill>
                        <a:schemeClr val="accent6"/>
                      </a:solidFill>
                    </a:rPr>
                    <a:t>+0.9%</a:t>
                  </a:r>
                  <a:endParaRPr lang="ko-KR" altLang="en-US" sz="1400" dirty="0">
                    <a:solidFill>
                      <a:schemeClr val="accent6"/>
                    </a:solidFill>
                  </a:endParaRPr>
                </a:p>
              </p:txBody>
            </p:sp>
          </p:grpSp>
        </p:grpSp>
        <p:grpSp>
          <p:nvGrpSpPr>
            <p:cNvPr id="115" name="그룹 114">
              <a:extLst>
                <a:ext uri="{FF2B5EF4-FFF2-40B4-BE49-F238E27FC236}">
                  <a16:creationId xmlns:a16="http://schemas.microsoft.com/office/drawing/2014/main" id="{513C2341-5C9C-CC34-150E-86ADF701B7E4}"/>
                </a:ext>
              </a:extLst>
            </p:cNvPr>
            <p:cNvGrpSpPr/>
            <p:nvPr/>
          </p:nvGrpSpPr>
          <p:grpSpPr>
            <a:xfrm>
              <a:off x="2954234" y="979714"/>
              <a:ext cx="2538695" cy="1665511"/>
              <a:chOff x="2954234" y="979714"/>
              <a:chExt cx="2538695" cy="1665511"/>
            </a:xfrm>
          </p:grpSpPr>
          <p:sp>
            <p:nvSpPr>
              <p:cNvPr id="97" name="사각형: 둥근 모서리 96">
                <a:extLst>
                  <a:ext uri="{FF2B5EF4-FFF2-40B4-BE49-F238E27FC236}">
                    <a16:creationId xmlns:a16="http://schemas.microsoft.com/office/drawing/2014/main" id="{57DBB132-8D53-7107-BA13-A445018068A8}"/>
                  </a:ext>
                </a:extLst>
              </p:cNvPr>
              <p:cNvSpPr/>
              <p:nvPr/>
            </p:nvSpPr>
            <p:spPr>
              <a:xfrm>
                <a:off x="2954234" y="979714"/>
                <a:ext cx="2538695" cy="1665511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dirty="0"/>
                  <a:t>이번 달 예상 수확량</a:t>
                </a:r>
                <a:endParaRPr lang="en-US" altLang="ko-KR" sz="1400" dirty="0"/>
              </a:p>
              <a:p>
                <a:pPr algn="ctr"/>
                <a:endParaRPr lang="en-US" altLang="ko-KR" sz="1400" dirty="0"/>
              </a:p>
              <a:p>
                <a:pPr algn="ctr"/>
                <a:r>
                  <a:rPr lang="en-US" altLang="ko-KR" b="1" dirty="0">
                    <a:solidFill>
                      <a:schemeClr val="tx1"/>
                    </a:solidFill>
                  </a:rPr>
                  <a:t>1,820 kg</a:t>
                </a:r>
              </a:p>
              <a:p>
                <a:pPr algn="ctr"/>
                <a:endParaRPr lang="ko-KR" altLang="en-US" sz="1400" dirty="0"/>
              </a:p>
            </p:txBody>
          </p:sp>
          <p:grpSp>
            <p:nvGrpSpPr>
              <p:cNvPr id="98" name="그룹 97">
                <a:extLst>
                  <a:ext uri="{FF2B5EF4-FFF2-40B4-BE49-F238E27FC236}">
                    <a16:creationId xmlns:a16="http://schemas.microsoft.com/office/drawing/2014/main" id="{E41549D5-8D39-AEDA-BB83-52632552B3AB}"/>
                  </a:ext>
                </a:extLst>
              </p:cNvPr>
              <p:cNvGrpSpPr/>
              <p:nvPr/>
            </p:nvGrpSpPr>
            <p:grpSpPr>
              <a:xfrm>
                <a:off x="3754685" y="2191320"/>
                <a:ext cx="1390016" cy="385455"/>
                <a:chOff x="1175964" y="3193869"/>
                <a:chExt cx="1390016" cy="385455"/>
              </a:xfrm>
            </p:grpSpPr>
            <p:sp>
              <p:nvSpPr>
                <p:cNvPr id="99" name="자유형: 도형 98">
                  <a:extLst>
                    <a:ext uri="{FF2B5EF4-FFF2-40B4-BE49-F238E27FC236}">
                      <a16:creationId xmlns:a16="http://schemas.microsoft.com/office/drawing/2014/main" id="{3CB68A7F-BF23-4DA6-4AE5-266A4825439A}"/>
                    </a:ext>
                  </a:extLst>
                </p:cNvPr>
                <p:cNvSpPr/>
                <p:nvPr/>
              </p:nvSpPr>
              <p:spPr>
                <a:xfrm>
                  <a:off x="1175964" y="3297318"/>
                  <a:ext cx="386838" cy="261826"/>
                </a:xfrm>
                <a:custGeom>
                  <a:avLst/>
                  <a:gdLst>
                    <a:gd name="csX0" fmla="*/ 401003 w 553402"/>
                    <a:gd name="csY0" fmla="*/ 0 h 324802"/>
                    <a:gd name="csX1" fmla="*/ 457200 w 553402"/>
                    <a:gd name="csY1" fmla="*/ 56198 h 324802"/>
                    <a:gd name="csX2" fmla="*/ 381953 w 553402"/>
                    <a:gd name="csY2" fmla="*/ 131445 h 324802"/>
                    <a:gd name="csX3" fmla="*/ 324803 w 553402"/>
                    <a:gd name="csY3" fmla="*/ 74295 h 324802"/>
                    <a:gd name="csX4" fmla="*/ 229553 w 553402"/>
                    <a:gd name="csY4" fmla="*/ 169545 h 324802"/>
                    <a:gd name="csX5" fmla="*/ 172403 w 553402"/>
                    <a:gd name="csY5" fmla="*/ 112395 h 324802"/>
                    <a:gd name="csX6" fmla="*/ 0 w 553402"/>
                    <a:gd name="csY6" fmla="*/ 284798 h 324802"/>
                    <a:gd name="csX7" fmla="*/ 40005 w 553402"/>
                    <a:gd name="csY7" fmla="*/ 324803 h 324802"/>
                    <a:gd name="csX8" fmla="*/ 172403 w 553402"/>
                    <a:gd name="csY8" fmla="*/ 192405 h 324802"/>
                    <a:gd name="csX9" fmla="*/ 229553 w 553402"/>
                    <a:gd name="csY9" fmla="*/ 249555 h 324802"/>
                    <a:gd name="csX10" fmla="*/ 324803 w 553402"/>
                    <a:gd name="csY10" fmla="*/ 154305 h 324802"/>
                    <a:gd name="csX11" fmla="*/ 381953 w 553402"/>
                    <a:gd name="csY11" fmla="*/ 211455 h 324802"/>
                    <a:gd name="csX12" fmla="*/ 497205 w 553402"/>
                    <a:gd name="csY12" fmla="*/ 96202 h 324802"/>
                    <a:gd name="csX13" fmla="*/ 553403 w 553402"/>
                    <a:gd name="csY13" fmla="*/ 152400 h 324802"/>
                    <a:gd name="csX14" fmla="*/ 553403 w 553402"/>
                    <a:gd name="csY14" fmla="*/ 0 h 3248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553402" h="324802">
                      <a:moveTo>
                        <a:pt x="401003" y="0"/>
                      </a:moveTo>
                      <a:lnTo>
                        <a:pt x="457200" y="56198"/>
                      </a:lnTo>
                      <a:lnTo>
                        <a:pt x="381953" y="131445"/>
                      </a:lnTo>
                      <a:lnTo>
                        <a:pt x="324803" y="74295"/>
                      </a:lnTo>
                      <a:lnTo>
                        <a:pt x="229553" y="169545"/>
                      </a:lnTo>
                      <a:lnTo>
                        <a:pt x="172403" y="112395"/>
                      </a:lnTo>
                      <a:lnTo>
                        <a:pt x="0" y="284798"/>
                      </a:lnTo>
                      <a:lnTo>
                        <a:pt x="40005" y="324803"/>
                      </a:lnTo>
                      <a:lnTo>
                        <a:pt x="172403" y="192405"/>
                      </a:lnTo>
                      <a:lnTo>
                        <a:pt x="229553" y="249555"/>
                      </a:lnTo>
                      <a:lnTo>
                        <a:pt x="324803" y="154305"/>
                      </a:lnTo>
                      <a:lnTo>
                        <a:pt x="381953" y="211455"/>
                      </a:lnTo>
                      <a:lnTo>
                        <a:pt x="497205" y="96202"/>
                      </a:lnTo>
                      <a:lnTo>
                        <a:pt x="553403" y="152400"/>
                      </a:lnTo>
                      <a:lnTo>
                        <a:pt x="553403" y="0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0FA8FAA9-8DE1-3691-B36E-9D29D224397B}"/>
                    </a:ext>
                  </a:extLst>
                </p:cNvPr>
                <p:cNvSpPr txBox="1"/>
                <p:nvPr/>
              </p:nvSpPr>
              <p:spPr>
                <a:xfrm>
                  <a:off x="1527483" y="3193869"/>
                  <a:ext cx="1038497" cy="3854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1400" dirty="0">
                      <a:solidFill>
                        <a:schemeClr val="accent6"/>
                      </a:solidFill>
                    </a:rPr>
                    <a:t>+5.2%</a:t>
                  </a:r>
                  <a:endParaRPr lang="ko-KR" altLang="en-US" sz="1400" dirty="0">
                    <a:solidFill>
                      <a:schemeClr val="accent6"/>
                    </a:solidFill>
                  </a:endParaRPr>
                </a:p>
              </p:txBody>
            </p:sp>
          </p:grpSp>
        </p:grpSp>
        <p:grpSp>
          <p:nvGrpSpPr>
            <p:cNvPr id="116" name="그룹 115">
              <a:extLst>
                <a:ext uri="{FF2B5EF4-FFF2-40B4-BE49-F238E27FC236}">
                  <a16:creationId xmlns:a16="http://schemas.microsoft.com/office/drawing/2014/main" id="{10B0EB29-66A6-9558-6C8B-B7BA0A1F211A}"/>
                </a:ext>
              </a:extLst>
            </p:cNvPr>
            <p:cNvGrpSpPr/>
            <p:nvPr/>
          </p:nvGrpSpPr>
          <p:grpSpPr>
            <a:xfrm>
              <a:off x="5809129" y="979714"/>
              <a:ext cx="3086677" cy="1665511"/>
              <a:chOff x="5809129" y="979714"/>
              <a:chExt cx="3086677" cy="1665511"/>
            </a:xfrm>
          </p:grpSpPr>
          <p:sp>
            <p:nvSpPr>
              <p:cNvPr id="101" name="사각형: 둥근 모서리 100">
                <a:extLst>
                  <a:ext uri="{FF2B5EF4-FFF2-40B4-BE49-F238E27FC236}">
                    <a16:creationId xmlns:a16="http://schemas.microsoft.com/office/drawing/2014/main" id="{0FC762A9-518B-AD8B-3A6D-8D16FF0BC119}"/>
                  </a:ext>
                </a:extLst>
              </p:cNvPr>
              <p:cNvSpPr/>
              <p:nvPr/>
            </p:nvSpPr>
            <p:spPr>
              <a:xfrm>
                <a:off x="5809129" y="979714"/>
                <a:ext cx="3086677" cy="1665511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dirty="0"/>
                  <a:t>이번 달 예상 매출</a:t>
                </a:r>
                <a:endParaRPr lang="en-US" altLang="ko-KR" sz="1400" dirty="0"/>
              </a:p>
              <a:p>
                <a:pPr algn="ctr"/>
                <a:endParaRPr lang="en-US" altLang="ko-KR" sz="1400" dirty="0"/>
              </a:p>
              <a:p>
                <a:pPr algn="ctr"/>
                <a:r>
                  <a:rPr lang="en-US" altLang="ko-KR" b="1" dirty="0">
                    <a:solidFill>
                      <a:schemeClr val="tx1"/>
                    </a:solidFill>
                  </a:rPr>
                  <a:t>19,110,000</a:t>
                </a:r>
                <a:r>
                  <a:rPr lang="ko-KR" altLang="en-US" b="1" dirty="0">
                    <a:solidFill>
                      <a:schemeClr val="tx1"/>
                    </a:solidFill>
                  </a:rPr>
                  <a:t>원</a:t>
                </a:r>
                <a:endParaRPr lang="en-US" altLang="ko-KR" b="1" dirty="0">
                  <a:solidFill>
                    <a:schemeClr val="tx1"/>
                  </a:solidFill>
                </a:endParaRPr>
              </a:p>
              <a:p>
                <a:pPr algn="ctr"/>
                <a:endParaRPr lang="ko-KR" altLang="en-US" sz="1400" dirty="0"/>
              </a:p>
            </p:txBody>
          </p:sp>
          <p:grpSp>
            <p:nvGrpSpPr>
              <p:cNvPr id="102" name="그룹 101">
                <a:extLst>
                  <a:ext uri="{FF2B5EF4-FFF2-40B4-BE49-F238E27FC236}">
                    <a16:creationId xmlns:a16="http://schemas.microsoft.com/office/drawing/2014/main" id="{4D57E306-CDDA-6A1F-0348-7B30AD923914}"/>
                  </a:ext>
                </a:extLst>
              </p:cNvPr>
              <p:cNvGrpSpPr/>
              <p:nvPr/>
            </p:nvGrpSpPr>
            <p:grpSpPr>
              <a:xfrm>
                <a:off x="6694023" y="2196997"/>
                <a:ext cx="1402091" cy="385455"/>
                <a:chOff x="1167178" y="3199546"/>
                <a:chExt cx="1402091" cy="385455"/>
              </a:xfrm>
            </p:grpSpPr>
            <p:sp>
              <p:nvSpPr>
                <p:cNvPr id="103" name="자유형: 도형 102">
                  <a:extLst>
                    <a:ext uri="{FF2B5EF4-FFF2-40B4-BE49-F238E27FC236}">
                      <a16:creationId xmlns:a16="http://schemas.microsoft.com/office/drawing/2014/main" id="{8D681999-20C2-AB09-46E9-3176619DE987}"/>
                    </a:ext>
                  </a:extLst>
                </p:cNvPr>
                <p:cNvSpPr/>
                <p:nvPr/>
              </p:nvSpPr>
              <p:spPr>
                <a:xfrm>
                  <a:off x="1167178" y="3302995"/>
                  <a:ext cx="386838" cy="261826"/>
                </a:xfrm>
                <a:custGeom>
                  <a:avLst/>
                  <a:gdLst>
                    <a:gd name="csX0" fmla="*/ 401003 w 553402"/>
                    <a:gd name="csY0" fmla="*/ 0 h 324802"/>
                    <a:gd name="csX1" fmla="*/ 457200 w 553402"/>
                    <a:gd name="csY1" fmla="*/ 56198 h 324802"/>
                    <a:gd name="csX2" fmla="*/ 381953 w 553402"/>
                    <a:gd name="csY2" fmla="*/ 131445 h 324802"/>
                    <a:gd name="csX3" fmla="*/ 324803 w 553402"/>
                    <a:gd name="csY3" fmla="*/ 74295 h 324802"/>
                    <a:gd name="csX4" fmla="*/ 229553 w 553402"/>
                    <a:gd name="csY4" fmla="*/ 169545 h 324802"/>
                    <a:gd name="csX5" fmla="*/ 172403 w 553402"/>
                    <a:gd name="csY5" fmla="*/ 112395 h 324802"/>
                    <a:gd name="csX6" fmla="*/ 0 w 553402"/>
                    <a:gd name="csY6" fmla="*/ 284798 h 324802"/>
                    <a:gd name="csX7" fmla="*/ 40005 w 553402"/>
                    <a:gd name="csY7" fmla="*/ 324803 h 324802"/>
                    <a:gd name="csX8" fmla="*/ 172403 w 553402"/>
                    <a:gd name="csY8" fmla="*/ 192405 h 324802"/>
                    <a:gd name="csX9" fmla="*/ 229553 w 553402"/>
                    <a:gd name="csY9" fmla="*/ 249555 h 324802"/>
                    <a:gd name="csX10" fmla="*/ 324803 w 553402"/>
                    <a:gd name="csY10" fmla="*/ 154305 h 324802"/>
                    <a:gd name="csX11" fmla="*/ 381953 w 553402"/>
                    <a:gd name="csY11" fmla="*/ 211455 h 324802"/>
                    <a:gd name="csX12" fmla="*/ 497205 w 553402"/>
                    <a:gd name="csY12" fmla="*/ 96202 h 324802"/>
                    <a:gd name="csX13" fmla="*/ 553403 w 553402"/>
                    <a:gd name="csY13" fmla="*/ 152400 h 324802"/>
                    <a:gd name="csX14" fmla="*/ 553403 w 553402"/>
                    <a:gd name="csY14" fmla="*/ 0 h 3248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553402" h="324802">
                      <a:moveTo>
                        <a:pt x="401003" y="0"/>
                      </a:moveTo>
                      <a:lnTo>
                        <a:pt x="457200" y="56198"/>
                      </a:lnTo>
                      <a:lnTo>
                        <a:pt x="381953" y="131445"/>
                      </a:lnTo>
                      <a:lnTo>
                        <a:pt x="324803" y="74295"/>
                      </a:lnTo>
                      <a:lnTo>
                        <a:pt x="229553" y="169545"/>
                      </a:lnTo>
                      <a:lnTo>
                        <a:pt x="172403" y="112395"/>
                      </a:lnTo>
                      <a:lnTo>
                        <a:pt x="0" y="284798"/>
                      </a:lnTo>
                      <a:lnTo>
                        <a:pt x="40005" y="324803"/>
                      </a:lnTo>
                      <a:lnTo>
                        <a:pt x="172403" y="192405"/>
                      </a:lnTo>
                      <a:lnTo>
                        <a:pt x="229553" y="249555"/>
                      </a:lnTo>
                      <a:lnTo>
                        <a:pt x="324803" y="154305"/>
                      </a:lnTo>
                      <a:lnTo>
                        <a:pt x="381953" y="211455"/>
                      </a:lnTo>
                      <a:lnTo>
                        <a:pt x="497205" y="96202"/>
                      </a:lnTo>
                      <a:lnTo>
                        <a:pt x="553403" y="152400"/>
                      </a:lnTo>
                      <a:lnTo>
                        <a:pt x="553403" y="0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4439407D-1350-52E0-6C6B-2F6C27CF0299}"/>
                    </a:ext>
                  </a:extLst>
                </p:cNvPr>
                <p:cNvSpPr txBox="1"/>
                <p:nvPr/>
              </p:nvSpPr>
              <p:spPr>
                <a:xfrm>
                  <a:off x="1530772" y="3199546"/>
                  <a:ext cx="1038497" cy="3854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1400" dirty="0">
                      <a:solidFill>
                        <a:schemeClr val="accent6"/>
                      </a:solidFill>
                    </a:rPr>
                    <a:t>+6.1%</a:t>
                  </a:r>
                  <a:endParaRPr lang="ko-KR" altLang="en-US" sz="1400" dirty="0">
                    <a:solidFill>
                      <a:schemeClr val="accent6"/>
                    </a:solidFill>
                  </a:endParaRPr>
                </a:p>
              </p:txBody>
            </p:sp>
          </p:grpSp>
        </p:grpSp>
      </p:grp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120F578D-AD1D-B58C-DE3C-5CE7A32F1ACC}"/>
              </a:ext>
            </a:extLst>
          </p:cNvPr>
          <p:cNvSpPr/>
          <p:nvPr/>
        </p:nvSpPr>
        <p:spPr>
          <a:xfrm>
            <a:off x="208669" y="963991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8A91431A-06B1-DDD0-4953-DC35DCD0D50E}"/>
              </a:ext>
            </a:extLst>
          </p:cNvPr>
          <p:cNvSpPr/>
          <p:nvPr/>
        </p:nvSpPr>
        <p:spPr>
          <a:xfrm>
            <a:off x="2890602" y="979714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9F0307F4-2AD4-F30D-6D79-2DA889043832}"/>
              </a:ext>
            </a:extLst>
          </p:cNvPr>
          <p:cNvSpPr/>
          <p:nvPr/>
        </p:nvSpPr>
        <p:spPr>
          <a:xfrm>
            <a:off x="5810699" y="979714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20" name="직사각형 119">
            <a:extLst>
              <a:ext uri="{FF2B5EF4-FFF2-40B4-BE49-F238E27FC236}">
                <a16:creationId xmlns:a16="http://schemas.microsoft.com/office/drawing/2014/main" id="{5776354A-7FFD-AA71-8BAA-7A2D3A97A388}"/>
              </a:ext>
            </a:extLst>
          </p:cNvPr>
          <p:cNvSpPr/>
          <p:nvPr/>
        </p:nvSpPr>
        <p:spPr>
          <a:xfrm>
            <a:off x="278715" y="2130934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6D4FC2B7-21B4-64C5-8816-AD0F6C57F0A5}"/>
              </a:ext>
            </a:extLst>
          </p:cNvPr>
          <p:cNvSpPr/>
          <p:nvPr/>
        </p:nvSpPr>
        <p:spPr>
          <a:xfrm>
            <a:off x="90667" y="4533960"/>
            <a:ext cx="435630" cy="22546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10</a:t>
            </a:r>
            <a:endParaRPr lang="ko-KR" altLang="en-US" sz="1600" dirty="0"/>
          </a:p>
        </p:txBody>
      </p:sp>
      <p:sp>
        <p:nvSpPr>
          <p:cNvPr id="122" name="직사각형 121">
            <a:extLst>
              <a:ext uri="{FF2B5EF4-FFF2-40B4-BE49-F238E27FC236}">
                <a16:creationId xmlns:a16="http://schemas.microsoft.com/office/drawing/2014/main" id="{A1CCD845-BDE8-4BC0-8993-A9EA41E7ADED}"/>
              </a:ext>
            </a:extLst>
          </p:cNvPr>
          <p:cNvSpPr/>
          <p:nvPr/>
        </p:nvSpPr>
        <p:spPr>
          <a:xfrm>
            <a:off x="5005781" y="2149900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162472CE-FA62-ECD9-CE78-CC950E4BB805}"/>
              </a:ext>
            </a:extLst>
          </p:cNvPr>
          <p:cNvSpPr txBox="1"/>
          <p:nvPr/>
        </p:nvSpPr>
        <p:spPr>
          <a:xfrm>
            <a:off x="347872" y="4731906"/>
            <a:ext cx="1363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재배 현황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BE4B594-617B-650B-6917-422A66DBC3C2}"/>
              </a:ext>
            </a:extLst>
          </p:cNvPr>
          <p:cNvSpPr txBox="1"/>
          <p:nvPr/>
        </p:nvSpPr>
        <p:spPr>
          <a:xfrm>
            <a:off x="523947" y="5170098"/>
            <a:ext cx="1718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딸기 </a:t>
            </a:r>
            <a:r>
              <a:rPr lang="en-US" altLang="ko-KR" dirty="0"/>
              <a:t>(A</a:t>
            </a:r>
            <a:r>
              <a:rPr lang="ko-KR" altLang="en-US" dirty="0"/>
              <a:t>동</a:t>
            </a:r>
            <a:r>
              <a:rPr lang="en-US" altLang="ko-KR" dirty="0"/>
              <a:t>)</a:t>
            </a:r>
          </a:p>
          <a:p>
            <a:r>
              <a:rPr lang="ko-KR" altLang="en-US" sz="1400" dirty="0" err="1"/>
              <a:t>재배중</a:t>
            </a:r>
            <a:endParaRPr lang="ko-KR" altLang="en-US" sz="1200" dirty="0"/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6FAF82AA-CA51-9C1B-64C5-5988B8D0BEA9}"/>
              </a:ext>
            </a:extLst>
          </p:cNvPr>
          <p:cNvCxnSpPr/>
          <p:nvPr/>
        </p:nvCxnSpPr>
        <p:spPr>
          <a:xfrm>
            <a:off x="593719" y="5809424"/>
            <a:ext cx="8033311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889F6686-981C-739D-AFBD-CC283968437E}"/>
              </a:ext>
            </a:extLst>
          </p:cNvPr>
          <p:cNvGrpSpPr/>
          <p:nvPr/>
        </p:nvGrpSpPr>
        <p:grpSpPr>
          <a:xfrm>
            <a:off x="508786" y="5878285"/>
            <a:ext cx="1662618" cy="717250"/>
            <a:chOff x="508786" y="5878285"/>
            <a:chExt cx="1662618" cy="717250"/>
          </a:xfrm>
        </p:grpSpPr>
        <p:grpSp>
          <p:nvGrpSpPr>
            <p:cNvPr id="131" name="그룹 130">
              <a:extLst>
                <a:ext uri="{FF2B5EF4-FFF2-40B4-BE49-F238E27FC236}">
                  <a16:creationId xmlns:a16="http://schemas.microsoft.com/office/drawing/2014/main" id="{FEE19039-A02C-F89D-2FB6-AC1E8E4B7BD0}"/>
                </a:ext>
              </a:extLst>
            </p:cNvPr>
            <p:cNvGrpSpPr/>
            <p:nvPr/>
          </p:nvGrpSpPr>
          <p:grpSpPr>
            <a:xfrm>
              <a:off x="568328" y="5878285"/>
              <a:ext cx="1603076" cy="295496"/>
              <a:chOff x="790426" y="5968144"/>
              <a:chExt cx="2271260" cy="449215"/>
            </a:xfrm>
          </p:grpSpPr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6CB07ABE-B5D1-EB16-D2CE-3E2D1EABE63D}"/>
                  </a:ext>
                </a:extLst>
              </p:cNvPr>
              <p:cNvSpPr txBox="1"/>
              <p:nvPr/>
            </p:nvSpPr>
            <p:spPr>
              <a:xfrm>
                <a:off x="1179378" y="5996263"/>
                <a:ext cx="1882308" cy="4210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200" dirty="0"/>
                  <a:t>예상 출하일</a:t>
                </a:r>
              </a:p>
            </p:txBody>
          </p:sp>
          <p:pic>
            <p:nvPicPr>
              <p:cNvPr id="130" name="그래픽 129" descr="일일 일정표 단색으로 채워진">
                <a:extLst>
                  <a:ext uri="{FF2B5EF4-FFF2-40B4-BE49-F238E27FC236}">
                    <a16:creationId xmlns:a16="http://schemas.microsoft.com/office/drawing/2014/main" id="{DA69F7D3-70E3-FF45-F4A5-C48C9ACD34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90426" y="5968144"/>
                <a:ext cx="449215" cy="449215"/>
              </a:xfrm>
              <a:prstGeom prst="rect">
                <a:avLst/>
              </a:prstGeom>
            </p:spPr>
          </p:pic>
        </p:grp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55241E05-6E1F-8687-E458-2031FB95998C}"/>
                </a:ext>
              </a:extLst>
            </p:cNvPr>
            <p:cNvSpPr txBox="1"/>
            <p:nvPr/>
          </p:nvSpPr>
          <p:spPr>
            <a:xfrm>
              <a:off x="508786" y="6133870"/>
              <a:ext cx="128141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2026-04-07</a:t>
              </a:r>
            </a:p>
            <a:p>
              <a:r>
                <a:rPr lang="en-US" altLang="ko-KR" sz="1200" dirty="0"/>
                <a:t>25</a:t>
              </a:r>
              <a:r>
                <a:rPr lang="ko-KR" altLang="en-US" sz="1200" dirty="0"/>
                <a:t>일 남음</a:t>
              </a:r>
            </a:p>
          </p:txBody>
        </p:sp>
      </p:grp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3EDC01EE-5767-C2F5-54C0-F984EE079C83}"/>
              </a:ext>
            </a:extLst>
          </p:cNvPr>
          <p:cNvGrpSpPr/>
          <p:nvPr/>
        </p:nvGrpSpPr>
        <p:grpSpPr>
          <a:xfrm>
            <a:off x="3247634" y="5902704"/>
            <a:ext cx="1662618" cy="532584"/>
            <a:chOff x="508786" y="5878285"/>
            <a:chExt cx="1662618" cy="532584"/>
          </a:xfrm>
        </p:grpSpPr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C4249500-23D5-1A52-37A8-2D3F5C63F025}"/>
                </a:ext>
              </a:extLst>
            </p:cNvPr>
            <p:cNvGrpSpPr/>
            <p:nvPr/>
          </p:nvGrpSpPr>
          <p:grpSpPr>
            <a:xfrm>
              <a:off x="579110" y="5878285"/>
              <a:ext cx="1592294" cy="295496"/>
              <a:chOff x="805702" y="5968144"/>
              <a:chExt cx="2255984" cy="449215"/>
            </a:xfrm>
          </p:grpSpPr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7277F70B-77C2-E1BF-DAFE-9DDFC62802D6}"/>
                  </a:ext>
                </a:extLst>
              </p:cNvPr>
              <p:cNvSpPr txBox="1"/>
              <p:nvPr/>
            </p:nvSpPr>
            <p:spPr>
              <a:xfrm>
                <a:off x="1179378" y="5996263"/>
                <a:ext cx="1882308" cy="4210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200" dirty="0"/>
                  <a:t>예상 출하량</a:t>
                </a:r>
              </a:p>
            </p:txBody>
          </p:sp>
          <p:pic>
            <p:nvPicPr>
              <p:cNvPr id="138" name="그래픽 137" descr="쇼핑 카트 단색으로 채워진">
                <a:extLst>
                  <a:ext uri="{FF2B5EF4-FFF2-40B4-BE49-F238E27FC236}">
                    <a16:creationId xmlns:a16="http://schemas.microsoft.com/office/drawing/2014/main" id="{537AFF30-2856-67F6-4316-37E18A8C9A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rcRect/>
              <a:stretch/>
            </p:blipFill>
            <p:spPr>
              <a:xfrm>
                <a:off x="805702" y="5968144"/>
                <a:ext cx="418663" cy="449215"/>
              </a:xfrm>
              <a:prstGeom prst="rect">
                <a:avLst/>
              </a:prstGeom>
            </p:spPr>
          </p:pic>
        </p:grp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8FCD9ACA-91EB-EC35-742D-2140B1D6C369}"/>
                </a:ext>
              </a:extLst>
            </p:cNvPr>
            <p:cNvSpPr txBox="1"/>
            <p:nvPr/>
          </p:nvSpPr>
          <p:spPr>
            <a:xfrm>
              <a:off x="508786" y="6133870"/>
              <a:ext cx="12814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580kg</a:t>
              </a:r>
              <a:endParaRPr lang="ko-KR" altLang="en-US" sz="1200" dirty="0"/>
            </a:p>
          </p:txBody>
        </p:sp>
      </p:grp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C8B7FB24-E03F-419B-16B7-9A1BE53F23C8}"/>
              </a:ext>
            </a:extLst>
          </p:cNvPr>
          <p:cNvGrpSpPr/>
          <p:nvPr/>
        </p:nvGrpSpPr>
        <p:grpSpPr>
          <a:xfrm>
            <a:off x="5865962" y="5878285"/>
            <a:ext cx="1605785" cy="540696"/>
            <a:chOff x="565619" y="5878285"/>
            <a:chExt cx="1605785" cy="540696"/>
          </a:xfrm>
        </p:grpSpPr>
        <p:grpSp>
          <p:nvGrpSpPr>
            <p:cNvPr id="140" name="그룹 139">
              <a:extLst>
                <a:ext uri="{FF2B5EF4-FFF2-40B4-BE49-F238E27FC236}">
                  <a16:creationId xmlns:a16="http://schemas.microsoft.com/office/drawing/2014/main" id="{912F004D-3D22-D2D6-6C75-D2BC2EDDAF08}"/>
                </a:ext>
              </a:extLst>
            </p:cNvPr>
            <p:cNvGrpSpPr/>
            <p:nvPr/>
          </p:nvGrpSpPr>
          <p:grpSpPr>
            <a:xfrm>
              <a:off x="579110" y="5878285"/>
              <a:ext cx="1592294" cy="295496"/>
              <a:chOff x="805702" y="5968144"/>
              <a:chExt cx="2255984" cy="449215"/>
            </a:xfrm>
          </p:grpSpPr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2950405C-15A5-E131-2BC8-CE48946E03AA}"/>
                  </a:ext>
                </a:extLst>
              </p:cNvPr>
              <p:cNvSpPr txBox="1"/>
              <p:nvPr/>
            </p:nvSpPr>
            <p:spPr>
              <a:xfrm>
                <a:off x="1179378" y="5996263"/>
                <a:ext cx="1882308" cy="4210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200" dirty="0"/>
                  <a:t>예상 수익</a:t>
                </a:r>
              </a:p>
            </p:txBody>
          </p:sp>
          <p:pic>
            <p:nvPicPr>
              <p:cNvPr id="143" name="그래픽 142" descr="달러 단색으로 채워진">
                <a:extLst>
                  <a:ext uri="{FF2B5EF4-FFF2-40B4-BE49-F238E27FC236}">
                    <a16:creationId xmlns:a16="http://schemas.microsoft.com/office/drawing/2014/main" id="{C1319987-4B8F-A194-23E0-1148375335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/>
              <a:stretch/>
            </p:blipFill>
            <p:spPr>
              <a:xfrm>
                <a:off x="805702" y="5968144"/>
                <a:ext cx="418663" cy="449215"/>
              </a:xfrm>
              <a:prstGeom prst="rect">
                <a:avLst/>
              </a:prstGeom>
            </p:spPr>
          </p:pic>
        </p:grp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2504C490-C4EE-252D-5343-FA24BD2FDA01}"/>
                </a:ext>
              </a:extLst>
            </p:cNvPr>
            <p:cNvSpPr txBox="1"/>
            <p:nvPr/>
          </p:nvSpPr>
          <p:spPr>
            <a:xfrm>
              <a:off x="565619" y="6141982"/>
              <a:ext cx="12814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/>
                <a:t>6,090,000</a:t>
              </a:r>
              <a:r>
                <a:rPr lang="ko-KR" altLang="en-US" sz="1200" b="1" dirty="0"/>
                <a:t>원</a:t>
              </a:r>
              <a:endParaRPr lang="ko-KR" altLang="en-US" sz="1200" dirty="0"/>
            </a:p>
          </p:txBody>
        </p:sp>
      </p:grp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6229F1C8-9431-6F84-3219-6275E698DE9A}"/>
              </a:ext>
            </a:extLst>
          </p:cNvPr>
          <p:cNvSpPr/>
          <p:nvPr/>
        </p:nvSpPr>
        <p:spPr>
          <a:xfrm>
            <a:off x="6694023" y="5264331"/>
            <a:ext cx="1933005" cy="387248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조기 출하 권장</a:t>
            </a:r>
          </a:p>
        </p:txBody>
      </p:sp>
      <p:sp>
        <p:nvSpPr>
          <p:cNvPr id="149" name="직사각형 148">
            <a:extLst>
              <a:ext uri="{FF2B5EF4-FFF2-40B4-BE49-F238E27FC236}">
                <a16:creationId xmlns:a16="http://schemas.microsoft.com/office/drawing/2014/main" id="{D02F9EC5-AE92-FDC6-9207-9E67C8849E8A}"/>
              </a:ext>
            </a:extLst>
          </p:cNvPr>
          <p:cNvSpPr/>
          <p:nvPr/>
        </p:nvSpPr>
        <p:spPr>
          <a:xfrm>
            <a:off x="142669" y="5242738"/>
            <a:ext cx="435630" cy="22546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11</a:t>
            </a:r>
            <a:endParaRPr lang="ko-KR" altLang="en-US" sz="1600" dirty="0"/>
          </a:p>
        </p:txBody>
      </p:sp>
      <p:sp>
        <p:nvSpPr>
          <p:cNvPr id="150" name="직사각형 149">
            <a:extLst>
              <a:ext uri="{FF2B5EF4-FFF2-40B4-BE49-F238E27FC236}">
                <a16:creationId xmlns:a16="http://schemas.microsoft.com/office/drawing/2014/main" id="{9B70F15A-A2F7-5625-2E28-DDD84184EC72}"/>
              </a:ext>
            </a:extLst>
          </p:cNvPr>
          <p:cNvSpPr/>
          <p:nvPr/>
        </p:nvSpPr>
        <p:spPr>
          <a:xfrm>
            <a:off x="154594" y="5846529"/>
            <a:ext cx="435630" cy="22546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12</a:t>
            </a:r>
            <a:endParaRPr lang="ko-KR" altLang="en-US" sz="1600" dirty="0"/>
          </a:p>
        </p:txBody>
      </p:sp>
      <p:sp>
        <p:nvSpPr>
          <p:cNvPr id="151" name="직사각형 150">
            <a:extLst>
              <a:ext uri="{FF2B5EF4-FFF2-40B4-BE49-F238E27FC236}">
                <a16:creationId xmlns:a16="http://schemas.microsoft.com/office/drawing/2014/main" id="{538D4F08-0229-46ED-9ECA-9F886380B679}"/>
              </a:ext>
            </a:extLst>
          </p:cNvPr>
          <p:cNvSpPr/>
          <p:nvPr/>
        </p:nvSpPr>
        <p:spPr>
          <a:xfrm>
            <a:off x="2841471" y="5906170"/>
            <a:ext cx="435630" cy="22546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13</a:t>
            </a:r>
            <a:endParaRPr lang="ko-KR" altLang="en-US" sz="1600" dirty="0"/>
          </a:p>
        </p:txBody>
      </p:sp>
      <p:sp>
        <p:nvSpPr>
          <p:cNvPr id="152" name="직사각형 151">
            <a:extLst>
              <a:ext uri="{FF2B5EF4-FFF2-40B4-BE49-F238E27FC236}">
                <a16:creationId xmlns:a16="http://schemas.microsoft.com/office/drawing/2014/main" id="{89AA2E0B-0AA8-A74E-3187-5DF3FC555961}"/>
              </a:ext>
            </a:extLst>
          </p:cNvPr>
          <p:cNvSpPr/>
          <p:nvPr/>
        </p:nvSpPr>
        <p:spPr>
          <a:xfrm>
            <a:off x="5427827" y="5913298"/>
            <a:ext cx="435630" cy="22546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14</a:t>
            </a:r>
            <a:endParaRPr lang="ko-KR" altLang="en-US" sz="1600" dirty="0"/>
          </a:p>
        </p:txBody>
      </p:sp>
      <p:sp>
        <p:nvSpPr>
          <p:cNvPr id="153" name="직사각형 152">
            <a:extLst>
              <a:ext uri="{FF2B5EF4-FFF2-40B4-BE49-F238E27FC236}">
                <a16:creationId xmlns:a16="http://schemas.microsoft.com/office/drawing/2014/main" id="{D49A0604-03B8-221B-8260-0E3FF37A2069}"/>
              </a:ext>
            </a:extLst>
          </p:cNvPr>
          <p:cNvSpPr/>
          <p:nvPr/>
        </p:nvSpPr>
        <p:spPr>
          <a:xfrm>
            <a:off x="6338359" y="5130004"/>
            <a:ext cx="435630" cy="22546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15</a:t>
            </a:r>
            <a:endParaRPr lang="ko-KR" altLang="en-US" sz="1600" dirty="0"/>
          </a:p>
        </p:txBody>
      </p:sp>
      <p:sp>
        <p:nvSpPr>
          <p:cNvPr id="154" name="직사각형 153">
            <a:extLst>
              <a:ext uri="{FF2B5EF4-FFF2-40B4-BE49-F238E27FC236}">
                <a16:creationId xmlns:a16="http://schemas.microsoft.com/office/drawing/2014/main" id="{E5045E65-9425-F3B4-3126-041E60A02DA0}"/>
              </a:ext>
            </a:extLst>
          </p:cNvPr>
          <p:cNvSpPr/>
          <p:nvPr/>
        </p:nvSpPr>
        <p:spPr>
          <a:xfrm>
            <a:off x="318832" y="2620207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580362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31AFC-51D2-32B6-4F95-D052D7423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1863D1F6-69AE-1F96-ABDC-6B4C9758616E}"/>
              </a:ext>
            </a:extLst>
          </p:cNvPr>
          <p:cNvCxnSpPr>
            <a:cxnSpLocks/>
          </p:cNvCxnSpPr>
          <p:nvPr/>
        </p:nvCxnSpPr>
        <p:spPr>
          <a:xfrm>
            <a:off x="293914" y="689004"/>
            <a:ext cx="87837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A091713-9F84-8785-E5CC-C72AC5B4E3AD}"/>
              </a:ext>
            </a:extLst>
          </p:cNvPr>
          <p:cNvSpPr txBox="1"/>
          <p:nvPr/>
        </p:nvSpPr>
        <p:spPr>
          <a:xfrm>
            <a:off x="874648" y="177802"/>
            <a:ext cx="1966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딸기 </a:t>
            </a:r>
            <a:r>
              <a:rPr lang="ko-KR" altLang="en-US" dirty="0" err="1"/>
              <a:t>스마트팜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endParaRPr lang="ko-KR" altLang="en-US" dirty="0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331AE896-3151-0D49-5426-632BD7708A22}"/>
              </a:ext>
            </a:extLst>
          </p:cNvPr>
          <p:cNvGrpSpPr/>
          <p:nvPr/>
        </p:nvGrpSpPr>
        <p:grpSpPr>
          <a:xfrm>
            <a:off x="2954235" y="199611"/>
            <a:ext cx="3819754" cy="307777"/>
            <a:chOff x="4065917" y="301284"/>
            <a:chExt cx="3819754" cy="30777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38956E9-B91E-89EB-82B6-B2941FF275C7}"/>
                </a:ext>
              </a:extLst>
            </p:cNvPr>
            <p:cNvSpPr txBox="1"/>
            <p:nvPr/>
          </p:nvSpPr>
          <p:spPr>
            <a:xfrm>
              <a:off x="5316748" y="301284"/>
              <a:ext cx="1391728" cy="307777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데이터분석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95B24BD-F21C-FECC-2E7B-F5F57224CA71}"/>
                </a:ext>
              </a:extLst>
            </p:cNvPr>
            <p:cNvSpPr txBox="1"/>
            <p:nvPr/>
          </p:nvSpPr>
          <p:spPr>
            <a:xfrm>
              <a:off x="6493943" y="301284"/>
              <a:ext cx="139172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가격 예측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01AA00F-0433-58A9-8776-ECC53F9D64C9}"/>
                </a:ext>
              </a:extLst>
            </p:cNvPr>
            <p:cNvSpPr txBox="1"/>
            <p:nvPr/>
          </p:nvSpPr>
          <p:spPr>
            <a:xfrm>
              <a:off x="4065917" y="301284"/>
              <a:ext cx="1391728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대시보드</a:t>
              </a:r>
            </a:p>
          </p:txBody>
        </p:sp>
      </p:grp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0D20EF2-00E6-5D82-80F9-3E088E464FC6}"/>
              </a:ext>
            </a:extLst>
          </p:cNvPr>
          <p:cNvSpPr/>
          <p:nvPr/>
        </p:nvSpPr>
        <p:spPr>
          <a:xfrm>
            <a:off x="8176402" y="193591"/>
            <a:ext cx="901257" cy="346339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로그아웃</a:t>
            </a: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45C7C1F5-5EC8-FA0E-EA54-8F7B9CDE7E48}"/>
              </a:ext>
            </a:extLst>
          </p:cNvPr>
          <p:cNvCxnSpPr>
            <a:cxnSpLocks/>
          </p:cNvCxnSpPr>
          <p:nvPr/>
        </p:nvCxnSpPr>
        <p:spPr>
          <a:xfrm>
            <a:off x="9201509" y="301284"/>
            <a:ext cx="0" cy="6472249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A64E8977-9FCC-FEAA-D240-122AC750E58D}"/>
              </a:ext>
            </a:extLst>
          </p:cNvPr>
          <p:cNvSpPr/>
          <p:nvPr/>
        </p:nvSpPr>
        <p:spPr>
          <a:xfrm>
            <a:off x="241663" y="91389"/>
            <a:ext cx="653330" cy="54215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368BA560-6885-C385-F04E-A08808872F9D}"/>
              </a:ext>
            </a:extLst>
          </p:cNvPr>
          <p:cNvSpPr/>
          <p:nvPr/>
        </p:nvSpPr>
        <p:spPr>
          <a:xfrm>
            <a:off x="47754" y="5163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E2B4AE6-56E0-85BF-7DEA-199D9E1FF99D}"/>
              </a:ext>
            </a:extLst>
          </p:cNvPr>
          <p:cNvSpPr txBox="1"/>
          <p:nvPr/>
        </p:nvSpPr>
        <p:spPr>
          <a:xfrm>
            <a:off x="9285828" y="175384"/>
            <a:ext cx="2805020" cy="64786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DataAnalysis.html</a:t>
            </a:r>
          </a:p>
          <a:p>
            <a:pPr marL="342900" indent="-342900">
              <a:buAutoNum type="arabicPeriod"/>
            </a:pPr>
            <a:endParaRPr lang="en-US" altLang="ko-KR" sz="12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로고를 클릭하면 </a:t>
            </a:r>
            <a:r>
              <a:rPr lang="ko-KR" altLang="en-US" sz="1200" dirty="0" err="1"/>
              <a:t>메인화면으로</a:t>
            </a:r>
            <a:r>
              <a:rPr lang="ko-KR" altLang="en-US" sz="1200" dirty="0"/>
              <a:t> 돌아간다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데이터 분석 서비스에 대한 간략한 설명을 표시한다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버튼을 누르면 </a:t>
            </a:r>
            <a:r>
              <a:rPr lang="en-US" altLang="ko-KR" sz="1200" dirty="0"/>
              <a:t>10</a:t>
            </a:r>
            <a:r>
              <a:rPr lang="ko-KR" altLang="en-US" sz="1200" dirty="0" err="1"/>
              <a:t>번쪽으로</a:t>
            </a:r>
            <a:r>
              <a:rPr lang="ko-KR" altLang="en-US" sz="1200" dirty="0"/>
              <a:t> 화면이 이동한다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데이터를 넣지 않았을 때에는 일반적인 환경을 기준으로 추천한다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데이터를 넣었을 때에는 </a:t>
            </a:r>
            <a:r>
              <a:rPr lang="en-US" altLang="ko-KR" sz="1200" dirty="0"/>
              <a:t>‘</a:t>
            </a:r>
            <a:r>
              <a:rPr lang="ko-KR" altLang="en-US" sz="1200" dirty="0"/>
              <a:t>맞춤</a:t>
            </a:r>
            <a:r>
              <a:rPr lang="en-US" altLang="ko-KR" sz="1200" dirty="0"/>
              <a:t>‘</a:t>
            </a:r>
            <a:r>
              <a:rPr lang="ko-KR" altLang="en-US" sz="1200" dirty="0"/>
              <a:t>탭이 회색으로 변한다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각 재배환경에 대한 현재 상태를 보여주고</a:t>
            </a:r>
            <a:r>
              <a:rPr lang="en-US" altLang="ko-KR" sz="1200" dirty="0"/>
              <a:t>, </a:t>
            </a:r>
            <a:r>
              <a:rPr lang="ko-KR" altLang="en-US" sz="1200" dirty="0"/>
              <a:t>적절한 </a:t>
            </a:r>
            <a:r>
              <a:rPr lang="ko-KR" altLang="en-US" sz="1200" dirty="0" err="1"/>
              <a:t>환경값을</a:t>
            </a:r>
            <a:r>
              <a:rPr lang="ko-KR" altLang="en-US" sz="1200" dirty="0"/>
              <a:t> 추천한다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기준치에서 얼마나 벗어났는지를 보여주고</a:t>
            </a:r>
            <a:r>
              <a:rPr lang="en-US" altLang="ko-KR" sz="1200" dirty="0"/>
              <a:t>, </a:t>
            </a:r>
            <a:r>
              <a:rPr lang="ko-KR" altLang="en-US" sz="1200" dirty="0"/>
              <a:t>아래에는 해당 환경을 따랐을 때 생산량 증가를 보여준다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모든 추천 조건을 따랐을 때 생산량 증가를 보여준다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추천을 따랐을 때 수익 증가를 보여준다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농가 혹은 </a:t>
            </a:r>
            <a:r>
              <a:rPr lang="ko-KR" altLang="en-US" sz="1200" dirty="0" err="1"/>
              <a:t>스마트팜</a:t>
            </a:r>
            <a:r>
              <a:rPr lang="ko-KR" altLang="en-US" sz="1200" dirty="0"/>
              <a:t> 업체가 보유한 데이터를 업로드하는 공간이다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박스를 클릭하면 파일 업로드창이 뜬다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버튼을 누르면 파일이 전송된다</a:t>
            </a:r>
            <a:r>
              <a:rPr lang="en-US" altLang="ko-KR" sz="1200" dirty="0"/>
              <a:t>.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7272CFD-3436-4638-F152-2C012CAB7B60}"/>
              </a:ext>
            </a:extLst>
          </p:cNvPr>
          <p:cNvSpPr txBox="1"/>
          <p:nvPr/>
        </p:nvSpPr>
        <p:spPr>
          <a:xfrm>
            <a:off x="7276011" y="199611"/>
            <a:ext cx="9003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홍길동님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825BFC7-F367-2106-A502-2BDDAAB4525F}"/>
              </a:ext>
            </a:extLst>
          </p:cNvPr>
          <p:cNvGrpSpPr/>
          <p:nvPr/>
        </p:nvGrpSpPr>
        <p:grpSpPr>
          <a:xfrm>
            <a:off x="292986" y="682134"/>
            <a:ext cx="8403018" cy="780906"/>
            <a:chOff x="292986" y="728750"/>
            <a:chExt cx="8403018" cy="861774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42AA3CF-8635-B55C-F4A2-BFB9E6D32EBD}"/>
                </a:ext>
              </a:extLst>
            </p:cNvPr>
            <p:cNvSpPr txBox="1"/>
            <p:nvPr/>
          </p:nvSpPr>
          <p:spPr>
            <a:xfrm>
              <a:off x="292986" y="728750"/>
              <a:ext cx="7499008" cy="861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b="1" dirty="0"/>
                <a:t>데이터 분석 서비스</a:t>
              </a:r>
              <a:endParaRPr lang="en-US" altLang="ko-KR" b="1" dirty="0"/>
            </a:p>
            <a:p>
              <a:r>
                <a:rPr lang="ko-KR" altLang="en-US" sz="1400" dirty="0"/>
                <a:t>축적된 농가 데이터를 분석하여 최적 환경을 추천해드립니다</a:t>
              </a: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D532091A-7C57-716F-3CA7-B4F002715961}"/>
                </a:ext>
              </a:extLst>
            </p:cNvPr>
            <p:cNvSpPr/>
            <p:nvPr/>
          </p:nvSpPr>
          <p:spPr>
            <a:xfrm>
              <a:off x="7056619" y="842871"/>
              <a:ext cx="1639385" cy="617885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분석하러가기</a:t>
              </a:r>
              <a:endParaRPr lang="ko-KR" altLang="en-US" dirty="0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05D551C-E346-7636-49B2-2A606CD67CEB}"/>
              </a:ext>
            </a:extLst>
          </p:cNvPr>
          <p:cNvGrpSpPr/>
          <p:nvPr/>
        </p:nvGrpSpPr>
        <p:grpSpPr>
          <a:xfrm>
            <a:off x="292986" y="1840624"/>
            <a:ext cx="8462916" cy="649088"/>
            <a:chOff x="292986" y="2061198"/>
            <a:chExt cx="8462916" cy="64908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A76F2A-B2FA-A48D-29F3-C83B496B4163}"/>
                </a:ext>
              </a:extLst>
            </p:cNvPr>
            <p:cNvSpPr txBox="1"/>
            <p:nvPr/>
          </p:nvSpPr>
          <p:spPr>
            <a:xfrm>
              <a:off x="292986" y="2061198"/>
              <a:ext cx="7499008" cy="649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600" b="1" dirty="0"/>
                <a:t>최적 환경 추천</a:t>
              </a:r>
              <a:endParaRPr lang="en-US" altLang="ko-KR" sz="1600" b="1" dirty="0"/>
            </a:p>
            <a:p>
              <a:pPr>
                <a:lnSpc>
                  <a:spcPct val="200000"/>
                </a:lnSpc>
              </a:pPr>
              <a:r>
                <a:rPr lang="ko-KR" altLang="en-US" sz="1200" dirty="0"/>
                <a:t>일반적인 딸기 재배 환경을 기준으로 한 추천입니다</a:t>
              </a:r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109B59CA-4B43-7048-42CD-DFF2382423CB}"/>
                </a:ext>
              </a:extLst>
            </p:cNvPr>
            <p:cNvSpPr/>
            <p:nvPr/>
          </p:nvSpPr>
          <p:spPr>
            <a:xfrm>
              <a:off x="7285807" y="2369946"/>
              <a:ext cx="640080" cy="324544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/>
                <a:t>기본</a:t>
              </a: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8D78B194-DFAF-9633-541C-0FF02B2BC871}"/>
                </a:ext>
              </a:extLst>
            </p:cNvPr>
            <p:cNvSpPr/>
            <p:nvPr/>
          </p:nvSpPr>
          <p:spPr>
            <a:xfrm>
              <a:off x="8115822" y="2369946"/>
              <a:ext cx="640080" cy="324544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/>
                <a:t>맞춤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5DC195C6-497E-E2EC-67BD-D119CFCD0E2F}"/>
              </a:ext>
            </a:extLst>
          </p:cNvPr>
          <p:cNvGrpSpPr/>
          <p:nvPr/>
        </p:nvGrpSpPr>
        <p:grpSpPr>
          <a:xfrm>
            <a:off x="349954" y="2707916"/>
            <a:ext cx="8405948" cy="502346"/>
            <a:chOff x="404949" y="2867297"/>
            <a:chExt cx="8405948" cy="881743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A7B91506-838D-0CE3-7908-D1A4AC378636}"/>
                </a:ext>
              </a:extLst>
            </p:cNvPr>
            <p:cNvSpPr/>
            <p:nvPr/>
          </p:nvSpPr>
          <p:spPr>
            <a:xfrm>
              <a:off x="404949" y="2867297"/>
              <a:ext cx="8405948" cy="881743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>
                <a:lnSpc>
                  <a:spcPct val="125000"/>
                </a:lnSpc>
              </a:pPr>
              <a:r>
                <a:rPr lang="ko-KR" altLang="en-US" sz="1400" b="1" dirty="0"/>
                <a:t>온도</a:t>
              </a:r>
              <a:r>
                <a:rPr lang="en-US" altLang="ko-KR" sz="1400" b="1" dirty="0"/>
                <a:t>		</a:t>
              </a:r>
            </a:p>
            <a:p>
              <a:pPr>
                <a:lnSpc>
                  <a:spcPct val="125000"/>
                </a:lnSpc>
              </a:pPr>
              <a:r>
                <a:rPr lang="ko-KR" altLang="en-US" sz="1400" dirty="0"/>
                <a:t>현재</a:t>
              </a:r>
              <a:r>
                <a:rPr lang="en-US" altLang="ko-KR" sz="1400" dirty="0"/>
                <a:t>: 19℃ → </a:t>
              </a:r>
              <a:r>
                <a:rPr lang="ko-KR" altLang="en-US" sz="1400" dirty="0"/>
                <a:t>권장</a:t>
              </a:r>
              <a:r>
                <a:rPr lang="en-US" altLang="ko-KR" sz="1400" dirty="0"/>
                <a:t>: 18℃</a:t>
              </a:r>
              <a:endParaRPr lang="ko-KR" altLang="en-US" sz="14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10CC414-0D98-3556-0005-3E9FE081FC51}"/>
                </a:ext>
              </a:extLst>
            </p:cNvPr>
            <p:cNvSpPr txBox="1"/>
            <p:nvPr/>
          </p:nvSpPr>
          <p:spPr>
            <a:xfrm>
              <a:off x="7441558" y="2867297"/>
              <a:ext cx="1286692" cy="5561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600" dirty="0"/>
                <a:t>+1℃</a:t>
              </a:r>
            </a:p>
            <a:p>
              <a:pPr algn="r"/>
              <a:r>
                <a:rPr lang="en-US" altLang="ko-KR" sz="1200" dirty="0"/>
                <a:t>5.6% </a:t>
              </a:r>
              <a:r>
                <a:rPr lang="ko-KR" altLang="en-US" sz="1200" dirty="0"/>
                <a:t>차이</a:t>
              </a: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961A357F-7481-56E7-8E8B-12CE4A3222EB}"/>
              </a:ext>
            </a:extLst>
          </p:cNvPr>
          <p:cNvGrpSpPr/>
          <p:nvPr/>
        </p:nvGrpSpPr>
        <p:grpSpPr>
          <a:xfrm>
            <a:off x="349954" y="3279942"/>
            <a:ext cx="8405948" cy="502346"/>
            <a:chOff x="404949" y="2867297"/>
            <a:chExt cx="8405948" cy="881743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EF5CE0F6-F561-3D45-B327-8CD9D36A2BED}"/>
                </a:ext>
              </a:extLst>
            </p:cNvPr>
            <p:cNvSpPr/>
            <p:nvPr/>
          </p:nvSpPr>
          <p:spPr>
            <a:xfrm>
              <a:off x="404949" y="2867297"/>
              <a:ext cx="8405948" cy="881743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>
                <a:lnSpc>
                  <a:spcPct val="125000"/>
                </a:lnSpc>
              </a:pPr>
              <a:r>
                <a:rPr lang="ko-KR" altLang="en-US" sz="1400" b="1" dirty="0"/>
                <a:t>습도</a:t>
              </a:r>
              <a:r>
                <a:rPr lang="en-US" altLang="ko-KR" sz="1400" b="1" dirty="0"/>
                <a:t>		</a:t>
              </a:r>
            </a:p>
            <a:p>
              <a:pPr>
                <a:lnSpc>
                  <a:spcPct val="125000"/>
                </a:lnSpc>
              </a:pPr>
              <a:r>
                <a:rPr lang="ko-KR" altLang="en-US" sz="1400" dirty="0"/>
                <a:t>현재</a:t>
              </a:r>
              <a:r>
                <a:rPr lang="en-US" altLang="ko-KR" sz="1400" dirty="0"/>
                <a:t>: 68% → </a:t>
              </a:r>
              <a:r>
                <a:rPr lang="ko-KR" altLang="en-US" sz="1400" dirty="0"/>
                <a:t>권장</a:t>
              </a:r>
              <a:r>
                <a:rPr lang="en-US" altLang="ko-KR" sz="1400" dirty="0"/>
                <a:t>: 70%</a:t>
              </a:r>
              <a:endParaRPr lang="ko-KR" altLang="en-US" sz="1400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2EF1790-2DA4-7D76-61E8-54D5B10AA012}"/>
                </a:ext>
              </a:extLst>
            </p:cNvPr>
            <p:cNvSpPr txBox="1"/>
            <p:nvPr/>
          </p:nvSpPr>
          <p:spPr>
            <a:xfrm>
              <a:off x="7441558" y="2867297"/>
              <a:ext cx="1286692" cy="8239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600" dirty="0"/>
                <a:t>-2%</a:t>
              </a:r>
            </a:p>
            <a:p>
              <a:pPr algn="r"/>
              <a:r>
                <a:rPr lang="en-US" altLang="ko-KR" sz="1200" dirty="0"/>
                <a:t>2.9% </a:t>
              </a:r>
              <a:r>
                <a:rPr lang="ko-KR" altLang="en-US" sz="1200" dirty="0"/>
                <a:t>차이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672EAA80-1C62-EBB4-EB9A-C3BAA46770D5}"/>
              </a:ext>
            </a:extLst>
          </p:cNvPr>
          <p:cNvGrpSpPr/>
          <p:nvPr/>
        </p:nvGrpSpPr>
        <p:grpSpPr>
          <a:xfrm>
            <a:off x="349954" y="3865943"/>
            <a:ext cx="8405948" cy="502346"/>
            <a:chOff x="404949" y="2867297"/>
            <a:chExt cx="8405948" cy="881743"/>
          </a:xfrm>
        </p:grpSpPr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C0A8A931-2AF4-448B-4495-CAA82398ED0C}"/>
                </a:ext>
              </a:extLst>
            </p:cNvPr>
            <p:cNvSpPr/>
            <p:nvPr/>
          </p:nvSpPr>
          <p:spPr>
            <a:xfrm>
              <a:off x="404949" y="2867297"/>
              <a:ext cx="8405948" cy="881743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>
                <a:lnSpc>
                  <a:spcPct val="125000"/>
                </a:lnSpc>
              </a:pPr>
              <a:r>
                <a:rPr lang="en-US" altLang="ko-KR" sz="1400" b="1" dirty="0"/>
                <a:t>CO2		</a:t>
              </a:r>
            </a:p>
            <a:p>
              <a:pPr>
                <a:lnSpc>
                  <a:spcPct val="125000"/>
                </a:lnSpc>
              </a:pPr>
              <a:r>
                <a:rPr lang="ko-KR" altLang="en-US" sz="1400" dirty="0"/>
                <a:t>현재</a:t>
              </a:r>
              <a:r>
                <a:rPr lang="en-US" altLang="ko-KR" sz="1400" dirty="0"/>
                <a:t>: 915ppm → </a:t>
              </a:r>
              <a:r>
                <a:rPr lang="ko-KR" altLang="en-US" sz="1400" dirty="0"/>
                <a:t>권장</a:t>
              </a:r>
              <a:r>
                <a:rPr lang="en-US" altLang="ko-KR" sz="1400" dirty="0"/>
                <a:t>: 900ppm</a:t>
              </a:r>
              <a:endParaRPr lang="ko-KR" altLang="en-US" sz="140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D718290-0A8A-E711-6218-134D7EC8FCD9}"/>
                </a:ext>
              </a:extLst>
            </p:cNvPr>
            <p:cNvSpPr txBox="1"/>
            <p:nvPr/>
          </p:nvSpPr>
          <p:spPr>
            <a:xfrm>
              <a:off x="7441558" y="2867297"/>
              <a:ext cx="1286692" cy="8239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600" dirty="0"/>
                <a:t>+15ppm</a:t>
              </a:r>
            </a:p>
            <a:p>
              <a:pPr algn="r"/>
              <a:r>
                <a:rPr lang="en-US" altLang="ko-KR" sz="1200" dirty="0"/>
                <a:t>1.7% </a:t>
              </a:r>
              <a:r>
                <a:rPr lang="ko-KR" altLang="en-US" sz="1200" dirty="0"/>
                <a:t>차이</a:t>
              </a:r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87CC85DB-4173-1A25-97B7-CA88896CB781}"/>
              </a:ext>
            </a:extLst>
          </p:cNvPr>
          <p:cNvGrpSpPr/>
          <p:nvPr/>
        </p:nvGrpSpPr>
        <p:grpSpPr>
          <a:xfrm>
            <a:off x="349954" y="4467192"/>
            <a:ext cx="4062548" cy="922875"/>
            <a:chOff x="349954" y="4709160"/>
            <a:chExt cx="4062548" cy="960120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35685AD4-0865-D007-5480-21B7D9FDC969}"/>
                </a:ext>
              </a:extLst>
            </p:cNvPr>
            <p:cNvSpPr/>
            <p:nvPr/>
          </p:nvSpPr>
          <p:spPr>
            <a:xfrm>
              <a:off x="349954" y="4709160"/>
              <a:ext cx="4062548" cy="960120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en-US" altLang="ko-KR" sz="2000" b="1" dirty="0"/>
            </a:p>
            <a:p>
              <a:r>
                <a:rPr lang="en-US" altLang="ko-KR" sz="2000" b="1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+12.5%</a:t>
              </a:r>
            </a:p>
            <a:p>
              <a:r>
                <a:rPr lang="ko-KR" altLang="en-US" sz="1200" dirty="0"/>
                <a:t>약 </a:t>
              </a:r>
              <a:r>
                <a:rPr lang="en-US" altLang="ko-KR" sz="1200" dirty="0"/>
                <a:t>+228kg/</a:t>
              </a:r>
              <a:r>
                <a:rPr lang="ko-KR" altLang="en-US" sz="1200" dirty="0"/>
                <a:t>월 증가 예상</a:t>
              </a:r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17F70316-DB76-388C-D973-0B56D428BF2B}"/>
                </a:ext>
              </a:extLst>
            </p:cNvPr>
            <p:cNvGrpSpPr/>
            <p:nvPr/>
          </p:nvGrpSpPr>
          <p:grpSpPr>
            <a:xfrm>
              <a:off x="481113" y="4769398"/>
              <a:ext cx="2225470" cy="368064"/>
              <a:chOff x="419961" y="5934974"/>
              <a:chExt cx="2421508" cy="314979"/>
            </a:xfrm>
          </p:grpSpPr>
          <p:sp>
            <p:nvSpPr>
              <p:cNvPr id="35" name="자유형: 도형 34">
                <a:extLst>
                  <a:ext uri="{FF2B5EF4-FFF2-40B4-BE49-F238E27FC236}">
                    <a16:creationId xmlns:a16="http://schemas.microsoft.com/office/drawing/2014/main" id="{477A1721-B233-5D6E-6501-428F498D6586}"/>
                  </a:ext>
                </a:extLst>
              </p:cNvPr>
              <p:cNvSpPr/>
              <p:nvPr/>
            </p:nvSpPr>
            <p:spPr>
              <a:xfrm>
                <a:off x="419961" y="5989326"/>
                <a:ext cx="379419" cy="260627"/>
              </a:xfrm>
              <a:custGeom>
                <a:avLst/>
                <a:gdLst>
                  <a:gd name="csX0" fmla="*/ 401003 w 553402"/>
                  <a:gd name="csY0" fmla="*/ 0 h 324802"/>
                  <a:gd name="csX1" fmla="*/ 457200 w 553402"/>
                  <a:gd name="csY1" fmla="*/ 56198 h 324802"/>
                  <a:gd name="csX2" fmla="*/ 381953 w 553402"/>
                  <a:gd name="csY2" fmla="*/ 131445 h 324802"/>
                  <a:gd name="csX3" fmla="*/ 324803 w 553402"/>
                  <a:gd name="csY3" fmla="*/ 74295 h 324802"/>
                  <a:gd name="csX4" fmla="*/ 229553 w 553402"/>
                  <a:gd name="csY4" fmla="*/ 169545 h 324802"/>
                  <a:gd name="csX5" fmla="*/ 172403 w 553402"/>
                  <a:gd name="csY5" fmla="*/ 112395 h 324802"/>
                  <a:gd name="csX6" fmla="*/ 0 w 553402"/>
                  <a:gd name="csY6" fmla="*/ 284798 h 324802"/>
                  <a:gd name="csX7" fmla="*/ 40005 w 553402"/>
                  <a:gd name="csY7" fmla="*/ 324803 h 324802"/>
                  <a:gd name="csX8" fmla="*/ 172403 w 553402"/>
                  <a:gd name="csY8" fmla="*/ 192405 h 324802"/>
                  <a:gd name="csX9" fmla="*/ 229553 w 553402"/>
                  <a:gd name="csY9" fmla="*/ 249555 h 324802"/>
                  <a:gd name="csX10" fmla="*/ 324803 w 553402"/>
                  <a:gd name="csY10" fmla="*/ 154305 h 324802"/>
                  <a:gd name="csX11" fmla="*/ 381953 w 553402"/>
                  <a:gd name="csY11" fmla="*/ 211455 h 324802"/>
                  <a:gd name="csX12" fmla="*/ 497205 w 553402"/>
                  <a:gd name="csY12" fmla="*/ 96202 h 324802"/>
                  <a:gd name="csX13" fmla="*/ 553403 w 553402"/>
                  <a:gd name="csY13" fmla="*/ 152400 h 324802"/>
                  <a:gd name="csX14" fmla="*/ 553403 w 553402"/>
                  <a:gd name="csY14" fmla="*/ 0 h 3248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553402" h="324802">
                    <a:moveTo>
                      <a:pt x="401003" y="0"/>
                    </a:moveTo>
                    <a:lnTo>
                      <a:pt x="457200" y="56198"/>
                    </a:lnTo>
                    <a:lnTo>
                      <a:pt x="381953" y="131445"/>
                    </a:lnTo>
                    <a:lnTo>
                      <a:pt x="324803" y="74295"/>
                    </a:lnTo>
                    <a:lnTo>
                      <a:pt x="229553" y="169545"/>
                    </a:lnTo>
                    <a:lnTo>
                      <a:pt x="172403" y="112395"/>
                    </a:lnTo>
                    <a:lnTo>
                      <a:pt x="0" y="284798"/>
                    </a:lnTo>
                    <a:lnTo>
                      <a:pt x="40005" y="324803"/>
                    </a:lnTo>
                    <a:lnTo>
                      <a:pt x="172403" y="192405"/>
                    </a:lnTo>
                    <a:lnTo>
                      <a:pt x="229553" y="249555"/>
                    </a:lnTo>
                    <a:lnTo>
                      <a:pt x="324803" y="154305"/>
                    </a:lnTo>
                    <a:lnTo>
                      <a:pt x="381953" y="211455"/>
                    </a:lnTo>
                    <a:lnTo>
                      <a:pt x="497205" y="96202"/>
                    </a:lnTo>
                    <a:lnTo>
                      <a:pt x="553403" y="152400"/>
                    </a:lnTo>
                    <a:lnTo>
                      <a:pt x="553403" y="0"/>
                    </a:lnTo>
                    <a:close/>
                  </a:path>
                </a:pathLst>
              </a:custGeom>
              <a:solidFill>
                <a:schemeClr val="tx2">
                  <a:lumMod val="50000"/>
                  <a:lumOff val="50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>
                <a:noAutofit/>
              </a:bodyPr>
              <a:lstStyle/>
              <a:p>
                <a:endParaRPr lang="ko-KR" altLang="en-US" sz="1600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59BB952-AE48-A683-FFB2-6ADF1B4BA795}"/>
                  </a:ext>
                </a:extLst>
              </p:cNvPr>
              <p:cNvSpPr txBox="1"/>
              <p:nvPr/>
            </p:nvSpPr>
            <p:spPr>
              <a:xfrm>
                <a:off x="799380" y="5934974"/>
                <a:ext cx="2042089" cy="2860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600" dirty="0"/>
                  <a:t>예상 생산량 증가</a:t>
                </a:r>
              </a:p>
            </p:txBody>
          </p:sp>
        </p:grpSp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44FA8B47-B78D-26E0-8F02-68AA616B6674}"/>
              </a:ext>
            </a:extLst>
          </p:cNvPr>
          <p:cNvGrpSpPr/>
          <p:nvPr/>
        </p:nvGrpSpPr>
        <p:grpSpPr>
          <a:xfrm>
            <a:off x="4693354" y="4467192"/>
            <a:ext cx="4062548" cy="922875"/>
            <a:chOff x="4693354" y="4709160"/>
            <a:chExt cx="4062548" cy="960120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4CCF1EFC-4719-B457-DA14-9B11AEAE9F17}"/>
                </a:ext>
              </a:extLst>
            </p:cNvPr>
            <p:cNvSpPr/>
            <p:nvPr/>
          </p:nvSpPr>
          <p:spPr>
            <a:xfrm>
              <a:off x="4693354" y="4709160"/>
              <a:ext cx="4062548" cy="96012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endParaRPr lang="en-US" altLang="ko-KR" sz="2000" b="1" dirty="0"/>
            </a:p>
            <a:p>
              <a:r>
                <a:rPr lang="en-US" altLang="ko-KR" sz="2000" b="1" dirty="0">
                  <a:solidFill>
                    <a:schemeClr val="accent6">
                      <a:lumMod val="75000"/>
                    </a:schemeClr>
                  </a:solidFill>
                </a:rPr>
                <a:t>+2,394,000</a:t>
              </a:r>
              <a:r>
                <a:rPr lang="ko-KR" altLang="en-US" sz="2000" b="1" dirty="0">
                  <a:solidFill>
                    <a:schemeClr val="accent6">
                      <a:lumMod val="75000"/>
                    </a:schemeClr>
                  </a:solidFill>
                </a:rPr>
                <a:t>원</a:t>
              </a:r>
              <a:endParaRPr lang="en-US" altLang="ko-KR" sz="2000" b="1" dirty="0">
                <a:solidFill>
                  <a:schemeClr val="accent6">
                    <a:lumMod val="75000"/>
                  </a:schemeClr>
                </a:solidFill>
              </a:endParaRPr>
            </a:p>
            <a:p>
              <a:r>
                <a:rPr lang="ko-KR" altLang="en-US" sz="1200" dirty="0"/>
                <a:t>약 </a:t>
              </a:r>
              <a:r>
                <a:rPr lang="en-US" altLang="ko-KR" sz="1200" dirty="0"/>
                <a:t>+228kg/</a:t>
              </a:r>
              <a:r>
                <a:rPr lang="ko-KR" altLang="en-US" sz="1200" dirty="0"/>
                <a:t>월 증가 예상</a:t>
              </a:r>
            </a:p>
          </p:txBody>
        </p: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FAA5EF76-C8E0-3936-F7B3-B250B5AB6F5B}"/>
                </a:ext>
              </a:extLst>
            </p:cNvPr>
            <p:cNvGrpSpPr/>
            <p:nvPr/>
          </p:nvGrpSpPr>
          <p:grpSpPr>
            <a:xfrm>
              <a:off x="4761204" y="4769398"/>
              <a:ext cx="2066675" cy="338554"/>
              <a:chOff x="3912656" y="5991834"/>
              <a:chExt cx="2066675" cy="338554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8B82E1-24FD-B9AB-8AB2-4CA33F7C3912}"/>
                  </a:ext>
                </a:extLst>
              </p:cNvPr>
              <p:cNvSpPr txBox="1"/>
              <p:nvPr/>
            </p:nvSpPr>
            <p:spPr>
              <a:xfrm>
                <a:off x="4102563" y="5991834"/>
                <a:ext cx="187676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600" dirty="0"/>
                  <a:t>예상 수익 증가</a:t>
                </a:r>
              </a:p>
            </p:txBody>
          </p:sp>
          <p:pic>
            <p:nvPicPr>
              <p:cNvPr id="44" name="그래픽 43" descr="달러 단색으로 채워진">
                <a:extLst>
                  <a:ext uri="{FF2B5EF4-FFF2-40B4-BE49-F238E27FC236}">
                    <a16:creationId xmlns:a16="http://schemas.microsoft.com/office/drawing/2014/main" id="{88D5BC05-0551-0DDF-2508-C4346CBB41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/>
              <a:stretch/>
            </p:blipFill>
            <p:spPr>
              <a:xfrm>
                <a:off x="3912656" y="6011235"/>
                <a:ext cx="295496" cy="295496"/>
              </a:xfrm>
              <a:prstGeom prst="rect">
                <a:avLst/>
              </a:prstGeom>
            </p:spPr>
          </p:pic>
        </p:grpSp>
      </p:grp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447A2CE-B0F2-7D57-F9D4-39C998E58CDD}"/>
              </a:ext>
            </a:extLst>
          </p:cNvPr>
          <p:cNvSpPr/>
          <p:nvPr/>
        </p:nvSpPr>
        <p:spPr>
          <a:xfrm>
            <a:off x="349956" y="5488970"/>
            <a:ext cx="8405946" cy="127764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pic>
        <p:nvPicPr>
          <p:cNvPr id="48" name="그래픽 47" descr="데이터베이스 단색으로 채워진">
            <a:extLst>
              <a:ext uri="{FF2B5EF4-FFF2-40B4-BE49-F238E27FC236}">
                <a16:creationId xmlns:a16="http://schemas.microsoft.com/office/drawing/2014/main" id="{64D04588-3697-0C78-C6BE-A51F62B164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9444" y="5562952"/>
            <a:ext cx="335547" cy="483422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3FDDAF46-EC28-136E-38CC-C06B2349B07A}"/>
              </a:ext>
            </a:extLst>
          </p:cNvPr>
          <p:cNvSpPr txBox="1"/>
          <p:nvPr/>
        </p:nvSpPr>
        <p:spPr>
          <a:xfrm>
            <a:off x="704155" y="5525900"/>
            <a:ext cx="700182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맞춤 분석을 원하시나요</a:t>
            </a:r>
            <a:r>
              <a:rPr lang="en-US" altLang="ko-KR" sz="1600" dirty="0"/>
              <a:t>?</a:t>
            </a:r>
          </a:p>
          <a:p>
            <a:r>
              <a:rPr lang="ko-KR" altLang="en-US" sz="1200" dirty="0"/>
              <a:t>농가의 실제 데이터를 업로드하면 더욱 정확한 분석 결과를 제공합니다</a:t>
            </a:r>
            <a:r>
              <a:rPr lang="en-US" altLang="ko-KR" sz="1200" dirty="0"/>
              <a:t>.</a:t>
            </a:r>
          </a:p>
          <a:p>
            <a:endParaRPr lang="ko-KR" altLang="en-US" sz="140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589F18D9-6486-0EF2-95DA-91276268F2C7}"/>
              </a:ext>
            </a:extLst>
          </p:cNvPr>
          <p:cNvSpPr/>
          <p:nvPr/>
        </p:nvSpPr>
        <p:spPr>
          <a:xfrm>
            <a:off x="777563" y="6112007"/>
            <a:ext cx="2212927" cy="502920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환경 데이터</a:t>
            </a:r>
            <a:endParaRPr lang="en-US" altLang="ko-KR" sz="1400" dirty="0"/>
          </a:p>
          <a:p>
            <a:pPr algn="ctr"/>
            <a:r>
              <a:rPr lang="en-US" altLang="ko-KR" sz="1200" dirty="0"/>
              <a:t>CSV, Excel</a:t>
            </a:r>
            <a:endParaRPr lang="ko-KR" altLang="en-US" sz="1200" dirty="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64446777-EF07-AEB2-A43D-6EFD69633A3F}"/>
              </a:ext>
            </a:extLst>
          </p:cNvPr>
          <p:cNvSpPr/>
          <p:nvPr/>
        </p:nvSpPr>
        <p:spPr>
          <a:xfrm>
            <a:off x="3473555" y="6112007"/>
            <a:ext cx="2212927" cy="502920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생육 데이터</a:t>
            </a:r>
            <a:endParaRPr lang="en-US" altLang="ko-KR" sz="1400" dirty="0"/>
          </a:p>
          <a:p>
            <a:pPr algn="ctr"/>
            <a:r>
              <a:rPr lang="en-US" altLang="ko-KR" sz="1200" dirty="0"/>
              <a:t>CSV, Excel</a:t>
            </a:r>
            <a:endParaRPr lang="ko-KR" altLang="en-US" sz="1200" dirty="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B2379D82-226E-0371-0AB8-CFFEDD2112B7}"/>
              </a:ext>
            </a:extLst>
          </p:cNvPr>
          <p:cNvSpPr/>
          <p:nvPr/>
        </p:nvSpPr>
        <p:spPr>
          <a:xfrm>
            <a:off x="6169547" y="6112007"/>
            <a:ext cx="2212927" cy="502920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생산량 데이터</a:t>
            </a:r>
            <a:endParaRPr lang="en-US" altLang="ko-KR" sz="1400" dirty="0"/>
          </a:p>
          <a:p>
            <a:pPr algn="ctr"/>
            <a:r>
              <a:rPr lang="en-US" altLang="ko-KR" sz="1200" dirty="0"/>
              <a:t>CSV, Excel</a:t>
            </a:r>
            <a:endParaRPr lang="ko-KR" altLang="en-US" sz="1200" dirty="0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D2E715A-09DA-E997-36A3-C8949A72C8FD}"/>
              </a:ext>
            </a:extLst>
          </p:cNvPr>
          <p:cNvSpPr/>
          <p:nvPr/>
        </p:nvSpPr>
        <p:spPr>
          <a:xfrm>
            <a:off x="70446" y="800022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7EFDC1B2-517D-16B3-0A29-C29A94EA1BC2}"/>
              </a:ext>
            </a:extLst>
          </p:cNvPr>
          <p:cNvSpPr/>
          <p:nvPr/>
        </p:nvSpPr>
        <p:spPr>
          <a:xfrm>
            <a:off x="6749462" y="754479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F45635A-8719-CDD2-5104-6F5D823E0572}"/>
              </a:ext>
            </a:extLst>
          </p:cNvPr>
          <p:cNvSpPr/>
          <p:nvPr/>
        </p:nvSpPr>
        <p:spPr>
          <a:xfrm>
            <a:off x="7078873" y="1936413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10576EE4-62D9-4E90-B440-6E33BB100985}"/>
              </a:ext>
            </a:extLst>
          </p:cNvPr>
          <p:cNvSpPr/>
          <p:nvPr/>
        </p:nvSpPr>
        <p:spPr>
          <a:xfrm>
            <a:off x="64215" y="2164740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D9488068-DB41-BECB-F565-3A0F0BC32022}"/>
              </a:ext>
            </a:extLst>
          </p:cNvPr>
          <p:cNvSpPr/>
          <p:nvPr/>
        </p:nvSpPr>
        <p:spPr>
          <a:xfrm>
            <a:off x="101152" y="2711850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9ED44919-E2AF-759E-F35F-D9D6C374D170}"/>
              </a:ext>
            </a:extLst>
          </p:cNvPr>
          <p:cNvSpPr/>
          <p:nvPr/>
        </p:nvSpPr>
        <p:spPr>
          <a:xfrm>
            <a:off x="132508" y="4473407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95FE9BF2-1D34-62BA-BCEE-E1BCA05176D6}"/>
              </a:ext>
            </a:extLst>
          </p:cNvPr>
          <p:cNvSpPr/>
          <p:nvPr/>
        </p:nvSpPr>
        <p:spPr>
          <a:xfrm>
            <a:off x="4503270" y="4454022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CE3359C3-F957-7548-3494-47E6664DF6ED}"/>
              </a:ext>
            </a:extLst>
          </p:cNvPr>
          <p:cNvSpPr/>
          <p:nvPr/>
        </p:nvSpPr>
        <p:spPr>
          <a:xfrm>
            <a:off x="47754" y="5442910"/>
            <a:ext cx="409338" cy="240083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10</a:t>
            </a:r>
            <a:endParaRPr lang="ko-KR" altLang="en-US" sz="1600" dirty="0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5D0D0D7D-54DA-EFD4-96D0-530186F911DD}"/>
              </a:ext>
            </a:extLst>
          </p:cNvPr>
          <p:cNvSpPr/>
          <p:nvPr/>
        </p:nvSpPr>
        <p:spPr>
          <a:xfrm>
            <a:off x="7583365" y="2771315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64052FAB-B312-FD85-2FD4-7F37ADB9158D}"/>
              </a:ext>
            </a:extLst>
          </p:cNvPr>
          <p:cNvSpPr/>
          <p:nvPr/>
        </p:nvSpPr>
        <p:spPr>
          <a:xfrm>
            <a:off x="375955" y="6112007"/>
            <a:ext cx="409338" cy="240083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11</a:t>
            </a:r>
            <a:endParaRPr lang="ko-KR" altLang="en-US" sz="1600" dirty="0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879EC744-7183-A4A6-8B83-112251D762B2}"/>
              </a:ext>
            </a:extLst>
          </p:cNvPr>
          <p:cNvSpPr/>
          <p:nvPr/>
        </p:nvSpPr>
        <p:spPr>
          <a:xfrm>
            <a:off x="6920175" y="5649206"/>
            <a:ext cx="1462299" cy="29318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AI </a:t>
            </a:r>
            <a:r>
              <a:rPr lang="ko-KR" altLang="en-US" sz="1600" dirty="0"/>
              <a:t>분석 시작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B727229A-CC8B-4500-954F-47543F4C2ADF}"/>
              </a:ext>
            </a:extLst>
          </p:cNvPr>
          <p:cNvSpPr/>
          <p:nvPr/>
        </p:nvSpPr>
        <p:spPr>
          <a:xfrm>
            <a:off x="6468678" y="5591731"/>
            <a:ext cx="409338" cy="240083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12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826223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D78ED-788E-CA7C-E2FC-698F3FB54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EC0276AE-A5FF-7D74-A3E5-93B1C154B082}"/>
              </a:ext>
            </a:extLst>
          </p:cNvPr>
          <p:cNvCxnSpPr>
            <a:cxnSpLocks/>
          </p:cNvCxnSpPr>
          <p:nvPr/>
        </p:nvCxnSpPr>
        <p:spPr>
          <a:xfrm>
            <a:off x="293914" y="577970"/>
            <a:ext cx="87837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EAFA063-CF47-5A02-352B-E55527936BE2}"/>
              </a:ext>
            </a:extLst>
          </p:cNvPr>
          <p:cNvCxnSpPr>
            <a:cxnSpLocks/>
          </p:cNvCxnSpPr>
          <p:nvPr/>
        </p:nvCxnSpPr>
        <p:spPr>
          <a:xfrm>
            <a:off x="9201509" y="301284"/>
            <a:ext cx="0" cy="6472249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5C50C1A-A50D-DE1B-9DB9-6538BD5C446A}"/>
              </a:ext>
            </a:extLst>
          </p:cNvPr>
          <p:cNvSpPr txBox="1"/>
          <p:nvPr/>
        </p:nvSpPr>
        <p:spPr>
          <a:xfrm>
            <a:off x="9285828" y="175384"/>
            <a:ext cx="2805020" cy="52168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DataAnalysis.html</a:t>
            </a:r>
          </a:p>
          <a:p>
            <a:pPr marL="342900" indent="-342900">
              <a:buAutoNum type="arabicPeriod"/>
            </a:pPr>
            <a:endParaRPr lang="en-US" altLang="ko-KR" sz="12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로고를 클릭하면 </a:t>
            </a:r>
            <a:r>
              <a:rPr lang="ko-KR" altLang="en-US" sz="1200" dirty="0" err="1"/>
              <a:t>메인화면으로</a:t>
            </a:r>
            <a:r>
              <a:rPr lang="ko-KR" altLang="en-US" sz="1200" dirty="0"/>
              <a:t> 돌아간다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작물 가격 예측 서비스에 대한 간략한 설명을 표시한다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예측에 앞서 본인에 맞게 선택하는 항목들이다</a:t>
            </a:r>
            <a:r>
              <a:rPr lang="en-US" altLang="ko-KR" sz="1200" dirty="0"/>
              <a:t>. </a:t>
            </a:r>
            <a:r>
              <a:rPr lang="ko-KR" altLang="en-US" sz="1200" dirty="0"/>
              <a:t>추후 다른 작물까지 확장하기위해 작물까지 선택항목에 넣었다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예측 실행을 누르면 설정한 항목들을 서버로 보낸다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현재 가격을 표시한다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내일 가격을 날씨에 따른 생육속도와</a:t>
            </a:r>
            <a:r>
              <a:rPr lang="en-US" altLang="ko-KR" sz="1200" dirty="0"/>
              <a:t>, </a:t>
            </a:r>
            <a:r>
              <a:rPr lang="ko-KR" altLang="en-US" sz="1200" dirty="0"/>
              <a:t>시기에 따른 가격 데이터를 종합하여 예측하고 표시한다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예측 신뢰도를 표시한다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처음에 하나의 예측기간을 선택했더라도</a:t>
            </a:r>
            <a:r>
              <a:rPr lang="en-US" altLang="ko-KR" sz="1200" dirty="0"/>
              <a:t>, </a:t>
            </a:r>
            <a:r>
              <a:rPr lang="ko-KR" altLang="en-US" sz="1200" dirty="0"/>
              <a:t>다른 탭을 선택하면 그에 맞게 다시 예측하여 표기해준다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가격 예측을 그래프로 보여준다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가격 예측을 텍스트 중심으로 보여준다</a:t>
            </a:r>
            <a:r>
              <a:rPr lang="en-US" altLang="ko-KR" sz="1200" dirty="0"/>
              <a:t>.</a:t>
            </a:r>
          </a:p>
        </p:txBody>
      </p: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670B9302-F64E-C8C7-DA68-A1BD895F4515}"/>
              </a:ext>
            </a:extLst>
          </p:cNvPr>
          <p:cNvGrpSpPr/>
          <p:nvPr/>
        </p:nvGrpSpPr>
        <p:grpSpPr>
          <a:xfrm>
            <a:off x="241663" y="91390"/>
            <a:ext cx="8835996" cy="412890"/>
            <a:chOff x="241663" y="91389"/>
            <a:chExt cx="8835996" cy="54215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BABF3EF-4D46-61F8-D42D-6C28682DE9D0}"/>
                </a:ext>
              </a:extLst>
            </p:cNvPr>
            <p:cNvSpPr txBox="1"/>
            <p:nvPr/>
          </p:nvSpPr>
          <p:spPr>
            <a:xfrm>
              <a:off x="874648" y="177802"/>
              <a:ext cx="19668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딸기 </a:t>
              </a:r>
              <a:r>
                <a:rPr lang="ko-KR" altLang="en-US" dirty="0" err="1"/>
                <a:t>스마트팜</a:t>
              </a:r>
              <a:r>
                <a:rPr lang="ko-KR" altLang="en-US" dirty="0"/>
                <a:t> </a:t>
              </a:r>
              <a:r>
                <a:rPr lang="en-US" altLang="ko-KR" dirty="0"/>
                <a:t>AI</a:t>
              </a:r>
              <a:endParaRPr lang="ko-KR" altLang="en-US" dirty="0"/>
            </a:p>
          </p:txBody>
        </p:sp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D6D225ED-1FF4-1A2A-89F3-9BCC543CB41E}"/>
                </a:ext>
              </a:extLst>
            </p:cNvPr>
            <p:cNvGrpSpPr/>
            <p:nvPr/>
          </p:nvGrpSpPr>
          <p:grpSpPr>
            <a:xfrm>
              <a:off x="2954235" y="199611"/>
              <a:ext cx="3819754" cy="307777"/>
              <a:chOff x="4065917" y="301284"/>
              <a:chExt cx="3819754" cy="307777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AF384F4-DB07-8E8D-6C81-66B4F48BB67C}"/>
                  </a:ext>
                </a:extLst>
              </p:cNvPr>
              <p:cNvSpPr txBox="1"/>
              <p:nvPr/>
            </p:nvSpPr>
            <p:spPr>
              <a:xfrm>
                <a:off x="5316748" y="301284"/>
                <a:ext cx="1391728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/>
                  <a:t>데이터분석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F28608-7B25-62FB-3E81-EFBC661C2EE2}"/>
                  </a:ext>
                </a:extLst>
              </p:cNvPr>
              <p:cNvSpPr txBox="1"/>
              <p:nvPr/>
            </p:nvSpPr>
            <p:spPr>
              <a:xfrm>
                <a:off x="6493943" y="301284"/>
                <a:ext cx="1391728" cy="307777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/>
                  <a:t>가격 예측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E3FF8D2-95EA-7EE7-3FF5-60A495F2750A}"/>
                  </a:ext>
                </a:extLst>
              </p:cNvPr>
              <p:cNvSpPr txBox="1"/>
              <p:nvPr/>
            </p:nvSpPr>
            <p:spPr>
              <a:xfrm>
                <a:off x="4065917" y="301284"/>
                <a:ext cx="1391728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/>
                  <a:t>대시보드</a:t>
                </a:r>
              </a:p>
            </p:txBody>
          </p:sp>
        </p:grp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B3710AB1-E604-34F1-621A-4D0F2D544713}"/>
                </a:ext>
              </a:extLst>
            </p:cNvPr>
            <p:cNvSpPr/>
            <p:nvPr/>
          </p:nvSpPr>
          <p:spPr>
            <a:xfrm>
              <a:off x="8176402" y="193591"/>
              <a:ext cx="901257" cy="346339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로그아웃</a:t>
              </a:r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0222F41B-2B2D-6709-90E3-16B42238636D}"/>
                </a:ext>
              </a:extLst>
            </p:cNvPr>
            <p:cNvSpPr/>
            <p:nvPr/>
          </p:nvSpPr>
          <p:spPr>
            <a:xfrm>
              <a:off x="241663" y="91389"/>
              <a:ext cx="653330" cy="54215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로고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435286A7-CC32-3E85-BA9D-38D4FF07508C}"/>
                </a:ext>
              </a:extLst>
            </p:cNvPr>
            <p:cNvSpPr txBox="1"/>
            <p:nvPr/>
          </p:nvSpPr>
          <p:spPr>
            <a:xfrm>
              <a:off x="7276011" y="199611"/>
              <a:ext cx="90039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/>
                <a:t>홍길동님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F6A77613-F381-8B95-2829-80A2F14E754D}"/>
              </a:ext>
            </a:extLst>
          </p:cNvPr>
          <p:cNvSpPr txBox="1"/>
          <p:nvPr/>
        </p:nvSpPr>
        <p:spPr>
          <a:xfrm>
            <a:off x="241663" y="633733"/>
            <a:ext cx="80084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/>
              <a:t>작물 가격 예측 서비스</a:t>
            </a:r>
            <a:endParaRPr lang="en-US" altLang="ko-KR" sz="1600" b="1" dirty="0"/>
          </a:p>
          <a:p>
            <a:r>
              <a:rPr lang="ko-KR" altLang="en-US" sz="1200" dirty="0"/>
              <a:t>도</a:t>
            </a:r>
            <a:r>
              <a:rPr lang="en-US" altLang="ko-KR" sz="1200" dirty="0"/>
              <a:t>/</a:t>
            </a:r>
            <a:r>
              <a:rPr lang="ko-KR" altLang="en-US" sz="1200" dirty="0"/>
              <a:t>소매가 분석과 날씨 데이터를 연동하여 정확한 가격을 예측합니다</a:t>
            </a: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3271DA19-8ED4-A069-321E-BD2429AB8348}"/>
              </a:ext>
            </a:extLst>
          </p:cNvPr>
          <p:cNvGrpSpPr/>
          <p:nvPr/>
        </p:nvGrpSpPr>
        <p:grpSpPr>
          <a:xfrm>
            <a:off x="241663" y="1207609"/>
            <a:ext cx="8835996" cy="699567"/>
            <a:chOff x="267314" y="1439949"/>
            <a:chExt cx="8642007" cy="1180529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D5713820-073E-0F8F-AAB5-51078CD4357B}"/>
                </a:ext>
              </a:extLst>
            </p:cNvPr>
            <p:cNvSpPr/>
            <p:nvPr/>
          </p:nvSpPr>
          <p:spPr>
            <a:xfrm>
              <a:off x="267314" y="1439949"/>
              <a:ext cx="8642007" cy="11805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DF15AB84-CABC-531E-1A68-4A756E09DA07}"/>
                </a:ext>
              </a:extLst>
            </p:cNvPr>
            <p:cNvGrpSpPr/>
            <p:nvPr/>
          </p:nvGrpSpPr>
          <p:grpSpPr>
            <a:xfrm>
              <a:off x="352361" y="1487438"/>
              <a:ext cx="6888126" cy="898142"/>
              <a:chOff x="285584" y="3081106"/>
              <a:chExt cx="7412805" cy="898142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561E226-D4A2-7585-156C-C35BE4A7B172}"/>
                  </a:ext>
                </a:extLst>
              </p:cNvPr>
              <p:cNvSpPr txBox="1"/>
              <p:nvPr/>
            </p:nvSpPr>
            <p:spPr>
              <a:xfrm>
                <a:off x="285584" y="3081106"/>
                <a:ext cx="1149438" cy="3077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 dirty="0"/>
                  <a:t>작물 선택</a:t>
                </a:r>
              </a:p>
            </p:txBody>
          </p:sp>
          <p:sp>
            <p:nvSpPr>
              <p:cNvPr id="28" name="사각형: 둥근 모서리 27">
                <a:extLst>
                  <a:ext uri="{FF2B5EF4-FFF2-40B4-BE49-F238E27FC236}">
                    <a16:creationId xmlns:a16="http://schemas.microsoft.com/office/drawing/2014/main" id="{15794581-CD55-0D88-D8C7-A8A45E4430A5}"/>
                  </a:ext>
                </a:extLst>
              </p:cNvPr>
              <p:cNvSpPr/>
              <p:nvPr/>
            </p:nvSpPr>
            <p:spPr>
              <a:xfrm>
                <a:off x="318309" y="3584736"/>
                <a:ext cx="1685103" cy="394512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ko-KR" altLang="en-US" sz="1400" dirty="0"/>
                  <a:t>딸기</a:t>
                </a:r>
              </a:p>
            </p:txBody>
          </p:sp>
          <p:pic>
            <p:nvPicPr>
              <p:cNvPr id="30" name="그림 29" descr="The image depicts a minimalist white background with a prominent black arrow pointing to the right.&#10;&#10;AI 생성 콘텐츠는 정확하지 않을 수 있습니다.">
                <a:extLst>
                  <a:ext uri="{FF2B5EF4-FFF2-40B4-BE49-F238E27FC236}">
                    <a16:creationId xmlns:a16="http://schemas.microsoft.com/office/drawing/2014/main" id="{AF26A35E-DF36-9557-4ECE-DA20D71107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5309" y="3616146"/>
                <a:ext cx="318896" cy="348792"/>
              </a:xfrm>
              <a:prstGeom prst="rect">
                <a:avLst/>
              </a:prstGeom>
            </p:spPr>
          </p:pic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F35F4FA-AC85-C033-06F0-CA611FDC957C}"/>
                  </a:ext>
                </a:extLst>
              </p:cNvPr>
              <p:cNvSpPr txBox="1"/>
              <p:nvPr/>
            </p:nvSpPr>
            <p:spPr>
              <a:xfrm>
                <a:off x="2171057" y="3081106"/>
                <a:ext cx="1149438" cy="5193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 dirty="0"/>
                  <a:t>품종</a:t>
                </a:r>
              </a:p>
            </p:txBody>
          </p:sp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65BBD21-A6A9-C150-24E7-8B8B348CCCD7}"/>
                  </a:ext>
                </a:extLst>
              </p:cNvPr>
              <p:cNvSpPr/>
              <p:nvPr/>
            </p:nvSpPr>
            <p:spPr>
              <a:xfrm>
                <a:off x="2203782" y="3584736"/>
                <a:ext cx="1685103" cy="394512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ko-KR" altLang="en-US" sz="1400" dirty="0" err="1"/>
                  <a:t>설향</a:t>
                </a:r>
                <a:endParaRPr lang="ko-KR" altLang="en-US" sz="1400" dirty="0"/>
              </a:p>
            </p:txBody>
          </p:sp>
          <p:pic>
            <p:nvPicPr>
              <p:cNvPr id="137" name="그림 136" descr="The image depicts a minimalist white background with a prominent black arrow pointing to the right.&#10;&#10;AI 생성 콘텐츠는 정확하지 않을 수 있습니다.">
                <a:extLst>
                  <a:ext uri="{FF2B5EF4-FFF2-40B4-BE49-F238E27FC236}">
                    <a16:creationId xmlns:a16="http://schemas.microsoft.com/office/drawing/2014/main" id="{F238FA5C-982A-5C46-EDAE-973FA4E0CD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510782" y="3616146"/>
                <a:ext cx="318896" cy="348792"/>
              </a:xfrm>
              <a:prstGeom prst="rect">
                <a:avLst/>
              </a:prstGeom>
            </p:spPr>
          </p:pic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9363CB59-093C-7C3F-F7F3-9BB08732F88D}"/>
                  </a:ext>
                </a:extLst>
              </p:cNvPr>
              <p:cNvSpPr txBox="1"/>
              <p:nvPr/>
            </p:nvSpPr>
            <p:spPr>
              <a:xfrm>
                <a:off x="4046473" y="3081106"/>
                <a:ext cx="1149438" cy="5193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 dirty="0"/>
                  <a:t>지역</a:t>
                </a:r>
              </a:p>
            </p:txBody>
          </p:sp>
          <p:sp>
            <p:nvSpPr>
              <p:cNvPr id="139" name="사각형: 둥근 모서리 138">
                <a:extLst>
                  <a:ext uri="{FF2B5EF4-FFF2-40B4-BE49-F238E27FC236}">
                    <a16:creationId xmlns:a16="http://schemas.microsoft.com/office/drawing/2014/main" id="{C89140C3-F5BD-53FC-DD6D-FA86B8DC84ED}"/>
                  </a:ext>
                </a:extLst>
              </p:cNvPr>
              <p:cNvSpPr/>
              <p:nvPr/>
            </p:nvSpPr>
            <p:spPr>
              <a:xfrm>
                <a:off x="4079198" y="3584736"/>
                <a:ext cx="1685103" cy="394512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ko-KR" altLang="en-US" sz="1400" dirty="0"/>
                  <a:t>전국</a:t>
                </a:r>
              </a:p>
            </p:txBody>
          </p:sp>
          <p:pic>
            <p:nvPicPr>
              <p:cNvPr id="140" name="그림 139" descr="The image depicts a minimalist white background with a prominent black arrow pointing to the right.&#10;&#10;AI 생성 콘텐츠는 정확하지 않을 수 있습니다.">
                <a:extLst>
                  <a:ext uri="{FF2B5EF4-FFF2-40B4-BE49-F238E27FC236}">
                    <a16:creationId xmlns:a16="http://schemas.microsoft.com/office/drawing/2014/main" id="{4816C53B-FE37-2298-DD0F-35D3527C48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386198" y="3616146"/>
                <a:ext cx="318896" cy="348792"/>
              </a:xfrm>
              <a:prstGeom prst="rect">
                <a:avLst/>
              </a:prstGeom>
            </p:spPr>
          </p:pic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BA034F6B-8B73-827B-E90C-3367B2307C93}"/>
                  </a:ext>
                </a:extLst>
              </p:cNvPr>
              <p:cNvSpPr txBox="1"/>
              <p:nvPr/>
            </p:nvSpPr>
            <p:spPr>
              <a:xfrm>
                <a:off x="5980561" y="3081106"/>
                <a:ext cx="1149438" cy="5193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 dirty="0"/>
                  <a:t>예측 기간</a:t>
                </a:r>
              </a:p>
            </p:txBody>
          </p:sp>
          <p:sp>
            <p:nvSpPr>
              <p:cNvPr id="155" name="사각형: 둥근 모서리 154">
                <a:extLst>
                  <a:ext uri="{FF2B5EF4-FFF2-40B4-BE49-F238E27FC236}">
                    <a16:creationId xmlns:a16="http://schemas.microsoft.com/office/drawing/2014/main" id="{D09F7AFB-A528-5CFD-E739-C56266A526A2}"/>
                  </a:ext>
                </a:extLst>
              </p:cNvPr>
              <p:cNvSpPr/>
              <p:nvPr/>
            </p:nvSpPr>
            <p:spPr>
              <a:xfrm>
                <a:off x="6013286" y="3584736"/>
                <a:ext cx="1685103" cy="394512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ko-KR" altLang="en-US" sz="1400" dirty="0"/>
                  <a:t>단기</a:t>
                </a:r>
                <a:r>
                  <a:rPr lang="en-US" altLang="ko-KR" sz="1400" dirty="0"/>
                  <a:t>(1-3</a:t>
                </a:r>
                <a:r>
                  <a:rPr lang="ko-KR" altLang="en-US" sz="1400" dirty="0"/>
                  <a:t>일</a:t>
                </a:r>
                <a:r>
                  <a:rPr lang="en-US" altLang="ko-KR" sz="1400" dirty="0"/>
                  <a:t>)</a:t>
                </a:r>
                <a:endParaRPr lang="ko-KR" altLang="en-US" sz="1400" dirty="0"/>
              </a:p>
            </p:txBody>
          </p:sp>
          <p:pic>
            <p:nvPicPr>
              <p:cNvPr id="156" name="그림 155" descr="The image depicts a minimalist white background with a prominent black arrow pointing to the right.&#10;&#10;AI 생성 콘텐츠는 정확하지 않을 수 있습니다.">
                <a:extLst>
                  <a:ext uri="{FF2B5EF4-FFF2-40B4-BE49-F238E27FC236}">
                    <a16:creationId xmlns:a16="http://schemas.microsoft.com/office/drawing/2014/main" id="{92D54817-5D72-983A-A579-9C809D7C7A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320286" y="3616146"/>
                <a:ext cx="318896" cy="348792"/>
              </a:xfrm>
              <a:prstGeom prst="rect">
                <a:avLst/>
              </a:prstGeom>
            </p:spPr>
          </p:pic>
        </p:grpSp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B33C1AA0-1C44-ADFF-2D1F-A52108BD3938}"/>
                </a:ext>
              </a:extLst>
            </p:cNvPr>
            <p:cNvSpPr/>
            <p:nvPr/>
          </p:nvSpPr>
          <p:spPr>
            <a:xfrm>
              <a:off x="7608943" y="1918350"/>
              <a:ext cx="1149437" cy="40427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/>
                <a:t>예측 실행</a:t>
              </a:r>
            </a:p>
          </p:txBody>
        </p:sp>
      </p:grpSp>
      <p:grpSp>
        <p:nvGrpSpPr>
          <p:cNvPr id="114" name="그룹 113">
            <a:extLst>
              <a:ext uri="{FF2B5EF4-FFF2-40B4-BE49-F238E27FC236}">
                <a16:creationId xmlns:a16="http://schemas.microsoft.com/office/drawing/2014/main" id="{2EB632B6-1229-F79B-0FC8-6E4671E58760}"/>
              </a:ext>
            </a:extLst>
          </p:cNvPr>
          <p:cNvGrpSpPr/>
          <p:nvPr/>
        </p:nvGrpSpPr>
        <p:grpSpPr>
          <a:xfrm>
            <a:off x="249067" y="2183808"/>
            <a:ext cx="2748827" cy="814293"/>
            <a:chOff x="241663" y="2627267"/>
            <a:chExt cx="2547257" cy="814293"/>
          </a:xfrm>
        </p:grpSpPr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DEE43137-459E-3CA2-965B-4661380C9E96}"/>
                </a:ext>
              </a:extLst>
            </p:cNvPr>
            <p:cNvSpPr/>
            <p:nvPr/>
          </p:nvSpPr>
          <p:spPr>
            <a:xfrm>
              <a:off x="241663" y="2627267"/>
              <a:ext cx="2547257" cy="814293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ko-KR" altLang="en-US" sz="1400" dirty="0">
                  <a:cs typeface="Calibri" panose="020F0502020204030204" pitchFamily="34" charset="0"/>
                </a:rPr>
                <a:t>현재 가격</a:t>
              </a:r>
              <a:endParaRPr lang="en-US" altLang="ko-KR" sz="1400" dirty="0">
                <a:cs typeface="Calibri" panose="020F0502020204030204" pitchFamily="34" charset="0"/>
              </a:endParaRPr>
            </a:p>
            <a:p>
              <a:r>
                <a:rPr lang="en-US" altLang="ko-KR" b="1" dirty="0">
                  <a:cs typeface="Calibri" panose="020F0502020204030204" pitchFamily="34" charset="0"/>
                </a:rPr>
                <a:t>10,500</a:t>
              </a:r>
              <a:r>
                <a:rPr lang="ko-KR" altLang="en-US" b="1" dirty="0">
                  <a:cs typeface="Calibri" panose="020F0502020204030204" pitchFamily="34" charset="0"/>
                </a:rPr>
                <a:t>원</a:t>
              </a:r>
              <a:r>
                <a:rPr lang="en-US" altLang="ko-KR" b="1" dirty="0">
                  <a:cs typeface="Calibri" panose="020F0502020204030204" pitchFamily="34" charset="0"/>
                </a:rPr>
                <a:t>/kg</a:t>
              </a:r>
            </a:p>
            <a:p>
              <a:r>
                <a:rPr lang="en-US" altLang="ko-KR" sz="1200" dirty="0">
                  <a:cs typeface="Calibri" panose="020F0502020204030204" pitchFamily="34" charset="0"/>
                </a:rPr>
                <a:t>2026</a:t>
              </a:r>
              <a:r>
                <a:rPr lang="ko-KR" altLang="en-US" sz="1200" dirty="0">
                  <a:cs typeface="Calibri" panose="020F0502020204030204" pitchFamily="34" charset="0"/>
                </a:rPr>
                <a:t>년 </a:t>
              </a:r>
              <a:r>
                <a:rPr lang="en-US" altLang="ko-KR" sz="1200" dirty="0">
                  <a:cs typeface="Calibri" panose="020F0502020204030204" pitchFamily="34" charset="0"/>
                </a:rPr>
                <a:t>3</a:t>
              </a:r>
              <a:r>
                <a:rPr lang="ko-KR" altLang="en-US" sz="1200" dirty="0">
                  <a:cs typeface="Calibri" panose="020F0502020204030204" pitchFamily="34" charset="0"/>
                </a:rPr>
                <a:t>월 </a:t>
              </a:r>
              <a:r>
                <a:rPr lang="en-US" altLang="ko-KR" sz="1200" dirty="0">
                  <a:cs typeface="Calibri" panose="020F0502020204030204" pitchFamily="34" charset="0"/>
                </a:rPr>
                <a:t>13</a:t>
              </a:r>
              <a:r>
                <a:rPr lang="ko-KR" altLang="en-US" sz="1200" dirty="0">
                  <a:cs typeface="Calibri" panose="020F0502020204030204" pitchFamily="34" charset="0"/>
                </a:rPr>
                <a:t>일 기준</a:t>
              </a:r>
            </a:p>
          </p:txBody>
        </p:sp>
        <p:grpSp>
          <p:nvGrpSpPr>
            <p:cNvPr id="102" name="그룹 101">
              <a:extLst>
                <a:ext uri="{FF2B5EF4-FFF2-40B4-BE49-F238E27FC236}">
                  <a16:creationId xmlns:a16="http://schemas.microsoft.com/office/drawing/2014/main" id="{C5E1226E-1950-5DA9-2EC4-378AB65EB741}"/>
                </a:ext>
              </a:extLst>
            </p:cNvPr>
            <p:cNvGrpSpPr/>
            <p:nvPr/>
          </p:nvGrpSpPr>
          <p:grpSpPr>
            <a:xfrm>
              <a:off x="2117813" y="2750588"/>
              <a:ext cx="475511" cy="462875"/>
              <a:chOff x="4659661" y="3266646"/>
              <a:chExt cx="588779" cy="541523"/>
            </a:xfrm>
          </p:grpSpPr>
          <p:sp>
            <p:nvSpPr>
              <p:cNvPr id="101" name="사각형: 둥근 모서리 100">
                <a:extLst>
                  <a:ext uri="{FF2B5EF4-FFF2-40B4-BE49-F238E27FC236}">
                    <a16:creationId xmlns:a16="http://schemas.microsoft.com/office/drawing/2014/main" id="{55E8732B-6FDD-3E67-398B-E71476DFFAF2}"/>
                  </a:ext>
                </a:extLst>
              </p:cNvPr>
              <p:cNvSpPr/>
              <p:nvPr/>
            </p:nvSpPr>
            <p:spPr>
              <a:xfrm>
                <a:off x="4659661" y="3266646"/>
                <a:ext cx="588779" cy="541523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99" name="그래픽 98" descr="달러 단색으로 채워진">
                <a:extLst>
                  <a:ext uri="{FF2B5EF4-FFF2-40B4-BE49-F238E27FC236}">
                    <a16:creationId xmlns:a16="http://schemas.microsoft.com/office/drawing/2014/main" id="{AD34CC38-0264-A837-A0D1-45197A6684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/>
              <a:stretch/>
            </p:blipFill>
            <p:spPr>
              <a:xfrm>
                <a:off x="4735893" y="3325455"/>
                <a:ext cx="442131" cy="424980"/>
              </a:xfrm>
              <a:prstGeom prst="rect">
                <a:avLst/>
              </a:prstGeom>
            </p:spPr>
          </p:pic>
        </p:grpSp>
      </p:grpSp>
      <p:grpSp>
        <p:nvGrpSpPr>
          <p:cNvPr id="120" name="그룹 119">
            <a:extLst>
              <a:ext uri="{FF2B5EF4-FFF2-40B4-BE49-F238E27FC236}">
                <a16:creationId xmlns:a16="http://schemas.microsoft.com/office/drawing/2014/main" id="{6635BDDE-0978-5329-6A79-221623C26E20}"/>
              </a:ext>
            </a:extLst>
          </p:cNvPr>
          <p:cNvGrpSpPr/>
          <p:nvPr/>
        </p:nvGrpSpPr>
        <p:grpSpPr>
          <a:xfrm>
            <a:off x="6362484" y="2183808"/>
            <a:ext cx="2682601" cy="814293"/>
            <a:chOff x="241663" y="2627267"/>
            <a:chExt cx="2547257" cy="814293"/>
          </a:xfrm>
        </p:grpSpPr>
        <p:sp>
          <p:nvSpPr>
            <p:cNvPr id="121" name="사각형: 둥근 모서리 120">
              <a:extLst>
                <a:ext uri="{FF2B5EF4-FFF2-40B4-BE49-F238E27FC236}">
                  <a16:creationId xmlns:a16="http://schemas.microsoft.com/office/drawing/2014/main" id="{2B32950B-BEEA-0306-2567-E4272EF8C0CB}"/>
                </a:ext>
              </a:extLst>
            </p:cNvPr>
            <p:cNvSpPr/>
            <p:nvPr/>
          </p:nvSpPr>
          <p:spPr>
            <a:xfrm>
              <a:off x="241663" y="2627267"/>
              <a:ext cx="2547257" cy="814293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ko-KR" altLang="en-US" sz="1400" dirty="0">
                  <a:cs typeface="Calibri" panose="020F0502020204030204" pitchFamily="34" charset="0"/>
                </a:rPr>
                <a:t>예측 신뢰도</a:t>
              </a:r>
              <a:endParaRPr lang="en-US" altLang="ko-KR" sz="1400" dirty="0">
                <a:cs typeface="Calibri" panose="020F0502020204030204" pitchFamily="34" charset="0"/>
              </a:endParaRPr>
            </a:p>
            <a:p>
              <a:r>
                <a:rPr lang="en-US" altLang="ko-KR" b="1" dirty="0">
                  <a:cs typeface="Calibri" panose="020F0502020204030204" pitchFamily="34" charset="0"/>
                </a:rPr>
                <a:t>88%</a:t>
              </a:r>
              <a:endParaRPr lang="en-US" altLang="ko-KR" sz="2400" b="1" dirty="0">
                <a:cs typeface="Calibri" panose="020F0502020204030204" pitchFamily="34" charset="0"/>
              </a:endParaRPr>
            </a:p>
            <a:p>
              <a:r>
                <a:rPr lang="ko-KR" altLang="en-US" sz="1200" dirty="0">
                  <a:cs typeface="Calibri" panose="020F0502020204030204" pitchFamily="34" charset="0"/>
                </a:rPr>
                <a:t>날씨 데이터 연동</a:t>
              </a:r>
            </a:p>
          </p:txBody>
        </p:sp>
        <p:grpSp>
          <p:nvGrpSpPr>
            <p:cNvPr id="122" name="그룹 121">
              <a:extLst>
                <a:ext uri="{FF2B5EF4-FFF2-40B4-BE49-F238E27FC236}">
                  <a16:creationId xmlns:a16="http://schemas.microsoft.com/office/drawing/2014/main" id="{1128B4E9-1A30-3E77-A20A-A0C4361DDC6A}"/>
                </a:ext>
              </a:extLst>
            </p:cNvPr>
            <p:cNvGrpSpPr/>
            <p:nvPr/>
          </p:nvGrpSpPr>
          <p:grpSpPr>
            <a:xfrm>
              <a:off x="2117813" y="2750588"/>
              <a:ext cx="475511" cy="462875"/>
              <a:chOff x="4659661" y="3266646"/>
              <a:chExt cx="588779" cy="541523"/>
            </a:xfrm>
          </p:grpSpPr>
          <p:sp>
            <p:nvSpPr>
              <p:cNvPr id="123" name="사각형: 둥근 모서리 122">
                <a:extLst>
                  <a:ext uri="{FF2B5EF4-FFF2-40B4-BE49-F238E27FC236}">
                    <a16:creationId xmlns:a16="http://schemas.microsoft.com/office/drawing/2014/main" id="{8BF37F90-FEBA-63D2-1205-B03C4BA7FE6B}"/>
                  </a:ext>
                </a:extLst>
              </p:cNvPr>
              <p:cNvSpPr/>
              <p:nvPr/>
            </p:nvSpPr>
            <p:spPr>
              <a:xfrm>
                <a:off x="4659661" y="3266646"/>
                <a:ext cx="588779" cy="541523"/>
              </a:xfrm>
              <a:prstGeom prst="round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24" name="그래픽 123" descr="구름 단색으로 채워진">
                <a:extLst>
                  <a:ext uri="{FF2B5EF4-FFF2-40B4-BE49-F238E27FC236}">
                    <a16:creationId xmlns:a16="http://schemas.microsoft.com/office/drawing/2014/main" id="{0E2F5557-EE03-BC45-F4E9-5B75E96280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/>
              <a:stretch/>
            </p:blipFill>
            <p:spPr>
              <a:xfrm>
                <a:off x="4735893" y="3329071"/>
                <a:ext cx="442131" cy="417746"/>
              </a:xfrm>
              <a:prstGeom prst="rect">
                <a:avLst/>
              </a:prstGeom>
            </p:spPr>
          </p:pic>
        </p:grpSp>
      </p:grp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78123FC6-F104-995B-D1B7-82AB7290A238}"/>
              </a:ext>
            </a:extLst>
          </p:cNvPr>
          <p:cNvGrpSpPr/>
          <p:nvPr/>
        </p:nvGrpSpPr>
        <p:grpSpPr>
          <a:xfrm>
            <a:off x="3312308" y="2183808"/>
            <a:ext cx="2791096" cy="814293"/>
            <a:chOff x="3304904" y="2627267"/>
            <a:chExt cx="2791096" cy="814293"/>
          </a:xfrm>
        </p:grpSpPr>
        <p:grpSp>
          <p:nvGrpSpPr>
            <p:cNvPr id="115" name="그룹 114">
              <a:extLst>
                <a:ext uri="{FF2B5EF4-FFF2-40B4-BE49-F238E27FC236}">
                  <a16:creationId xmlns:a16="http://schemas.microsoft.com/office/drawing/2014/main" id="{079C6C84-8B1D-8E03-0E17-46D14984E916}"/>
                </a:ext>
              </a:extLst>
            </p:cNvPr>
            <p:cNvGrpSpPr/>
            <p:nvPr/>
          </p:nvGrpSpPr>
          <p:grpSpPr>
            <a:xfrm>
              <a:off x="3304904" y="2627267"/>
              <a:ext cx="2791096" cy="814293"/>
              <a:chOff x="241663" y="2627267"/>
              <a:chExt cx="2547257" cy="814293"/>
            </a:xfrm>
          </p:grpSpPr>
          <p:sp>
            <p:nvSpPr>
              <p:cNvPr id="116" name="사각형: 둥근 모서리 115">
                <a:extLst>
                  <a:ext uri="{FF2B5EF4-FFF2-40B4-BE49-F238E27FC236}">
                    <a16:creationId xmlns:a16="http://schemas.microsoft.com/office/drawing/2014/main" id="{F0AE8AEB-BFD5-6648-6F65-73E58609992B}"/>
                  </a:ext>
                </a:extLst>
              </p:cNvPr>
              <p:cNvSpPr/>
              <p:nvPr/>
            </p:nvSpPr>
            <p:spPr>
              <a:xfrm>
                <a:off x="241663" y="2627267"/>
                <a:ext cx="2547257" cy="814293"/>
              </a:xfrm>
              <a:prstGeom prst="round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ko-KR" altLang="en-US" sz="1400" dirty="0">
                    <a:cs typeface="Calibri" panose="020F0502020204030204" pitchFamily="34" charset="0"/>
                  </a:rPr>
                  <a:t>내일 예측 가격</a:t>
                </a:r>
                <a:endParaRPr lang="en-US" altLang="ko-KR" sz="1400" dirty="0">
                  <a:cs typeface="Calibri" panose="020F0502020204030204" pitchFamily="34" charset="0"/>
                </a:endParaRPr>
              </a:p>
              <a:p>
                <a:r>
                  <a:rPr lang="en-US" altLang="ko-KR" b="1" dirty="0">
                    <a:cs typeface="Calibri" panose="020F0502020204030204" pitchFamily="34" charset="0"/>
                  </a:rPr>
                  <a:t>10,600</a:t>
                </a:r>
                <a:r>
                  <a:rPr lang="ko-KR" altLang="en-US" b="1" dirty="0">
                    <a:cs typeface="Calibri" panose="020F0502020204030204" pitchFamily="34" charset="0"/>
                  </a:rPr>
                  <a:t>원</a:t>
                </a:r>
                <a:r>
                  <a:rPr lang="en-US" altLang="ko-KR" b="1" dirty="0">
                    <a:cs typeface="Calibri" panose="020F0502020204030204" pitchFamily="34" charset="0"/>
                  </a:rPr>
                  <a:t>/kg</a:t>
                </a:r>
              </a:p>
              <a:p>
                <a:r>
                  <a:rPr lang="en-US" altLang="ko-KR" sz="1200" dirty="0">
                    <a:solidFill>
                      <a:schemeClr val="accent6"/>
                    </a:solidFill>
                    <a:cs typeface="Calibri" panose="020F0502020204030204" pitchFamily="34" charset="0"/>
                  </a:rPr>
                  <a:t>+100</a:t>
                </a:r>
                <a:r>
                  <a:rPr lang="ko-KR" altLang="en-US" sz="1200" dirty="0">
                    <a:solidFill>
                      <a:schemeClr val="accent6"/>
                    </a:solidFill>
                    <a:cs typeface="Calibri" panose="020F0502020204030204" pitchFamily="34" charset="0"/>
                  </a:rPr>
                  <a:t>원</a:t>
                </a:r>
                <a:r>
                  <a:rPr lang="en-US" altLang="ko-KR" sz="1200" dirty="0">
                    <a:solidFill>
                      <a:schemeClr val="accent6"/>
                    </a:solidFill>
                    <a:cs typeface="Calibri" panose="020F0502020204030204" pitchFamily="34" charset="0"/>
                  </a:rPr>
                  <a:t>(1.0%)</a:t>
                </a:r>
              </a:p>
            </p:txBody>
          </p:sp>
          <p:sp>
            <p:nvSpPr>
              <p:cNvPr id="118" name="사각형: 둥근 모서리 117">
                <a:extLst>
                  <a:ext uri="{FF2B5EF4-FFF2-40B4-BE49-F238E27FC236}">
                    <a16:creationId xmlns:a16="http://schemas.microsoft.com/office/drawing/2014/main" id="{AE74164F-9DEF-436C-09C6-889D6D532E6D}"/>
                  </a:ext>
                </a:extLst>
              </p:cNvPr>
              <p:cNvSpPr/>
              <p:nvPr/>
            </p:nvSpPr>
            <p:spPr>
              <a:xfrm>
                <a:off x="2117813" y="2750587"/>
                <a:ext cx="475511" cy="462875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125" name="자유형: 도형 124">
              <a:extLst>
                <a:ext uri="{FF2B5EF4-FFF2-40B4-BE49-F238E27FC236}">
                  <a16:creationId xmlns:a16="http://schemas.microsoft.com/office/drawing/2014/main" id="{5A79C498-FA32-DE38-2E0A-B6151CFD21DE}"/>
                </a:ext>
              </a:extLst>
            </p:cNvPr>
            <p:cNvSpPr/>
            <p:nvPr/>
          </p:nvSpPr>
          <p:spPr>
            <a:xfrm>
              <a:off x="5414278" y="2858138"/>
              <a:ext cx="348702" cy="292738"/>
            </a:xfrm>
            <a:custGeom>
              <a:avLst/>
              <a:gdLst>
                <a:gd name="csX0" fmla="*/ 401003 w 553402"/>
                <a:gd name="csY0" fmla="*/ 0 h 324802"/>
                <a:gd name="csX1" fmla="*/ 457200 w 553402"/>
                <a:gd name="csY1" fmla="*/ 56198 h 324802"/>
                <a:gd name="csX2" fmla="*/ 381953 w 553402"/>
                <a:gd name="csY2" fmla="*/ 131445 h 324802"/>
                <a:gd name="csX3" fmla="*/ 324803 w 553402"/>
                <a:gd name="csY3" fmla="*/ 74295 h 324802"/>
                <a:gd name="csX4" fmla="*/ 229553 w 553402"/>
                <a:gd name="csY4" fmla="*/ 169545 h 324802"/>
                <a:gd name="csX5" fmla="*/ 172403 w 553402"/>
                <a:gd name="csY5" fmla="*/ 112395 h 324802"/>
                <a:gd name="csX6" fmla="*/ 0 w 553402"/>
                <a:gd name="csY6" fmla="*/ 284798 h 324802"/>
                <a:gd name="csX7" fmla="*/ 40005 w 553402"/>
                <a:gd name="csY7" fmla="*/ 324803 h 324802"/>
                <a:gd name="csX8" fmla="*/ 172403 w 553402"/>
                <a:gd name="csY8" fmla="*/ 192405 h 324802"/>
                <a:gd name="csX9" fmla="*/ 229553 w 553402"/>
                <a:gd name="csY9" fmla="*/ 249555 h 324802"/>
                <a:gd name="csX10" fmla="*/ 324803 w 553402"/>
                <a:gd name="csY10" fmla="*/ 154305 h 324802"/>
                <a:gd name="csX11" fmla="*/ 381953 w 553402"/>
                <a:gd name="csY11" fmla="*/ 211455 h 324802"/>
                <a:gd name="csX12" fmla="*/ 497205 w 553402"/>
                <a:gd name="csY12" fmla="*/ 96202 h 324802"/>
                <a:gd name="csX13" fmla="*/ 553403 w 553402"/>
                <a:gd name="csY13" fmla="*/ 152400 h 324802"/>
                <a:gd name="csX14" fmla="*/ 553403 w 553402"/>
                <a:gd name="csY14" fmla="*/ 0 h 324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553402" h="324802">
                  <a:moveTo>
                    <a:pt x="401003" y="0"/>
                  </a:moveTo>
                  <a:lnTo>
                    <a:pt x="457200" y="56198"/>
                  </a:lnTo>
                  <a:lnTo>
                    <a:pt x="381953" y="131445"/>
                  </a:lnTo>
                  <a:lnTo>
                    <a:pt x="324803" y="74295"/>
                  </a:lnTo>
                  <a:lnTo>
                    <a:pt x="229553" y="169545"/>
                  </a:lnTo>
                  <a:lnTo>
                    <a:pt x="172403" y="112395"/>
                  </a:lnTo>
                  <a:lnTo>
                    <a:pt x="0" y="284798"/>
                  </a:lnTo>
                  <a:lnTo>
                    <a:pt x="40005" y="324803"/>
                  </a:lnTo>
                  <a:lnTo>
                    <a:pt x="172403" y="192405"/>
                  </a:lnTo>
                  <a:lnTo>
                    <a:pt x="229553" y="249555"/>
                  </a:lnTo>
                  <a:lnTo>
                    <a:pt x="324803" y="154305"/>
                  </a:lnTo>
                  <a:lnTo>
                    <a:pt x="381953" y="211455"/>
                  </a:lnTo>
                  <a:lnTo>
                    <a:pt x="497205" y="96202"/>
                  </a:lnTo>
                  <a:lnTo>
                    <a:pt x="553403" y="152400"/>
                  </a:lnTo>
                  <a:lnTo>
                    <a:pt x="553403" y="0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>
              <a:noAutofit/>
            </a:bodyPr>
            <a:lstStyle/>
            <a:p>
              <a:endParaRPr lang="ko-KR" altLang="en-US" sz="1600" dirty="0"/>
            </a:p>
          </p:txBody>
        </p:sp>
      </p:grpSp>
      <p:pic>
        <p:nvPicPr>
          <p:cNvPr id="131" name="그림 130" descr="The image displays a line graph showing the predicted and historical prices of a commodity, with confidence intervals over time.&#10;&#10;AI 생성 콘텐츠는 정확하지 않을 수 있습니다.">
            <a:extLst>
              <a:ext uri="{FF2B5EF4-FFF2-40B4-BE49-F238E27FC236}">
                <a16:creationId xmlns:a16="http://schemas.microsoft.com/office/drawing/2014/main" id="{C8C6A622-31F6-6E3E-7070-DA66D32AE2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608" y="3105652"/>
            <a:ext cx="8647113" cy="3595149"/>
          </a:xfrm>
          <a:prstGeom prst="rect">
            <a:avLst/>
          </a:prstGeom>
        </p:spPr>
      </p:pic>
      <p:sp>
        <p:nvSpPr>
          <p:cNvPr id="72" name="직사각형 71">
            <a:extLst>
              <a:ext uri="{FF2B5EF4-FFF2-40B4-BE49-F238E27FC236}">
                <a16:creationId xmlns:a16="http://schemas.microsoft.com/office/drawing/2014/main" id="{3C22FD29-79A0-81E9-E3B6-6EC36BC3D1D2}"/>
              </a:ext>
            </a:extLst>
          </p:cNvPr>
          <p:cNvSpPr/>
          <p:nvPr/>
        </p:nvSpPr>
        <p:spPr>
          <a:xfrm>
            <a:off x="47754" y="5163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57" name="직사각형 156">
            <a:extLst>
              <a:ext uri="{FF2B5EF4-FFF2-40B4-BE49-F238E27FC236}">
                <a16:creationId xmlns:a16="http://schemas.microsoft.com/office/drawing/2014/main" id="{508B97E3-4C29-C1D0-2062-419736368DB6}"/>
              </a:ext>
            </a:extLst>
          </p:cNvPr>
          <p:cNvSpPr/>
          <p:nvPr/>
        </p:nvSpPr>
        <p:spPr>
          <a:xfrm>
            <a:off x="34729" y="633733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２</a:t>
            </a:r>
          </a:p>
        </p:txBody>
      </p:sp>
      <p:sp>
        <p:nvSpPr>
          <p:cNvPr id="158" name="직사각형 157">
            <a:extLst>
              <a:ext uri="{FF2B5EF4-FFF2-40B4-BE49-F238E27FC236}">
                <a16:creationId xmlns:a16="http://schemas.microsoft.com/office/drawing/2014/main" id="{6517A4ED-30AE-A97E-97C6-13E66DD06667}"/>
              </a:ext>
            </a:extLst>
          </p:cNvPr>
          <p:cNvSpPr/>
          <p:nvPr/>
        </p:nvSpPr>
        <p:spPr>
          <a:xfrm>
            <a:off x="34729" y="1232309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３</a:t>
            </a:r>
          </a:p>
        </p:txBody>
      </p: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9DF4F69F-D228-056B-88E0-9796A87A2BA1}"/>
              </a:ext>
            </a:extLst>
          </p:cNvPr>
          <p:cNvSpPr/>
          <p:nvPr/>
        </p:nvSpPr>
        <p:spPr>
          <a:xfrm>
            <a:off x="7703784" y="1245421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４</a:t>
            </a:r>
          </a:p>
        </p:txBody>
      </p:sp>
      <p:sp>
        <p:nvSpPr>
          <p:cNvPr id="160" name="직사각형 159">
            <a:extLst>
              <a:ext uri="{FF2B5EF4-FFF2-40B4-BE49-F238E27FC236}">
                <a16:creationId xmlns:a16="http://schemas.microsoft.com/office/drawing/2014/main" id="{61FDEBF6-FAC2-093D-E249-692C5C89D171}"/>
              </a:ext>
            </a:extLst>
          </p:cNvPr>
          <p:cNvSpPr/>
          <p:nvPr/>
        </p:nvSpPr>
        <p:spPr>
          <a:xfrm>
            <a:off x="75792" y="2098962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５</a:t>
            </a:r>
          </a:p>
        </p:txBody>
      </p:sp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AC417422-EFDA-F675-0B2A-F9B8F42A8DE7}"/>
              </a:ext>
            </a:extLst>
          </p:cNvPr>
          <p:cNvSpPr/>
          <p:nvPr/>
        </p:nvSpPr>
        <p:spPr>
          <a:xfrm>
            <a:off x="3194326" y="2089813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６</a:t>
            </a:r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8C03C94B-89C7-EB09-830A-33587DC1B407}"/>
              </a:ext>
            </a:extLst>
          </p:cNvPr>
          <p:cNvSpPr/>
          <p:nvPr/>
        </p:nvSpPr>
        <p:spPr>
          <a:xfrm>
            <a:off x="6227743" y="2098962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７</a:t>
            </a:r>
          </a:p>
        </p:txBody>
      </p:sp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F22B280D-DC34-D815-F19E-50DFC0E66303}"/>
              </a:ext>
            </a:extLst>
          </p:cNvPr>
          <p:cNvSpPr/>
          <p:nvPr/>
        </p:nvSpPr>
        <p:spPr>
          <a:xfrm>
            <a:off x="290828" y="3219765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８</a:t>
            </a:r>
          </a:p>
        </p:txBody>
      </p:sp>
      <p:sp>
        <p:nvSpPr>
          <p:cNvPr id="164" name="직사각형 163">
            <a:extLst>
              <a:ext uri="{FF2B5EF4-FFF2-40B4-BE49-F238E27FC236}">
                <a16:creationId xmlns:a16="http://schemas.microsoft.com/office/drawing/2014/main" id="{47711258-F598-0E4C-86EE-E17FD774FB0F}"/>
              </a:ext>
            </a:extLst>
          </p:cNvPr>
          <p:cNvSpPr/>
          <p:nvPr/>
        </p:nvSpPr>
        <p:spPr>
          <a:xfrm>
            <a:off x="281678" y="3675738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９</a:t>
            </a:r>
          </a:p>
        </p:txBody>
      </p:sp>
      <p:sp>
        <p:nvSpPr>
          <p:cNvPr id="166" name="직사각형 165">
            <a:extLst>
              <a:ext uri="{FF2B5EF4-FFF2-40B4-BE49-F238E27FC236}">
                <a16:creationId xmlns:a16="http://schemas.microsoft.com/office/drawing/2014/main" id="{C99900E4-CFA1-A929-FFDF-40176F096A17}"/>
              </a:ext>
            </a:extLst>
          </p:cNvPr>
          <p:cNvSpPr/>
          <p:nvPr/>
        </p:nvSpPr>
        <p:spPr>
          <a:xfrm>
            <a:off x="293098" y="5786333"/>
            <a:ext cx="445294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10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662901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06032-24A3-37AE-9402-5990E4B99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4B9FADA-2AEB-477A-84C5-152B2BBB2540}"/>
              </a:ext>
            </a:extLst>
          </p:cNvPr>
          <p:cNvCxnSpPr>
            <a:cxnSpLocks/>
          </p:cNvCxnSpPr>
          <p:nvPr/>
        </p:nvCxnSpPr>
        <p:spPr>
          <a:xfrm>
            <a:off x="293914" y="577970"/>
            <a:ext cx="87837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232F122B-CDED-1DB2-2A36-70F9C95035CE}"/>
              </a:ext>
            </a:extLst>
          </p:cNvPr>
          <p:cNvCxnSpPr>
            <a:cxnSpLocks/>
          </p:cNvCxnSpPr>
          <p:nvPr/>
        </p:nvCxnSpPr>
        <p:spPr>
          <a:xfrm>
            <a:off x="9201509" y="301284"/>
            <a:ext cx="0" cy="6472249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532C1C1A-A3A1-8FC0-D275-73EF384BE525}"/>
              </a:ext>
            </a:extLst>
          </p:cNvPr>
          <p:cNvSpPr txBox="1"/>
          <p:nvPr/>
        </p:nvSpPr>
        <p:spPr>
          <a:xfrm>
            <a:off x="9285828" y="175384"/>
            <a:ext cx="28050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DataAnalysis.html</a:t>
            </a:r>
          </a:p>
          <a:p>
            <a:endParaRPr lang="en-US" altLang="ko-KR" sz="1200" dirty="0"/>
          </a:p>
          <a:p>
            <a:r>
              <a:rPr lang="en-US" altLang="ko-KR" sz="1200" dirty="0"/>
              <a:t>11. </a:t>
            </a:r>
            <a:r>
              <a:rPr lang="ko-KR" altLang="en-US" sz="1200" dirty="0"/>
              <a:t>날씨 요인이 가격 예측에 미치는         영향을 분석하여 보여준다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12. </a:t>
            </a:r>
            <a:r>
              <a:rPr lang="ko-KR" altLang="en-US" sz="1200" dirty="0"/>
              <a:t>처음 설정했던 예측기간에 맞춰서</a:t>
            </a:r>
            <a:r>
              <a:rPr lang="en-US" altLang="ko-KR" sz="1200" dirty="0"/>
              <a:t>, </a:t>
            </a:r>
            <a:r>
              <a:rPr lang="ko-KR" altLang="en-US" sz="1200" dirty="0"/>
              <a:t>최적의 출하시기를 추천해준다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13. </a:t>
            </a:r>
            <a:r>
              <a:rPr lang="ko-KR" altLang="en-US" sz="1200" dirty="0"/>
              <a:t>주간 단위로 시장 동향을 보여준다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14. </a:t>
            </a:r>
            <a:r>
              <a:rPr lang="ko-KR" altLang="en-US" sz="1200" dirty="0"/>
              <a:t>월간 단위로 출하시기를 추천해준다</a:t>
            </a:r>
            <a:r>
              <a:rPr lang="en-US" altLang="ko-KR" sz="1200" dirty="0"/>
              <a:t>.</a:t>
            </a:r>
          </a:p>
        </p:txBody>
      </p: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E9F785C3-3D76-C2C7-A9FA-DD440F99ED12}"/>
              </a:ext>
            </a:extLst>
          </p:cNvPr>
          <p:cNvGrpSpPr/>
          <p:nvPr/>
        </p:nvGrpSpPr>
        <p:grpSpPr>
          <a:xfrm>
            <a:off x="241663" y="91390"/>
            <a:ext cx="8835996" cy="412890"/>
            <a:chOff x="241663" y="91389"/>
            <a:chExt cx="8835996" cy="54215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4CADC53-993D-9DE8-F57D-9B7EB3CBF84B}"/>
                </a:ext>
              </a:extLst>
            </p:cNvPr>
            <p:cNvSpPr txBox="1"/>
            <p:nvPr/>
          </p:nvSpPr>
          <p:spPr>
            <a:xfrm>
              <a:off x="874648" y="177802"/>
              <a:ext cx="19668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딸기 </a:t>
              </a:r>
              <a:r>
                <a:rPr lang="ko-KR" altLang="en-US" dirty="0" err="1"/>
                <a:t>스마트팜</a:t>
              </a:r>
              <a:r>
                <a:rPr lang="ko-KR" altLang="en-US" dirty="0"/>
                <a:t> </a:t>
              </a:r>
              <a:r>
                <a:rPr lang="en-US" altLang="ko-KR" dirty="0"/>
                <a:t>AI</a:t>
              </a:r>
              <a:endParaRPr lang="ko-KR" altLang="en-US" dirty="0"/>
            </a:p>
          </p:txBody>
        </p:sp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CE188C32-37DC-DE9A-6C77-733E5D678985}"/>
                </a:ext>
              </a:extLst>
            </p:cNvPr>
            <p:cNvGrpSpPr/>
            <p:nvPr/>
          </p:nvGrpSpPr>
          <p:grpSpPr>
            <a:xfrm>
              <a:off x="2954235" y="199611"/>
              <a:ext cx="3819754" cy="307777"/>
              <a:chOff x="4065917" y="301284"/>
              <a:chExt cx="3819754" cy="307777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1C30701-AF75-E077-D56E-8B8FDB408B35}"/>
                  </a:ext>
                </a:extLst>
              </p:cNvPr>
              <p:cNvSpPr txBox="1"/>
              <p:nvPr/>
            </p:nvSpPr>
            <p:spPr>
              <a:xfrm>
                <a:off x="5316748" y="301284"/>
                <a:ext cx="1391728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/>
                  <a:t>데이터분석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8806CDC-D46E-F25E-5277-93E0363DA50A}"/>
                  </a:ext>
                </a:extLst>
              </p:cNvPr>
              <p:cNvSpPr txBox="1"/>
              <p:nvPr/>
            </p:nvSpPr>
            <p:spPr>
              <a:xfrm>
                <a:off x="6493943" y="301284"/>
                <a:ext cx="1391728" cy="307777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/>
                  <a:t>가격 예측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F77F276-88AC-8396-52B4-B85EFAA79F5D}"/>
                  </a:ext>
                </a:extLst>
              </p:cNvPr>
              <p:cNvSpPr txBox="1"/>
              <p:nvPr/>
            </p:nvSpPr>
            <p:spPr>
              <a:xfrm>
                <a:off x="4065917" y="301284"/>
                <a:ext cx="1391728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/>
                  <a:t>대시보드</a:t>
                </a:r>
              </a:p>
            </p:txBody>
          </p:sp>
        </p:grp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883290D9-2EC5-9C00-46EC-F209F7A7A1AB}"/>
                </a:ext>
              </a:extLst>
            </p:cNvPr>
            <p:cNvSpPr/>
            <p:nvPr/>
          </p:nvSpPr>
          <p:spPr>
            <a:xfrm>
              <a:off x="8176402" y="193591"/>
              <a:ext cx="901257" cy="346339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로그아웃</a:t>
              </a:r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00BEA9FE-3773-2B1E-EED1-23785FE33182}"/>
                </a:ext>
              </a:extLst>
            </p:cNvPr>
            <p:cNvSpPr/>
            <p:nvPr/>
          </p:nvSpPr>
          <p:spPr>
            <a:xfrm>
              <a:off x="241663" y="91389"/>
              <a:ext cx="653330" cy="54215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로고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855DCB33-7C30-154D-46BD-E1946F3C3B0F}"/>
                </a:ext>
              </a:extLst>
            </p:cNvPr>
            <p:cNvSpPr txBox="1"/>
            <p:nvPr/>
          </p:nvSpPr>
          <p:spPr>
            <a:xfrm>
              <a:off x="7276011" y="199611"/>
              <a:ext cx="90039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/>
                <a:t>홍길동님</a:t>
              </a: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C20C0E93-E2E1-1E35-2D59-D01A04E818C4}"/>
              </a:ext>
            </a:extLst>
          </p:cNvPr>
          <p:cNvGrpSpPr/>
          <p:nvPr/>
        </p:nvGrpSpPr>
        <p:grpSpPr>
          <a:xfrm>
            <a:off x="241663" y="674049"/>
            <a:ext cx="2580995" cy="412890"/>
            <a:chOff x="241663" y="624184"/>
            <a:chExt cx="2580995" cy="412890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1361BB-935A-CBC0-8992-DB3AB377A2DF}"/>
                </a:ext>
              </a:extLst>
            </p:cNvPr>
            <p:cNvSpPr txBox="1"/>
            <p:nvPr/>
          </p:nvSpPr>
          <p:spPr>
            <a:xfrm>
              <a:off x="654553" y="661352"/>
              <a:ext cx="216810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600" b="1" dirty="0"/>
                <a:t>날씨 영향 분석</a:t>
              </a:r>
            </a:p>
          </p:txBody>
        </p:sp>
        <p:pic>
          <p:nvPicPr>
            <p:cNvPr id="4" name="그래픽 3" descr="구름 단색으로 채워진">
              <a:extLst>
                <a:ext uri="{FF2B5EF4-FFF2-40B4-BE49-F238E27FC236}">
                  <a16:creationId xmlns:a16="http://schemas.microsoft.com/office/drawing/2014/main" id="{24DCAD4A-5A38-4C0E-CD72-7129089B8A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1663" y="624184"/>
              <a:ext cx="412890" cy="412890"/>
            </a:xfrm>
            <a:prstGeom prst="rect">
              <a:avLst/>
            </a:prstGeom>
          </p:spPr>
        </p:pic>
      </p:grpSp>
      <p:graphicFrame>
        <p:nvGraphicFramePr>
          <p:cNvPr id="15" name="차트 14">
            <a:extLst>
              <a:ext uri="{FF2B5EF4-FFF2-40B4-BE49-F238E27FC236}">
                <a16:creationId xmlns:a16="http://schemas.microsoft.com/office/drawing/2014/main" id="{C34E9241-3874-9B51-3ED0-52BA69B18B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91632576"/>
              </p:ext>
            </p:extLst>
          </p:nvPr>
        </p:nvGraphicFramePr>
        <p:xfrm>
          <a:off x="293914" y="1037074"/>
          <a:ext cx="8334414" cy="22754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6" name="그룹 25">
            <a:extLst>
              <a:ext uri="{FF2B5EF4-FFF2-40B4-BE49-F238E27FC236}">
                <a16:creationId xmlns:a16="http://schemas.microsoft.com/office/drawing/2014/main" id="{E9024AEC-67E6-8381-30A6-AEFB17D0CA30}"/>
              </a:ext>
            </a:extLst>
          </p:cNvPr>
          <p:cNvGrpSpPr/>
          <p:nvPr/>
        </p:nvGrpSpPr>
        <p:grpSpPr>
          <a:xfrm>
            <a:off x="305851" y="3376181"/>
            <a:ext cx="2516807" cy="338554"/>
            <a:chOff x="305851" y="3661451"/>
            <a:chExt cx="2516807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8B314A5-05EE-C890-958E-10C4F36C49AC}"/>
                </a:ext>
              </a:extLst>
            </p:cNvPr>
            <p:cNvSpPr txBox="1"/>
            <p:nvPr/>
          </p:nvSpPr>
          <p:spPr>
            <a:xfrm>
              <a:off x="654553" y="3661451"/>
              <a:ext cx="216810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600" b="1" dirty="0"/>
                <a:t>출하 추천</a:t>
              </a:r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4A865D9B-EB9C-61B1-05E9-F279DF54F20F}"/>
                </a:ext>
              </a:extLst>
            </p:cNvPr>
            <p:cNvSpPr/>
            <p:nvPr/>
          </p:nvSpPr>
          <p:spPr>
            <a:xfrm>
              <a:off x="305851" y="3684359"/>
              <a:ext cx="348702" cy="292738"/>
            </a:xfrm>
            <a:custGeom>
              <a:avLst/>
              <a:gdLst>
                <a:gd name="csX0" fmla="*/ 401003 w 553402"/>
                <a:gd name="csY0" fmla="*/ 0 h 324802"/>
                <a:gd name="csX1" fmla="*/ 457200 w 553402"/>
                <a:gd name="csY1" fmla="*/ 56198 h 324802"/>
                <a:gd name="csX2" fmla="*/ 381953 w 553402"/>
                <a:gd name="csY2" fmla="*/ 131445 h 324802"/>
                <a:gd name="csX3" fmla="*/ 324803 w 553402"/>
                <a:gd name="csY3" fmla="*/ 74295 h 324802"/>
                <a:gd name="csX4" fmla="*/ 229553 w 553402"/>
                <a:gd name="csY4" fmla="*/ 169545 h 324802"/>
                <a:gd name="csX5" fmla="*/ 172403 w 553402"/>
                <a:gd name="csY5" fmla="*/ 112395 h 324802"/>
                <a:gd name="csX6" fmla="*/ 0 w 553402"/>
                <a:gd name="csY6" fmla="*/ 284798 h 324802"/>
                <a:gd name="csX7" fmla="*/ 40005 w 553402"/>
                <a:gd name="csY7" fmla="*/ 324803 h 324802"/>
                <a:gd name="csX8" fmla="*/ 172403 w 553402"/>
                <a:gd name="csY8" fmla="*/ 192405 h 324802"/>
                <a:gd name="csX9" fmla="*/ 229553 w 553402"/>
                <a:gd name="csY9" fmla="*/ 249555 h 324802"/>
                <a:gd name="csX10" fmla="*/ 324803 w 553402"/>
                <a:gd name="csY10" fmla="*/ 154305 h 324802"/>
                <a:gd name="csX11" fmla="*/ 381953 w 553402"/>
                <a:gd name="csY11" fmla="*/ 211455 h 324802"/>
                <a:gd name="csX12" fmla="*/ 497205 w 553402"/>
                <a:gd name="csY12" fmla="*/ 96202 h 324802"/>
                <a:gd name="csX13" fmla="*/ 553403 w 553402"/>
                <a:gd name="csY13" fmla="*/ 152400 h 324802"/>
                <a:gd name="csX14" fmla="*/ 553403 w 553402"/>
                <a:gd name="csY14" fmla="*/ 0 h 324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553402" h="324802">
                  <a:moveTo>
                    <a:pt x="401003" y="0"/>
                  </a:moveTo>
                  <a:lnTo>
                    <a:pt x="457200" y="56198"/>
                  </a:lnTo>
                  <a:lnTo>
                    <a:pt x="381953" y="131445"/>
                  </a:lnTo>
                  <a:lnTo>
                    <a:pt x="324803" y="74295"/>
                  </a:lnTo>
                  <a:lnTo>
                    <a:pt x="229553" y="169545"/>
                  </a:lnTo>
                  <a:lnTo>
                    <a:pt x="172403" y="112395"/>
                  </a:lnTo>
                  <a:lnTo>
                    <a:pt x="0" y="284798"/>
                  </a:lnTo>
                  <a:lnTo>
                    <a:pt x="40005" y="324803"/>
                  </a:lnTo>
                  <a:lnTo>
                    <a:pt x="172403" y="192405"/>
                  </a:lnTo>
                  <a:lnTo>
                    <a:pt x="229553" y="249555"/>
                  </a:lnTo>
                  <a:lnTo>
                    <a:pt x="324803" y="154305"/>
                  </a:lnTo>
                  <a:lnTo>
                    <a:pt x="381953" y="211455"/>
                  </a:lnTo>
                  <a:lnTo>
                    <a:pt x="497205" y="96202"/>
                  </a:lnTo>
                  <a:lnTo>
                    <a:pt x="553403" y="152400"/>
                  </a:lnTo>
                  <a:lnTo>
                    <a:pt x="553403" y="0"/>
                  </a:lnTo>
                  <a:close/>
                </a:path>
              </a:pathLst>
            </a:custGeom>
            <a:solidFill>
              <a:srgbClr val="C00000"/>
            </a:solidFill>
            <a:ln w="9525" cap="flat">
              <a:noFill/>
              <a:prstDash val="solid"/>
              <a:miter/>
            </a:ln>
          </p:spPr>
          <p:txBody>
            <a:bodyPr>
              <a:noAutofit/>
            </a:bodyPr>
            <a:lstStyle/>
            <a:p>
              <a:endParaRPr lang="ko-KR" altLang="en-US" sz="1600" dirty="0"/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F57FAD45-5C91-E837-428C-BFA50119DC1A}"/>
              </a:ext>
            </a:extLst>
          </p:cNvPr>
          <p:cNvGrpSpPr/>
          <p:nvPr/>
        </p:nvGrpSpPr>
        <p:grpSpPr>
          <a:xfrm>
            <a:off x="305851" y="3801281"/>
            <a:ext cx="8409496" cy="809892"/>
            <a:chOff x="349149" y="4075610"/>
            <a:chExt cx="8409496" cy="809892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861BA2CC-E68A-43DA-75FB-2EF5328C371B}"/>
                </a:ext>
              </a:extLst>
            </p:cNvPr>
            <p:cNvSpPr/>
            <p:nvPr/>
          </p:nvSpPr>
          <p:spPr>
            <a:xfrm>
              <a:off x="349149" y="4075610"/>
              <a:ext cx="8409496" cy="809892"/>
            </a:xfrm>
            <a:prstGeom prst="roundRect">
              <a:avLst/>
            </a:prstGeom>
            <a:grpFill/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ko-KR" altLang="en-US" b="1" dirty="0"/>
                <a:t>최적 출하 시기</a:t>
              </a:r>
              <a:endParaRPr lang="en-US" altLang="ko-KR" b="1" dirty="0"/>
            </a:p>
            <a:p>
              <a:endParaRPr lang="en-US" altLang="ko-KR" sz="500" dirty="0"/>
            </a:p>
            <a:p>
              <a:r>
                <a:rPr lang="en-US" altLang="ko-KR" sz="1600" dirty="0"/>
                <a:t>2026</a:t>
              </a:r>
              <a:r>
                <a:rPr lang="ko-KR" altLang="en-US" sz="1600" dirty="0"/>
                <a:t>년 </a:t>
              </a:r>
              <a:r>
                <a:rPr lang="en-US" altLang="ko-KR" sz="1600" dirty="0"/>
                <a:t>3</a:t>
              </a:r>
              <a:r>
                <a:rPr lang="ko-KR" altLang="en-US" sz="1600" dirty="0"/>
                <a:t>월 </a:t>
              </a:r>
              <a:r>
                <a:rPr lang="en-US" altLang="ko-KR" sz="1600" dirty="0"/>
                <a:t>16</a:t>
              </a:r>
              <a:r>
                <a:rPr lang="ko-KR" altLang="en-US" sz="1600" dirty="0"/>
                <a:t>일 </a:t>
              </a:r>
              <a:r>
                <a:rPr lang="en-US" altLang="ko-KR" sz="1600" dirty="0"/>
                <a:t>– 3</a:t>
              </a:r>
              <a:r>
                <a:rPr lang="ko-KR" altLang="en-US" sz="1600" dirty="0"/>
                <a:t>월 </a:t>
              </a:r>
              <a:r>
                <a:rPr lang="en-US" altLang="ko-KR" sz="1600" dirty="0"/>
                <a:t>17</a:t>
              </a:r>
              <a:r>
                <a:rPr lang="ko-KR" altLang="en-US" sz="1600" dirty="0"/>
                <a:t>일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3DCD2FC-997C-3C38-6F5D-71CBF4411C7F}"/>
                </a:ext>
              </a:extLst>
            </p:cNvPr>
            <p:cNvSpPr txBox="1"/>
            <p:nvPr/>
          </p:nvSpPr>
          <p:spPr>
            <a:xfrm>
              <a:off x="6994173" y="4157391"/>
              <a:ext cx="1632857" cy="646331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dirty="0"/>
                <a:t>예상 가격</a:t>
              </a:r>
              <a:endParaRPr lang="en-US" altLang="ko-KR" dirty="0"/>
            </a:p>
            <a:p>
              <a:pPr algn="r"/>
              <a:r>
                <a:rPr lang="en-US" altLang="ko-KR" b="1" dirty="0"/>
                <a:t>10,750</a:t>
              </a:r>
              <a:r>
                <a:rPr lang="ko-KR" altLang="en-US" b="1" dirty="0"/>
                <a:t>원</a:t>
              </a:r>
              <a:r>
                <a:rPr lang="en-US" altLang="ko-KR" b="1" dirty="0"/>
                <a:t>/kg</a:t>
              </a:r>
              <a:endParaRPr lang="ko-KR" altLang="en-US" b="1" dirty="0"/>
            </a:p>
          </p:txBody>
        </p:sp>
      </p:grp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9B06FB9A-B567-651A-96DF-EBC9B27A854C}"/>
              </a:ext>
            </a:extLst>
          </p:cNvPr>
          <p:cNvSpPr/>
          <p:nvPr/>
        </p:nvSpPr>
        <p:spPr>
          <a:xfrm>
            <a:off x="305851" y="4811103"/>
            <a:ext cx="8409496" cy="8098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b="1" dirty="0"/>
              <a:t>시장 동향</a:t>
            </a:r>
            <a:r>
              <a:rPr lang="en-US" altLang="ko-KR" dirty="0"/>
              <a:t>: </a:t>
            </a:r>
            <a:r>
              <a:rPr lang="ko-KR" altLang="en-US" sz="1600" dirty="0"/>
              <a:t>다음 주 날씨가 맑을 것으로 예상되어 딸기 당도가 높아질 것입니다</a:t>
            </a:r>
            <a:r>
              <a:rPr lang="en-US" altLang="ko-KR" sz="1600" dirty="0"/>
              <a:t>.</a:t>
            </a:r>
          </a:p>
          <a:p>
            <a:r>
              <a:rPr lang="en-US" altLang="ko-KR" sz="1600" dirty="0"/>
              <a:t>	   </a:t>
            </a:r>
            <a:r>
              <a:rPr lang="ko-KR" altLang="en-US" sz="1600" dirty="0"/>
              <a:t>고품질 딸기는 프리미엄 가격을 받을 수 있습니다</a:t>
            </a:r>
            <a:r>
              <a:rPr lang="en-US" altLang="ko-KR" sz="1600" dirty="0"/>
              <a:t>.</a:t>
            </a:r>
            <a:endParaRPr lang="en-US" altLang="ko-KR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F261239D-0792-E920-9A13-ADB95652DA9D}"/>
              </a:ext>
            </a:extLst>
          </p:cNvPr>
          <p:cNvSpPr/>
          <p:nvPr/>
        </p:nvSpPr>
        <p:spPr>
          <a:xfrm>
            <a:off x="305851" y="5820926"/>
            <a:ext cx="8409496" cy="80989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b="1" dirty="0"/>
              <a:t>장기 전략</a:t>
            </a:r>
            <a:r>
              <a:rPr lang="en-US" altLang="ko-KR" dirty="0"/>
              <a:t>: </a:t>
            </a:r>
            <a:r>
              <a:rPr lang="en-US" altLang="ko-KR" sz="1600" dirty="0"/>
              <a:t>3-4</a:t>
            </a:r>
            <a:r>
              <a:rPr lang="ko-KR" altLang="en-US" sz="1600" dirty="0"/>
              <a:t>월 가격이 가장 높은 시기입니다</a:t>
            </a:r>
            <a:r>
              <a:rPr lang="en-US" altLang="ko-KR" sz="1600" dirty="0"/>
              <a:t>. </a:t>
            </a:r>
            <a:r>
              <a:rPr lang="ko-KR" altLang="en-US" sz="1600" dirty="0"/>
              <a:t>품질 관리를 철저히 하여 이 시기에 집</a:t>
            </a:r>
            <a:r>
              <a:rPr lang="en-US" altLang="ko-KR" sz="1600" dirty="0"/>
              <a:t>	   </a:t>
            </a:r>
            <a:r>
              <a:rPr lang="ko-KR" altLang="en-US" sz="1600" dirty="0"/>
              <a:t>중 출하하면 최대 수익을 얻을 수 있습니다</a:t>
            </a:r>
            <a:r>
              <a:rPr lang="en-US" altLang="ko-KR" sz="1600" dirty="0"/>
              <a:t>.</a:t>
            </a:r>
            <a:endParaRPr lang="en-US" altLang="ko-KR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C07853B-F6B1-24DC-7DF0-D228A6C291F5}"/>
              </a:ext>
            </a:extLst>
          </p:cNvPr>
          <p:cNvSpPr/>
          <p:nvPr/>
        </p:nvSpPr>
        <p:spPr>
          <a:xfrm>
            <a:off x="36265" y="598907"/>
            <a:ext cx="445294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11</a:t>
            </a:r>
            <a:endParaRPr lang="ko-KR" altLang="en-US" sz="1600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CBD24FBD-86B7-A347-791E-8DE2217BC922}"/>
              </a:ext>
            </a:extLst>
          </p:cNvPr>
          <p:cNvSpPr/>
          <p:nvPr/>
        </p:nvSpPr>
        <p:spPr>
          <a:xfrm>
            <a:off x="21279" y="3717867"/>
            <a:ext cx="445294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12</a:t>
            </a:r>
            <a:endParaRPr lang="ko-KR" altLang="en-US" sz="1600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C91ACEE-5E40-8F4C-1910-E4BA6E4B8ABF}"/>
              </a:ext>
            </a:extLst>
          </p:cNvPr>
          <p:cNvSpPr/>
          <p:nvPr/>
        </p:nvSpPr>
        <p:spPr>
          <a:xfrm>
            <a:off x="36265" y="4788280"/>
            <a:ext cx="445294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13</a:t>
            </a:r>
            <a:endParaRPr lang="ko-KR" altLang="en-US" sz="1600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6B939540-D5EA-AB41-BFCB-BBB915D3A175}"/>
              </a:ext>
            </a:extLst>
          </p:cNvPr>
          <p:cNvSpPr/>
          <p:nvPr/>
        </p:nvSpPr>
        <p:spPr>
          <a:xfrm>
            <a:off x="21279" y="5803482"/>
            <a:ext cx="445294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14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099994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06422162-3CEA-5FE5-A9D4-69D07836F10B}"/>
              </a:ext>
            </a:extLst>
          </p:cNvPr>
          <p:cNvCxnSpPr>
            <a:cxnSpLocks/>
          </p:cNvCxnSpPr>
          <p:nvPr/>
        </p:nvCxnSpPr>
        <p:spPr>
          <a:xfrm>
            <a:off x="9201509" y="301284"/>
            <a:ext cx="0" cy="6472249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E0E874-4E99-3AE8-4B78-A696F72BD1D1}"/>
              </a:ext>
            </a:extLst>
          </p:cNvPr>
          <p:cNvSpPr/>
          <p:nvPr/>
        </p:nvSpPr>
        <p:spPr>
          <a:xfrm>
            <a:off x="2220781" y="102440"/>
            <a:ext cx="4871048" cy="653774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CEA84B-41DD-EB39-1455-FEB3FF1E60CC}"/>
              </a:ext>
            </a:extLst>
          </p:cNvPr>
          <p:cNvSpPr txBox="1"/>
          <p:nvPr/>
        </p:nvSpPr>
        <p:spPr>
          <a:xfrm>
            <a:off x="2651182" y="461020"/>
            <a:ext cx="3985403" cy="7771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/>
              <a:t>로그인</a:t>
            </a:r>
            <a:endParaRPr lang="en-US" altLang="ko-KR" sz="2000" b="1" dirty="0"/>
          </a:p>
          <a:p>
            <a:pPr algn="ctr"/>
            <a:endParaRPr lang="en-US" altLang="ko-KR" sz="1050" b="1" dirty="0"/>
          </a:p>
          <a:p>
            <a:pPr algn="ctr"/>
            <a:r>
              <a:rPr lang="ko-KR" altLang="en-US" sz="1400" dirty="0"/>
              <a:t>계정에 로그인하여 서비스를 이용하세요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E8F0DF9A-5551-A3EB-7FDD-A5FD5341E04B}"/>
              </a:ext>
            </a:extLst>
          </p:cNvPr>
          <p:cNvGrpSpPr/>
          <p:nvPr/>
        </p:nvGrpSpPr>
        <p:grpSpPr>
          <a:xfrm>
            <a:off x="2427676" y="1422606"/>
            <a:ext cx="4338884" cy="1514331"/>
            <a:chOff x="2427676" y="1722306"/>
            <a:chExt cx="4338884" cy="1514331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902752EA-5587-5EC4-E2B0-7067B636F9AB}"/>
                </a:ext>
              </a:extLst>
            </p:cNvPr>
            <p:cNvGrpSpPr/>
            <p:nvPr/>
          </p:nvGrpSpPr>
          <p:grpSpPr>
            <a:xfrm>
              <a:off x="2461739" y="1722306"/>
              <a:ext cx="4304821" cy="713924"/>
              <a:chOff x="2454100" y="2613160"/>
              <a:chExt cx="4164744" cy="753539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1DC611A-7CC3-A7D5-C092-ECB02DFB9651}"/>
                  </a:ext>
                </a:extLst>
              </p:cNvPr>
              <p:cNvSpPr txBox="1"/>
              <p:nvPr/>
            </p:nvSpPr>
            <p:spPr>
              <a:xfrm>
                <a:off x="2454100" y="2613160"/>
                <a:ext cx="1138687" cy="3248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 dirty="0"/>
                  <a:t>아이디</a:t>
                </a: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E20865BD-2040-CFF2-FF00-2DF9B1B7CF75}"/>
                  </a:ext>
                </a:extLst>
              </p:cNvPr>
              <p:cNvSpPr/>
              <p:nvPr/>
            </p:nvSpPr>
            <p:spPr>
              <a:xfrm>
                <a:off x="2535674" y="2916688"/>
                <a:ext cx="4083170" cy="450011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altLang="ko-KR" sz="1200" dirty="0">
                    <a:solidFill>
                      <a:schemeClr val="dk1">
                        <a:alpha val="50000"/>
                      </a:schemeClr>
                    </a:solidFill>
                  </a:rPr>
                  <a:t>example@email.com</a:t>
                </a:r>
                <a:endParaRPr lang="ko-KR" altLang="en-US" sz="1200" dirty="0">
                  <a:solidFill>
                    <a:schemeClr val="dk1">
                      <a:alpha val="50000"/>
                    </a:schemeClr>
                  </a:solidFill>
                </a:endParaRPr>
              </a:p>
            </p:txBody>
          </p:sp>
        </p:grp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54E6F6C9-247A-FFA1-0F4D-CD753699A7C4}"/>
                </a:ext>
              </a:extLst>
            </p:cNvPr>
            <p:cNvGrpSpPr/>
            <p:nvPr/>
          </p:nvGrpSpPr>
          <p:grpSpPr>
            <a:xfrm>
              <a:off x="2427676" y="2559053"/>
              <a:ext cx="4338883" cy="677584"/>
              <a:chOff x="2427676" y="2559053"/>
              <a:chExt cx="4338883" cy="677584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B62A352-B5FF-7CB5-BFE9-0A9633AC9E66}"/>
                  </a:ext>
                </a:extLst>
              </p:cNvPr>
              <p:cNvSpPr txBox="1"/>
              <p:nvPr/>
            </p:nvSpPr>
            <p:spPr>
              <a:xfrm>
                <a:off x="2427676" y="2559053"/>
                <a:ext cx="117698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 dirty="0"/>
                  <a:t>비밀번호</a:t>
                </a:r>
              </a:p>
            </p:txBody>
          </p:sp>
          <p:sp>
            <p:nvSpPr>
              <p:cNvPr id="26" name="사각형: 둥근 모서리 25">
                <a:extLst>
                  <a:ext uri="{FF2B5EF4-FFF2-40B4-BE49-F238E27FC236}">
                    <a16:creationId xmlns:a16="http://schemas.microsoft.com/office/drawing/2014/main" id="{C2AE9E15-0325-89FB-55B6-8CAB935764A4}"/>
                  </a:ext>
                </a:extLst>
              </p:cNvPr>
              <p:cNvSpPr/>
              <p:nvPr/>
            </p:nvSpPr>
            <p:spPr>
              <a:xfrm>
                <a:off x="2546056" y="2810284"/>
                <a:ext cx="4220503" cy="426353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ko-KR" altLang="en-US" sz="1400" dirty="0">
                    <a:solidFill>
                      <a:schemeClr val="dk1">
                        <a:alpha val="50000"/>
                      </a:schemeClr>
                    </a:solidFill>
                  </a:rPr>
                  <a:t>∙∙∙∙∙∙∙∙∙</a:t>
                </a:r>
              </a:p>
            </p:txBody>
          </p:sp>
        </p:grpSp>
      </p:grp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5728DA7-D4B6-1FD5-68A5-B1455E80F383}"/>
              </a:ext>
            </a:extLst>
          </p:cNvPr>
          <p:cNvSpPr/>
          <p:nvPr/>
        </p:nvSpPr>
        <p:spPr>
          <a:xfrm>
            <a:off x="2546056" y="3147472"/>
            <a:ext cx="4220503" cy="31273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로그인</a:t>
            </a: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C2D6F19-B053-9DA4-1607-1AFAE1DCA7E3}"/>
              </a:ext>
            </a:extLst>
          </p:cNvPr>
          <p:cNvGrpSpPr/>
          <p:nvPr/>
        </p:nvGrpSpPr>
        <p:grpSpPr>
          <a:xfrm>
            <a:off x="2546056" y="3670742"/>
            <a:ext cx="4220503" cy="333101"/>
            <a:chOff x="2546056" y="3833486"/>
            <a:chExt cx="4220503" cy="333101"/>
          </a:xfrm>
        </p:grpSpPr>
        <p:cxnSp>
          <p:nvCxnSpPr>
            <p:cNvPr id="29" name="직선 연결선 28">
              <a:extLst>
                <a:ext uri="{FF2B5EF4-FFF2-40B4-BE49-F238E27FC236}">
                  <a16:creationId xmlns:a16="http://schemas.microsoft.com/office/drawing/2014/main" id="{339BB2B0-B606-814E-828A-D27F76189034}"/>
                </a:ext>
              </a:extLst>
            </p:cNvPr>
            <p:cNvCxnSpPr/>
            <p:nvPr/>
          </p:nvCxnSpPr>
          <p:spPr>
            <a:xfrm>
              <a:off x="2546056" y="4000037"/>
              <a:ext cx="4220503" cy="0"/>
            </a:xfrm>
            <a:prstGeom prst="line">
              <a:avLst/>
            </a:prstGeom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E76771D5-6970-F0A2-AFC3-A33244A62114}"/>
                </a:ext>
              </a:extLst>
            </p:cNvPr>
            <p:cNvSpPr/>
            <p:nvPr/>
          </p:nvSpPr>
          <p:spPr>
            <a:xfrm>
              <a:off x="3859170" y="3833486"/>
              <a:ext cx="1594271" cy="3331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tx1"/>
                  </a:solidFill>
                </a:rPr>
                <a:t>또는 간편 로그인</a:t>
              </a:r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48742375-E9F8-9E8B-CCF9-3D2A3848FF51}"/>
              </a:ext>
            </a:extLst>
          </p:cNvPr>
          <p:cNvGrpSpPr/>
          <p:nvPr/>
        </p:nvGrpSpPr>
        <p:grpSpPr>
          <a:xfrm>
            <a:off x="2546056" y="4161558"/>
            <a:ext cx="4220503" cy="1210166"/>
            <a:chOff x="2546056" y="4366941"/>
            <a:chExt cx="4220503" cy="1210166"/>
          </a:xfrm>
        </p:grpSpPr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53BEDE1A-0DEF-6E70-F02A-315CFE23E9BE}"/>
                </a:ext>
              </a:extLst>
            </p:cNvPr>
            <p:cNvGrpSpPr/>
            <p:nvPr/>
          </p:nvGrpSpPr>
          <p:grpSpPr>
            <a:xfrm>
              <a:off x="2546056" y="5244008"/>
              <a:ext cx="4220503" cy="333099"/>
              <a:chOff x="2546056" y="5244008"/>
              <a:chExt cx="4220503" cy="333099"/>
            </a:xfrm>
          </p:grpSpPr>
          <p:sp>
            <p:nvSpPr>
              <p:cNvPr id="34" name="사각형: 둥근 모서리 33">
                <a:extLst>
                  <a:ext uri="{FF2B5EF4-FFF2-40B4-BE49-F238E27FC236}">
                    <a16:creationId xmlns:a16="http://schemas.microsoft.com/office/drawing/2014/main" id="{9F9DE687-77F9-8D12-3286-EDE5117930E3}"/>
                  </a:ext>
                </a:extLst>
              </p:cNvPr>
              <p:cNvSpPr/>
              <p:nvPr/>
            </p:nvSpPr>
            <p:spPr>
              <a:xfrm>
                <a:off x="2546056" y="5244008"/>
                <a:ext cx="4220503" cy="33309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dirty="0"/>
                  <a:t>구글로 시작하기</a:t>
                </a:r>
              </a:p>
            </p:txBody>
          </p:sp>
          <p:pic>
            <p:nvPicPr>
              <p:cNvPr id="36" name="그림 35" descr="The image depicts a vibrant, multicolored Google logo.&#10;&#10;AI 생성 콘텐츠는 정확하지 않을 수 있습니다.">
                <a:extLst>
                  <a:ext uri="{FF2B5EF4-FFF2-40B4-BE49-F238E27FC236}">
                    <a16:creationId xmlns:a16="http://schemas.microsoft.com/office/drawing/2014/main" id="{60776DEB-C66D-C874-0D19-EFF1995129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610505" y="5272581"/>
                <a:ext cx="308905" cy="281850"/>
              </a:xfrm>
              <a:prstGeom prst="rect">
                <a:avLst/>
              </a:prstGeom>
            </p:spPr>
          </p:pic>
        </p:grp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53AF0780-97D7-0CD4-ABD3-4EA95E6634A1}"/>
                </a:ext>
              </a:extLst>
            </p:cNvPr>
            <p:cNvGrpSpPr/>
            <p:nvPr/>
          </p:nvGrpSpPr>
          <p:grpSpPr>
            <a:xfrm>
              <a:off x="2546056" y="4812925"/>
              <a:ext cx="4220503" cy="336048"/>
              <a:chOff x="2546056" y="4812925"/>
              <a:chExt cx="4220503" cy="336048"/>
            </a:xfrm>
          </p:grpSpPr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C33BB95C-3FA9-4686-EBD6-C0D8D15AB6CA}"/>
                  </a:ext>
                </a:extLst>
              </p:cNvPr>
              <p:cNvSpPr/>
              <p:nvPr/>
            </p:nvSpPr>
            <p:spPr>
              <a:xfrm>
                <a:off x="2546056" y="4812925"/>
                <a:ext cx="4220503" cy="333099"/>
              </a:xfrm>
              <a:prstGeom prst="roundRect">
                <a:avLst/>
              </a:prstGeom>
              <a:solidFill>
                <a:srgbClr val="F3E54E"/>
              </a:solidFill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dirty="0"/>
                  <a:t>카카오로 시작하기</a:t>
                </a:r>
              </a:p>
            </p:txBody>
          </p:sp>
          <p:pic>
            <p:nvPicPr>
              <p:cNvPr id="38" name="그림 37" descr="TALK&#10;&#10;AI 생성 콘텐츠는 정확하지 않을 수 있습니다.">
                <a:extLst>
                  <a:ext uri="{FF2B5EF4-FFF2-40B4-BE49-F238E27FC236}">
                    <a16:creationId xmlns:a16="http://schemas.microsoft.com/office/drawing/2014/main" id="{CA5469F8-EA23-3133-9390-B84A1397AF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45519" y="4815874"/>
                <a:ext cx="331318" cy="333099"/>
              </a:xfrm>
              <a:prstGeom prst="rect">
                <a:avLst/>
              </a:prstGeom>
            </p:spPr>
          </p:pic>
        </p:grpSp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1998B5C5-F85B-5EDF-6619-8A5C3B787DF9}"/>
                </a:ext>
              </a:extLst>
            </p:cNvPr>
            <p:cNvGrpSpPr/>
            <p:nvPr/>
          </p:nvGrpSpPr>
          <p:grpSpPr>
            <a:xfrm>
              <a:off x="2546056" y="4366941"/>
              <a:ext cx="4220503" cy="333099"/>
              <a:chOff x="2546056" y="4366941"/>
              <a:chExt cx="4220503" cy="333099"/>
            </a:xfrm>
          </p:grpSpPr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8B073B6C-866D-E022-23ED-5C218406F8CF}"/>
                  </a:ext>
                </a:extLst>
              </p:cNvPr>
              <p:cNvSpPr/>
              <p:nvPr/>
            </p:nvSpPr>
            <p:spPr>
              <a:xfrm>
                <a:off x="2546056" y="4366941"/>
                <a:ext cx="4220503" cy="333099"/>
              </a:xfrm>
              <a:prstGeom prst="roundRect">
                <a:avLst/>
              </a:prstGeom>
              <a:solidFill>
                <a:srgbClr val="6AC352"/>
              </a:solidFill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dirty="0"/>
                  <a:t>네이버로 시작하기</a:t>
                </a:r>
              </a:p>
            </p:txBody>
          </p:sp>
          <p:pic>
            <p:nvPicPr>
              <p:cNvPr id="40" name="그림 39" descr="n&#10;&#10;AI 생성 콘텐츠는 정확하지 않을 수 있습니다.">
                <a:extLst>
                  <a:ext uri="{FF2B5EF4-FFF2-40B4-BE49-F238E27FC236}">
                    <a16:creationId xmlns:a16="http://schemas.microsoft.com/office/drawing/2014/main" id="{1A6B7140-3E01-127C-48D4-A410A789C7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51787" y="4369890"/>
                <a:ext cx="318782" cy="325252"/>
              </a:xfrm>
              <a:prstGeom prst="rect">
                <a:avLst/>
              </a:prstGeom>
            </p:spPr>
          </p:pic>
        </p:grp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4A7326C5-C240-870A-DFB6-A18D5D13FC89}"/>
              </a:ext>
            </a:extLst>
          </p:cNvPr>
          <p:cNvSpPr txBox="1"/>
          <p:nvPr/>
        </p:nvSpPr>
        <p:spPr>
          <a:xfrm>
            <a:off x="3016168" y="5636621"/>
            <a:ext cx="328378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계정이 </a:t>
            </a:r>
            <a:r>
              <a:rPr lang="ko-KR" altLang="en-US" sz="1400" dirty="0" err="1"/>
              <a:t>없으신가요</a:t>
            </a:r>
            <a:r>
              <a:rPr lang="en-US" altLang="ko-KR" sz="1400" dirty="0"/>
              <a:t>? </a:t>
            </a:r>
            <a:r>
              <a:rPr lang="ko-KR" altLang="en-US" sz="1400" dirty="0">
                <a:solidFill>
                  <a:schemeClr val="bg2">
                    <a:lumMod val="75000"/>
                  </a:schemeClr>
                </a:solidFill>
              </a:rPr>
              <a:t>회원가입</a:t>
            </a:r>
            <a:endParaRPr lang="en-US" altLang="ko-KR" sz="1400" dirty="0">
              <a:solidFill>
                <a:schemeClr val="bg2">
                  <a:lumMod val="75000"/>
                </a:schemeClr>
              </a:solidFill>
            </a:endParaRPr>
          </a:p>
          <a:p>
            <a:pPr algn="ctr"/>
            <a:endParaRPr lang="en-US" altLang="ko-KR" sz="1400" dirty="0"/>
          </a:p>
          <a:p>
            <a:pPr algn="ctr"/>
            <a:r>
              <a:rPr lang="ko-KR" altLang="en-US" sz="1400" dirty="0"/>
              <a:t>메인으로 돌아가기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C9845D8-0A7A-B25E-C379-8C86134C709F}"/>
              </a:ext>
            </a:extLst>
          </p:cNvPr>
          <p:cNvSpPr/>
          <p:nvPr/>
        </p:nvSpPr>
        <p:spPr>
          <a:xfrm>
            <a:off x="2258665" y="1723684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93BD5EB-9BF2-2792-32E2-9968BD07A099}"/>
              </a:ext>
            </a:extLst>
          </p:cNvPr>
          <p:cNvSpPr/>
          <p:nvPr/>
        </p:nvSpPr>
        <p:spPr>
          <a:xfrm>
            <a:off x="2258665" y="2519996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74221664-0488-4A25-8DB1-3A7EEB10D4D6}"/>
              </a:ext>
            </a:extLst>
          </p:cNvPr>
          <p:cNvSpPr/>
          <p:nvPr/>
        </p:nvSpPr>
        <p:spPr>
          <a:xfrm>
            <a:off x="2258665" y="3143656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84F103A8-D95E-5470-206C-EEDD182BF790}"/>
              </a:ext>
            </a:extLst>
          </p:cNvPr>
          <p:cNvSpPr/>
          <p:nvPr/>
        </p:nvSpPr>
        <p:spPr>
          <a:xfrm>
            <a:off x="2283962" y="4214399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39DA522-4966-4A06-E746-052E11FE7788}"/>
              </a:ext>
            </a:extLst>
          </p:cNvPr>
          <p:cNvSpPr/>
          <p:nvPr/>
        </p:nvSpPr>
        <p:spPr>
          <a:xfrm>
            <a:off x="2283962" y="4661357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787897F9-6749-8309-6A61-030129E66051}"/>
              </a:ext>
            </a:extLst>
          </p:cNvPr>
          <p:cNvSpPr/>
          <p:nvPr/>
        </p:nvSpPr>
        <p:spPr>
          <a:xfrm>
            <a:off x="2283962" y="5067198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78A9CE95-366C-0B07-244A-5FE43FC048C6}"/>
              </a:ext>
            </a:extLst>
          </p:cNvPr>
          <p:cNvSpPr/>
          <p:nvPr/>
        </p:nvSpPr>
        <p:spPr>
          <a:xfrm>
            <a:off x="4981154" y="5411153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76E3EF0C-4AD1-FC6F-4F2C-3016611C7A6E}"/>
              </a:ext>
            </a:extLst>
          </p:cNvPr>
          <p:cNvSpPr/>
          <p:nvPr/>
        </p:nvSpPr>
        <p:spPr>
          <a:xfrm>
            <a:off x="3642341" y="6095515"/>
            <a:ext cx="245232" cy="22546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0F85495-159A-A9D3-76D1-9241CD162926}"/>
              </a:ext>
            </a:extLst>
          </p:cNvPr>
          <p:cNvSpPr txBox="1"/>
          <p:nvPr/>
        </p:nvSpPr>
        <p:spPr>
          <a:xfrm>
            <a:off x="9285828" y="175384"/>
            <a:ext cx="2805020" cy="3031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Login.html</a:t>
            </a:r>
          </a:p>
          <a:p>
            <a:pPr marL="342900" indent="-342900">
              <a:buAutoNum type="arabicPeriod"/>
            </a:pPr>
            <a:endParaRPr lang="en-US" altLang="ko-KR" sz="1200" dirty="0"/>
          </a:p>
          <a:p>
            <a:pPr marL="342900" indent="-342900">
              <a:buAutoNum type="arabicPeriod"/>
            </a:pPr>
            <a:r>
              <a:rPr lang="ko-KR" altLang="en-US" sz="1200" dirty="0"/>
              <a:t>아이디 입력 형식을 보여준다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비밀번호는 가려서 보여준다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로그인 버튼을 누르면 폼을 서버로 보낸다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네이버 계정으로 로그인 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카카오 계정으로 로그인 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구글 계정으로 로그인 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ko-KR" altLang="en-US" sz="1200" dirty="0"/>
              <a:t>회원가입 글자를 클릭하여 회원가입 페이지로 이동한다</a:t>
            </a:r>
            <a:r>
              <a:rPr lang="en-US" altLang="ko-KR" sz="1200" dirty="0"/>
              <a:t>.</a:t>
            </a:r>
          </a:p>
          <a:p>
            <a:pPr marL="342900" indent="-342900">
              <a:buAutoNum type="arabicPeriod"/>
            </a:pPr>
            <a:endParaRPr lang="en-US" altLang="ko-KR" sz="500" dirty="0"/>
          </a:p>
          <a:p>
            <a:pPr marL="342900" indent="-342900">
              <a:buAutoNum type="arabicPeriod"/>
            </a:pPr>
            <a:r>
              <a:rPr lang="en-US" altLang="ko-KR" sz="1200" dirty="0"/>
              <a:t>‘</a:t>
            </a:r>
            <a:r>
              <a:rPr lang="ko-KR" altLang="en-US" sz="1200" dirty="0"/>
              <a:t>메인으로 돌아가기</a:t>
            </a:r>
            <a:r>
              <a:rPr lang="en-US" altLang="ko-KR" sz="1200" dirty="0"/>
              <a:t>’</a:t>
            </a:r>
            <a:r>
              <a:rPr lang="ko-KR" altLang="en-US" sz="1200" dirty="0"/>
              <a:t>를 클릭하면 </a:t>
            </a:r>
            <a:r>
              <a:rPr lang="ko-KR" altLang="en-US" sz="1200" dirty="0" err="1"/>
              <a:t>메인페이지로</a:t>
            </a:r>
            <a:r>
              <a:rPr lang="ko-KR" altLang="en-US" sz="1200" dirty="0"/>
              <a:t> 이동한다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8250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526</TotalTime>
  <Words>1068</Words>
  <Application>Microsoft Office PowerPoint</Application>
  <PresentationFormat>와이드스크린</PresentationFormat>
  <Paragraphs>361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맑은 고딕</vt:lpstr>
      <vt:lpstr>Arial</vt:lpstr>
      <vt:lpstr>Calibri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jm93924@naver.com</dc:creator>
  <cp:lastModifiedBy>jm93924@naver.com</cp:lastModifiedBy>
  <cp:revision>14</cp:revision>
  <dcterms:created xsi:type="dcterms:W3CDTF">2026-03-15T13:32:53Z</dcterms:created>
  <dcterms:modified xsi:type="dcterms:W3CDTF">2026-03-15T22:24:53Z</dcterms:modified>
</cp:coreProperties>
</file>